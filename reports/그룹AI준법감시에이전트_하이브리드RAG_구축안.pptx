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051" r:id="rId1"/>
  </p:sldMasterIdLst>
  <p:notesMasterIdLst>
    <p:notesMasterId r:id="rId13"/>
  </p:notesMasterIdLst>
  <p:sldIdLst>
    <p:sldId id="1001" r:id="rId2"/>
    <p:sldId id="1142" r:id="rId3"/>
    <p:sldId id="1144" r:id="rId4"/>
    <p:sldId id="1151" r:id="rId5"/>
    <p:sldId id="1140" r:id="rId6"/>
    <p:sldId id="1149" r:id="rId7"/>
    <p:sldId id="1145" r:id="rId8"/>
    <p:sldId id="1146" r:id="rId9"/>
    <p:sldId id="1147" r:id="rId10"/>
    <p:sldId id="1150" r:id="rId11"/>
    <p:sldId id="1148" r:id="rId12"/>
  </p:sldIdLst>
  <p:sldSz cx="9906000" cy="6858000" type="A4"/>
  <p:notesSz cx="7104063" cy="10234613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114F7756-15C9-46F9-9BCF-52A6B0FFAB87}">
          <p14:sldIdLst>
            <p14:sldId id="1001"/>
            <p14:sldId id="1142"/>
            <p14:sldId id="1144"/>
            <p14:sldId id="1151"/>
            <p14:sldId id="1140"/>
            <p14:sldId id="1149"/>
            <p14:sldId id="1145"/>
            <p14:sldId id="1146"/>
            <p14:sldId id="1147"/>
            <p14:sldId id="1150"/>
            <p14:sldId id="1148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344" userDrawn="1">
          <p15:clr>
            <a:srgbClr val="A4A3A4"/>
          </p15:clr>
        </p15:guide>
        <p15:guide id="2" pos="4526" userDrawn="1">
          <p15:clr>
            <a:srgbClr val="A4A3A4"/>
          </p15:clr>
        </p15:guide>
        <p15:guide id="3" orient="horz" pos="397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종훈선" initials="종" lastIdx="1" clrIdx="0">
    <p:extLst>
      <p:ext uri="{19B8F6BF-5375-455C-9EA6-DF929625EA0E}">
        <p15:presenceInfo xmlns:p15="http://schemas.microsoft.com/office/powerpoint/2012/main" userId="종훈선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D6A99"/>
    <a:srgbClr val="91C2E3"/>
    <a:srgbClr val="4489C8"/>
    <a:srgbClr val="25537D"/>
    <a:srgbClr val="E5EEF7"/>
    <a:srgbClr val="D5E5F3"/>
    <a:srgbClr val="C7DCEF"/>
    <a:srgbClr val="8BB6DD"/>
    <a:srgbClr val="F9E0C2"/>
    <a:srgbClr val="FBC8C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FD0F851-EC5A-4D38-B0AD-8093EC10F338}" styleName="밝은 스타일 1 - 강조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98" autoAdjust="0"/>
    <p:restoredTop sz="96391" autoAdjust="0"/>
  </p:normalViewPr>
  <p:slideViewPr>
    <p:cSldViewPr snapToGrid="0">
      <p:cViewPr>
        <p:scale>
          <a:sx n="134" d="100"/>
          <a:sy n="134" d="100"/>
        </p:scale>
        <p:origin x="198" y="-288"/>
      </p:cViewPr>
      <p:guideLst>
        <p:guide orient="horz" pos="1344"/>
        <p:guide pos="4526"/>
        <p:guide orient="horz" pos="397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2" d="100"/>
          <a:sy n="82" d="100"/>
        </p:scale>
        <p:origin x="3972" y="7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commentAuthors" Target="comment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96" tIns="47398" rIns="94796" bIns="47398" rtlCol="0"/>
          <a:lstStyle>
            <a:lvl1pPr algn="r">
              <a:defRPr sz="1200"/>
            </a:lvl1pPr>
          </a:lstStyle>
          <a:p>
            <a:fld id="{E0484850-282F-4E65-89EB-0E221750C5B1}" type="datetimeFigureOut">
              <a:rPr lang="ko-KR" altLang="en-US" smtClean="0"/>
              <a:t>2026-08-06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57275" y="1279525"/>
            <a:ext cx="4989513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96" tIns="47398" rIns="94796" bIns="4739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710407" y="4925407"/>
            <a:ext cx="5683250" cy="4029879"/>
          </a:xfrm>
          <a:prstGeom prst="rect">
            <a:avLst/>
          </a:prstGeom>
        </p:spPr>
        <p:txBody>
          <a:bodyPr vert="horz" lIns="94796" tIns="47398" rIns="94796" bIns="4739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4023993" y="9721107"/>
            <a:ext cx="3078427" cy="513507"/>
          </a:xfrm>
          <a:prstGeom prst="rect">
            <a:avLst/>
          </a:prstGeom>
        </p:spPr>
        <p:txBody>
          <a:bodyPr vert="horz" lIns="94796" tIns="47398" rIns="94796" bIns="47398" rtlCol="0" anchor="b"/>
          <a:lstStyle>
            <a:lvl1pPr algn="r">
              <a:defRPr sz="1200"/>
            </a:lvl1pPr>
          </a:lstStyle>
          <a:p>
            <a:fld id="{821A4ED2-DCDA-4AEB-8065-F0D2AF710E5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07137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66779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84780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538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344200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75338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36837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5060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764560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244550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sz="90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21A4ED2-DCDA-4AEB-8065-F0D2AF710E5B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11574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.xml"/><Relationship Id="rId4" Type="http://schemas.openxmlformats.org/officeDocument/2006/relationships/image" Target="../media/image2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99427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881341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01986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22799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419305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84908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7045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86373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752667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7845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21138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1.표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2" name="Picture 4"/>
          <p:cNvPicPr>
            <a:picLocks noChangeAspect="1" noChangeArrowheads="1"/>
          </p:cNvPicPr>
          <p:nvPr userDrawn="1"/>
        </p:nvPicPr>
        <p:blipFill>
          <a:blip r:embed="rId3"/>
          <a:srcRect/>
          <a:stretch>
            <a:fillRect/>
          </a:stretch>
        </p:blipFill>
        <p:spPr bwMode="auto">
          <a:xfrm>
            <a:off x="-1587" y="0"/>
            <a:ext cx="9907587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" name="그림 4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000" y="504000"/>
            <a:ext cx="2222149" cy="266701"/>
          </a:xfrm>
          <a:prstGeom prst="rect">
            <a:avLst/>
          </a:prstGeom>
        </p:spPr>
      </p:pic>
      <p:sp>
        <p:nvSpPr>
          <p:cNvPr id="6" name="McK Disclaimer"/>
          <p:cNvSpPr>
            <a:spLocks noChangeArrowheads="1"/>
          </p:cNvSpPr>
          <p:nvPr userDrawn="1">
            <p:custDataLst>
              <p:tags r:id="rId1"/>
            </p:custDataLst>
          </p:nvPr>
        </p:nvSpPr>
        <p:spPr bwMode="auto">
          <a:xfrm>
            <a:off x="1187295" y="6240953"/>
            <a:ext cx="6572288" cy="153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>
            <a:spAutoFit/>
          </a:bodyPr>
          <a:lstStyle/>
          <a:p>
            <a:pPr algn="l" defTabSz="1109663" latinLnBrk="0">
              <a:defRPr/>
            </a:pPr>
            <a:r>
              <a:rPr lang="ko-KR" altLang="en-US" sz="1000" b="1" dirty="0">
                <a:solidFill>
                  <a:schemeClr val="accent2"/>
                </a:solidFill>
                <a:latin typeface="+mn-ea"/>
                <a:ea typeface="+mn-ea"/>
              </a:rPr>
              <a:t>본 문서는 금융지주회사의 비공개 문서로 사전 승인 없이 외부에 일부 또는 전면 배포하는 것을 금합니다.</a:t>
            </a:r>
            <a:endParaRPr lang="en-US" altLang="ko-KR" sz="1000" b="1" dirty="0">
              <a:solidFill>
                <a:schemeClr val="accent2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02832232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.간지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 userDrawn="1"/>
        </p:nvPicPr>
        <p:blipFill>
          <a:blip r:embed="rId2"/>
          <a:srcRect/>
          <a:stretch>
            <a:fillRect/>
          </a:stretch>
        </p:blipFill>
        <p:spPr bwMode="auto">
          <a:xfrm>
            <a:off x="0" y="1"/>
            <a:ext cx="9907587" cy="6867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872726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48793" y="741728"/>
            <a:ext cx="9000000" cy="534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48793" y="6453807"/>
            <a:ext cx="9000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814488" y="6451483"/>
            <a:ext cx="518983" cy="307124"/>
          </a:xfrm>
          <a:prstGeom prst="rect">
            <a:avLst/>
          </a:prstGeom>
        </p:spPr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508800"/>
            <a:ext cx="1587249" cy="19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47886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448793" y="741728"/>
            <a:ext cx="9000000" cy="53404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448793" y="6453807"/>
            <a:ext cx="9000000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8814488" y="6451483"/>
            <a:ext cx="518983" cy="307124"/>
          </a:xfrm>
          <a:prstGeom prst="rect">
            <a:avLst/>
          </a:prstGeom>
        </p:spPr>
        <p:txBody>
          <a:bodyPr/>
          <a:lstStyle/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8000" y="6508800"/>
            <a:ext cx="1587249" cy="1905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8655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1D058E-922D-4DA1-A710-208A4D86ABFE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슬라이드 번호 개체 틀 5"/>
          <p:cNvSpPr txBox="1">
            <a:spLocks/>
          </p:cNvSpPr>
          <p:nvPr userDrawn="1"/>
        </p:nvSpPr>
        <p:spPr>
          <a:xfrm>
            <a:off x="9113591" y="6502758"/>
            <a:ext cx="518983" cy="307124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21D058E-922D-4DA1-A710-208A4D86ABFE}" type="slidenum">
              <a:rPr lang="ko-KR" altLang="en-US" sz="1100" b="1" i="1" smtClean="0"/>
              <a:pPr/>
              <a:t>‹#›</a:t>
            </a:fld>
            <a:endParaRPr lang="ko-KR" altLang="en-US" sz="1100" b="1" i="1"/>
          </a:p>
        </p:txBody>
      </p:sp>
    </p:spTree>
    <p:extLst>
      <p:ext uri="{BB962C8B-B14F-4D97-AF65-F5344CB8AC3E}">
        <p14:creationId xmlns:p14="http://schemas.microsoft.com/office/powerpoint/2010/main" val="28101287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52" r:id="rId1"/>
    <p:sldLayoutId id="2147484053" r:id="rId2"/>
    <p:sldLayoutId id="2147484054" r:id="rId3"/>
    <p:sldLayoutId id="2147484055" r:id="rId4"/>
    <p:sldLayoutId id="2147484056" r:id="rId5"/>
    <p:sldLayoutId id="2147484057" r:id="rId6"/>
    <p:sldLayoutId id="2147484058" r:id="rId7"/>
    <p:sldLayoutId id="2147484059" r:id="rId8"/>
    <p:sldLayoutId id="2147484060" r:id="rId9"/>
    <p:sldLayoutId id="2147484061" r:id="rId10"/>
    <p:sldLayoutId id="2147484062" r:id="rId11"/>
    <p:sldLayoutId id="2147484094" r:id="rId12"/>
    <p:sldLayoutId id="2147484093" r:id="rId13"/>
    <p:sldLayoutId id="2147484064" r:id="rId14"/>
    <p:sldLayoutId id="2147484092" r:id="rId15"/>
  </p:sldLayoutIdLst>
  <p:hf hd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12"/>
          <p:cNvSpPr txBox="1">
            <a:spLocks noChangeArrowheads="1"/>
          </p:cNvSpPr>
          <p:nvPr/>
        </p:nvSpPr>
        <p:spPr bwMode="auto">
          <a:xfrm>
            <a:off x="852807" y="1383178"/>
            <a:ext cx="5424421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ko-KR" altLang="en-US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그룹 AI 준법감시 에이전트</a:t>
            </a:r>
            <a:endParaRPr lang="en-US" altLang="ko-KR" sz="2000" spc="-6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  <a:p>
            <a:pPr algn="ctr">
              <a:spcBef>
                <a:spcPct val="50000"/>
              </a:spcBef>
            </a:pPr>
            <a:r>
              <a:rPr lang="en-US" altLang="ko-KR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하이브리드 RAG 백엔드</a:t>
            </a:r>
            <a:r>
              <a:rPr lang="ko-KR" altLang="en-US" sz="2000" spc="-60" dirty="0" err="1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/>
            </a:r>
            <a:r>
              <a:rPr lang="ko-KR" altLang="en-US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/>
            </a:r>
            <a:r>
              <a:rPr lang="en-US" altLang="ko-KR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(</a:t>
            </a:r>
            <a:r>
              <a:rPr lang="ko-KR" altLang="en-US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안</a:t>
            </a:r>
            <a:r>
              <a:rPr lang="en-US" altLang="ko-KR" sz="2000" spc="-60" dirty="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rPr>
              <a:t>)</a:t>
            </a:r>
            <a:endParaRPr lang="en-US" altLang="ko-KR" sz="1200" spc="-60" dirty="0">
              <a:solidFill>
                <a:srgbClr val="000000"/>
              </a:solidFill>
              <a:latin typeface="HY견고딕" pitchFamily="18" charset="-127"/>
              <a:ea typeface="HY견고딕" pitchFamily="18" charset="-127"/>
            </a:endParaRPr>
          </a:p>
        </p:txBody>
      </p:sp>
      <p:cxnSp>
        <p:nvCxnSpPr>
          <p:cNvPr id="3" name="직선 연결선 2"/>
          <p:cNvCxnSpPr>
            <a:cxnSpLocks/>
          </p:cNvCxnSpPr>
          <p:nvPr/>
        </p:nvCxnSpPr>
        <p:spPr>
          <a:xfrm>
            <a:off x="822613" y="2284859"/>
            <a:ext cx="5454615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Group 39">
            <a:extLst>
              <a:ext uri="{FF2B5EF4-FFF2-40B4-BE49-F238E27FC236}">
                <a16:creationId xmlns:a16="http://schemas.microsoft.com/office/drawing/2014/main" id="{83A37716-2CA7-4268-A046-3344E70422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770143"/>
              </p:ext>
            </p:extLst>
          </p:nvPr>
        </p:nvGraphicFramePr>
        <p:xfrm>
          <a:off x="6906986" y="5036656"/>
          <a:ext cx="2745341" cy="972000"/>
        </p:xfrm>
        <a:graphic>
          <a:graphicData uri="http://schemas.openxmlformats.org/drawingml/2006/table">
            <a:tbl>
              <a:tblPr/>
              <a:tblGrid>
                <a:gridCol w="7293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4000">
                <a:tc>
                  <a:txBody>
                    <a:bodyPr/>
                    <a:lstStyle/>
                    <a:p>
                      <a:pPr marL="0" marR="0" lvl="0" indent="0" algn="ctr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보고일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2026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년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08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월 </a:t>
                      </a:r>
                      <a:r>
                        <a:rPr kumimoji="0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11</a:t>
                      </a: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일</a:t>
                      </a: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보고자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4000">
                <a:tc>
                  <a:txBody>
                    <a:bodyPr/>
                    <a:lstStyle/>
                    <a:p>
                      <a:pPr marL="0" marR="0" lvl="0" indent="0" algn="ctr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작성자</a:t>
                      </a: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1019175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/>
                      </a:r>
                    </a:p>
                  </a:txBody>
                  <a:tcPr marL="10800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991469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사각형: 둥근 위쪽 모서리 23">
            <a:extLst>
              <a:ext uri="{FF2B5EF4-FFF2-40B4-BE49-F238E27FC236}">
                <a16:creationId xmlns:a16="http://schemas.microsoft.com/office/drawing/2014/main" id="{CB8C5D42-4F98-71E4-2555-386E05B4C351}"/>
              </a:ext>
            </a:extLst>
          </p:cNvPr>
          <p:cNvSpPr/>
          <p:nvPr/>
        </p:nvSpPr>
        <p:spPr>
          <a:xfrm rot="16200000">
            <a:off x="560710" y="5560072"/>
            <a:ext cx="764341" cy="583125"/>
          </a:xfrm>
          <a:prstGeom prst="round2SameRect">
            <a:avLst/>
          </a:prstGeom>
          <a:solidFill>
            <a:srgbClr val="25537D"/>
          </a:solidFill>
          <a:ln w="190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ko-KR" altLang="en-US" sz="1200" b="1" spc="-60" dirty="0">
                <a:solidFill>
                  <a:schemeClr val="bg1"/>
                </a:solidFill>
              </a:rPr>
              <a:t>목표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개요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그룹 AI 준법감시 에이전트 하이브리드 RAG 구축 추진 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벡터 단독 구조로는 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환각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·RBAC</a:t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 문제를 해결할 수 없어</a:t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하이브리드 구조 채택</a:t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지주는 마스터 기획서의 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Gemini Gems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방안도 검토했으나, 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프롬프트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만으로는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RBAC·시계열·인용검증을 강제할 수 없는 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구조적 한계 확인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하이브리드 구조 채택 시 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그래프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·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벡터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·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에이전트 하네스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·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파이프라인 등 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5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개 계층을 새로 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설계해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정확성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리스크 고려 필요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19" name="표 18">
            <a:extLst>
              <a:ext uri="{FF2B5EF4-FFF2-40B4-BE49-F238E27FC236}">
                <a16:creationId xmlns:a16="http://schemas.microsoft.com/office/drawing/2014/main" id="{65D334CD-7A18-6212-7490-E8461FE27DE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98924586"/>
              </p:ext>
            </p:extLst>
          </p:nvPr>
        </p:nvGraphicFramePr>
        <p:xfrm>
          <a:off x="1234442" y="5469467"/>
          <a:ext cx="8020239" cy="76434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673413">
                  <a:extLst>
                    <a:ext uri="{9D8B030D-6E8A-4147-A177-3AD203B41FA5}">
                      <a16:colId xmlns:a16="http://schemas.microsoft.com/office/drawing/2014/main" val="2915935000"/>
                    </a:ext>
                  </a:extLst>
                </a:gridCol>
                <a:gridCol w="2673413">
                  <a:extLst>
                    <a:ext uri="{9D8B030D-6E8A-4147-A177-3AD203B41FA5}">
                      <a16:colId xmlns:a16="http://schemas.microsoft.com/office/drawing/2014/main" val="183763676"/>
                    </a:ext>
                  </a:extLst>
                </a:gridCol>
                <a:gridCol w="2673413">
                  <a:extLst>
                    <a:ext uri="{9D8B030D-6E8A-4147-A177-3AD203B41FA5}">
                      <a16:colId xmlns:a16="http://schemas.microsoft.com/office/drawing/2014/main" val="963088296"/>
                    </a:ext>
                  </a:extLst>
                </a:gridCol>
              </a:tblGrid>
              <a:tr h="7643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벡터+그래프 교차검증으로</a:t>
                      </a:r>
                      <a:endParaRPr lang="en-US" altLang="ko-KR" sz="1050" b="1" spc="-60" baseline="0" dirty="0">
                        <a:solidFill>
                          <a:srgbClr val="25537D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환각을 원천 차단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오픈소스·임베디드 백엔드로</a:t>
                      </a:r>
                      <a:endParaRPr lang="en-US" altLang="ko-KR" sz="1050" b="1" spc="-60" baseline="0" dirty="0">
                        <a:solidFill>
                          <a:srgbClr val="25537D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비용 없이 구축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개인정보보호법</a:t>
                      </a:r>
                      <a:r>
                        <a:rPr lang="en-US" altLang="ko-KR" sz="1050" b="1" spc="-60" baseline="0" dirty="0">
                          <a:solidFill>
                            <a:srgbClr val="25537D"/>
                          </a:solidFill>
                        </a:rPr>
                        <a:t>, </a:t>
                      </a:r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자본시장법 등</a:t>
                      </a:r>
                      <a:endParaRPr lang="en-US" altLang="ko-KR" sz="1050" b="1" spc="-60" baseline="0" dirty="0">
                        <a:solidFill>
                          <a:srgbClr val="25537D"/>
                        </a:solidFill>
                      </a:endParaRPr>
                    </a:p>
                    <a:p>
                      <a:pPr algn="ctr" latinLnBrk="1"/>
                      <a:r>
                        <a:rPr lang="ko-KR" altLang="en-US" sz="1050" b="1" spc="-60" baseline="0" dirty="0" err="1">
                          <a:solidFill>
                            <a:srgbClr val="25537D"/>
                          </a:solidFill>
                        </a:rPr>
                        <a:t>감독기관</a:t>
                      </a:r>
                      <a:r>
                        <a:rPr lang="ko-KR" altLang="en-US" sz="1050" b="1" spc="-60" baseline="0" dirty="0">
                          <a:solidFill>
                            <a:srgbClr val="25537D"/>
                          </a:solidFill>
                        </a:rPr>
                        <a:t> 대응까지 고려한 </a:t>
                      </a:r>
                      <a:r>
                        <a:rPr lang="en-US" altLang="ko-KR" sz="1050" b="1" spc="-60" baseline="0" dirty="0">
                          <a:solidFill>
                            <a:srgbClr val="25537D"/>
                          </a:solidFill>
                        </a:rPr>
                        <a:t>RBAC 구조</a:t>
                      </a:r>
                      <a:endParaRPr lang="ko-KR" altLang="en-US" sz="1050" b="1" spc="-60" baseline="0" dirty="0">
                        <a:solidFill>
                          <a:srgbClr val="25537D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13270"/>
                  </a:ext>
                </a:extLst>
              </a:tr>
            </a:tbl>
          </a:graphicData>
        </a:graphic>
      </p:graphicFrame>
      <p:grpSp>
        <p:nvGrpSpPr>
          <p:cNvPr id="2" name="그룹 1">
            <a:extLst>
              <a:ext uri="{FF2B5EF4-FFF2-40B4-BE49-F238E27FC236}">
                <a16:creationId xmlns:a16="http://schemas.microsoft.com/office/drawing/2014/main" id="{0BD8922B-96CC-970F-95F6-E28F858CF93D}"/>
              </a:ext>
            </a:extLst>
          </p:cNvPr>
          <p:cNvGrpSpPr/>
          <p:nvPr/>
        </p:nvGrpSpPr>
        <p:grpSpPr>
          <a:xfrm>
            <a:off x="497470" y="2212843"/>
            <a:ext cx="2603758" cy="252000"/>
            <a:chOff x="497470" y="2385423"/>
            <a:chExt cx="2603758" cy="224286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83C1703-5D03-C7C7-8A03-8A90AECC7A36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FF9A6FB2-64B9-92D0-1D9A-988F54173E67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검토 배경</a:t>
              </a:r>
            </a:p>
          </p:txBody>
        </p:sp>
      </p:grpSp>
      <p:grpSp>
        <p:nvGrpSpPr>
          <p:cNvPr id="5" name="그룹 4">
            <a:extLst>
              <a:ext uri="{FF2B5EF4-FFF2-40B4-BE49-F238E27FC236}">
                <a16:creationId xmlns:a16="http://schemas.microsoft.com/office/drawing/2014/main" id="{2D41FAFF-D9B6-1C93-2EF2-F40970D94950}"/>
              </a:ext>
            </a:extLst>
          </p:cNvPr>
          <p:cNvGrpSpPr/>
          <p:nvPr/>
        </p:nvGrpSpPr>
        <p:grpSpPr>
          <a:xfrm>
            <a:off x="5179536" y="2212843"/>
            <a:ext cx="2603758" cy="252000"/>
            <a:chOff x="497470" y="2385423"/>
            <a:chExt cx="2603758" cy="224286"/>
          </a:xfrm>
        </p:grpSpPr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C1FE016D-BCDF-3DAD-ACDB-3E064C4411A5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68267D91-64E5-4E60-A6E6-E494F24E1849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기존 방안</a:t>
              </a:r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>(Gemini Gems) </a:t>
              </a:r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의 한계</a:t>
              </a:r>
            </a:p>
          </p:txBody>
        </p:sp>
      </p:grp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31837D65-99C5-67EC-EE36-7080304D472A}"/>
              </a:ext>
            </a:extLst>
          </p:cNvPr>
          <p:cNvSpPr/>
          <p:nvPr/>
        </p:nvSpPr>
        <p:spPr>
          <a:xfrm>
            <a:off x="596642" y="2625089"/>
            <a:ext cx="3844482" cy="735754"/>
          </a:xfrm>
          <a:prstGeom prst="roundRect">
            <a:avLst/>
          </a:prstGeom>
          <a:solidFill>
            <a:schemeClr val="bg1"/>
          </a:solidFill>
          <a:ln>
            <a:solidFill>
              <a:srgbClr val="25537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그룹 AI 준법감시 에이전트 구축 추진</a:t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   프롬프트 지시만으로는 보장할 수 없는 안전장치를 코드로 강제하는 구조 필요</a:t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3E301A41-492E-AF9A-7AC5-FAB4B13F68A8}"/>
              </a:ext>
            </a:extLst>
          </p:cNvPr>
          <p:cNvSpPr/>
          <p:nvPr/>
        </p:nvSpPr>
        <p:spPr>
          <a:xfrm>
            <a:off x="596642" y="3543461"/>
            <a:ext cx="3844482" cy="735754"/>
          </a:xfrm>
          <a:prstGeom prst="roundRect">
            <a:avLst/>
          </a:prstGeom>
          <a:solidFill>
            <a:schemeClr val="bg1"/>
          </a:solidFill>
          <a:ln>
            <a:solidFill>
              <a:srgbClr val="25537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프롬프트 빌더의 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구조적 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한계</a:t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   RBAC·시계열·인용검증을 </a:t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지시만 할 뿐 강제할 </a:t>
            </a:r>
            <a:r>
              <a:rPr lang="ko-KR" altLang="en-US" sz="900" spc="-6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수단이 없음</a:t>
            </a:r>
            <a:r>
              <a:rPr lang="en-US" altLang="ko-KR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7" name="사각형: 둥근 모서리 16">
            <a:extLst>
              <a:ext uri="{FF2B5EF4-FFF2-40B4-BE49-F238E27FC236}">
                <a16:creationId xmlns:a16="http://schemas.microsoft.com/office/drawing/2014/main" id="{38B33E13-6064-B15C-6870-A1688EB54CBA}"/>
              </a:ext>
            </a:extLst>
          </p:cNvPr>
          <p:cNvSpPr/>
          <p:nvPr/>
        </p:nvSpPr>
        <p:spPr>
          <a:xfrm>
            <a:off x="596642" y="4461832"/>
            <a:ext cx="3844482" cy="735754"/>
          </a:xfrm>
          <a:prstGeom prst="roundRect">
            <a:avLst/>
          </a:prstGeom>
          <a:solidFill>
            <a:schemeClr val="bg1"/>
          </a:solidFill>
          <a:ln>
            <a:solidFill>
              <a:srgbClr val="25537D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실 데이터 환각 사례 확인</a:t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   제재사례가 정답 조항 순위를 밀어내는 </a:t>
            </a:r>
            <a:r>
              <a:rPr lang="ko-KR" altLang="en-US" sz="900" spc="-60" dirty="0" err="1">
                <a:solidFill>
                  <a:schemeClr val="tx1"/>
                </a:solidFill>
                <a:latin typeface="+mj-ea"/>
                <a:ea typeface="+mj-ea"/>
              </a:rPr>
              <a:t>환각 사례를 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실제로 확인</a:t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aphicFrame>
        <p:nvGraphicFramePr>
          <p:cNvPr id="18" name="표 17">
            <a:extLst>
              <a:ext uri="{FF2B5EF4-FFF2-40B4-BE49-F238E27FC236}">
                <a16:creationId xmlns:a16="http://schemas.microsoft.com/office/drawing/2014/main" id="{B6EF8D66-CEDC-BD16-26F7-8A826D4FE5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471283"/>
              </p:ext>
            </p:extLst>
          </p:nvPr>
        </p:nvGraphicFramePr>
        <p:xfrm>
          <a:off x="5278708" y="2625089"/>
          <a:ext cx="3975972" cy="25724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92846">
                  <a:extLst>
                    <a:ext uri="{9D8B030D-6E8A-4147-A177-3AD203B41FA5}">
                      <a16:colId xmlns:a16="http://schemas.microsoft.com/office/drawing/2014/main" val="1267782827"/>
                    </a:ext>
                  </a:extLst>
                </a:gridCol>
                <a:gridCol w="992846">
                  <a:extLst>
                    <a:ext uri="{9D8B030D-6E8A-4147-A177-3AD203B41FA5}">
                      <a16:colId xmlns:a16="http://schemas.microsoft.com/office/drawing/2014/main" val="2352495377"/>
                    </a:ext>
                  </a:extLst>
                </a:gridCol>
                <a:gridCol w="1990280">
                  <a:extLst>
                    <a:ext uri="{9D8B030D-6E8A-4147-A177-3AD203B41FA5}">
                      <a16:colId xmlns:a16="http://schemas.microsoft.com/office/drawing/2014/main" val="3719155391"/>
                    </a:ext>
                  </a:extLst>
                </a:gridCol>
              </a:tblGrid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영역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프롬프트 빌더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코드 강제 구조에서 필요사항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67627972"/>
                  </a:ext>
                </a:extLst>
              </a:tr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환각 방지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프롬프트 지시에만 의존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벡터 검색결과를 그래프로 교차검증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23728910"/>
                  </a:ext>
                </a:extLst>
              </a:tr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시계열 인지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모델 추론에 의존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>(오류 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위험</a:t>
                      </a:r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>) → 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SUPERSEDES 체인으로 결정적 판정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78994729"/>
                  </a:ext>
                </a:extLst>
              </a:tr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접근권한(RBAC)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프롬프트 지시로만 한정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SSO 서명 클레임에서만 dept 파생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50591847"/>
                  </a:ext>
                </a:extLst>
              </a:tr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인용 검증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검증 없이 모델이 생성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인용마커 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사후 재검증 후 표기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70566308"/>
                  </a:ext>
                </a:extLst>
              </a:tr>
              <a:tr h="428749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감사 추적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accent2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없음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>JSONL 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감사로그로 전체 턴 기록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854633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00029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검토 방안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지식 검색 방식 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3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가지를 비교한 결과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, 벡터</a:t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+그래프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하이브리드 구조를 최적안으로 채택</a:t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벡터 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단독은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환각 위험이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구조적으로 존재하고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그래프 단독은 자연어 유사도 검색이 불가능해 실사용성이 떨어짐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벡터가 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후보를 찾고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그래프가 존재·시계열·RBAC을 검증하는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이원 구조로 정확성과 실사용성을 동시에 확보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9D5D3BAA-6CDB-115A-F566-AD53868257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6773849"/>
              </p:ext>
            </p:extLst>
          </p:nvPr>
        </p:nvGraphicFramePr>
        <p:xfrm>
          <a:off x="663387" y="2089275"/>
          <a:ext cx="8588190" cy="328997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55813">
                  <a:extLst>
                    <a:ext uri="{9D8B030D-6E8A-4147-A177-3AD203B41FA5}">
                      <a16:colId xmlns:a16="http://schemas.microsoft.com/office/drawing/2014/main" val="3402925023"/>
                    </a:ext>
                  </a:extLst>
                </a:gridCol>
                <a:gridCol w="2677459">
                  <a:extLst>
                    <a:ext uri="{9D8B030D-6E8A-4147-A177-3AD203B41FA5}">
                      <a16:colId xmlns:a16="http://schemas.microsoft.com/office/drawing/2014/main" val="3883543502"/>
                    </a:ext>
                  </a:extLst>
                </a:gridCol>
                <a:gridCol w="2677459">
                  <a:extLst>
                    <a:ext uri="{9D8B030D-6E8A-4147-A177-3AD203B41FA5}">
                      <a16:colId xmlns:a16="http://schemas.microsoft.com/office/drawing/2014/main" val="1307646088"/>
                    </a:ext>
                  </a:extLst>
                </a:gridCol>
                <a:gridCol w="2677459">
                  <a:extLst>
                    <a:ext uri="{9D8B030D-6E8A-4147-A177-3AD203B41FA5}">
                      <a16:colId xmlns:a16="http://schemas.microsoft.com/office/drawing/2014/main" val="401181626"/>
                    </a:ext>
                  </a:extLst>
                </a:gridCol>
              </a:tblGrid>
              <a:tr h="481978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벡터 단독 </a:t>
                      </a:r>
                      <a:r>
                        <a:rPr lang="en-US" altLang="ko-KR" sz="1100" b="1" spc="-6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100" b="1" spc="-6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RAG</a:t>
                      </a:r>
                      <a:endParaRPr lang="ko-KR" altLang="en-US" sz="11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kern="1200" spc="-60" baseline="0" dirty="0">
                          <a:solidFill>
                            <a:schemeClr val="bg1"/>
                          </a:solidFill>
                          <a:latin typeface="+mj-ea"/>
                          <a:ea typeface="+mn-ea"/>
                          <a:cs typeface="+mn-cs"/>
                        </a:rPr>
                        <a:t>지식그래프 </a:t>
                      </a:r>
                      <a:r>
                        <a:rPr lang="en-US" altLang="ko-KR" sz="1100" b="1" spc="-6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r>
                        <a:rPr lang="ko-KR" altLang="en-US" sz="1100" b="1" spc="-60" baseline="0" dirty="0">
                          <a:solidFill>
                            <a:schemeClr val="bg1"/>
                          </a:solidFill>
                          <a:latin typeface="맑은 고딕" panose="020B0503020000020004" pitchFamily="50" charset="-127"/>
                          <a:ea typeface="+mn-ea"/>
                        </a:rPr>
                        <a:t>단독</a:t>
                      </a:r>
                      <a:endParaRPr lang="ko-KR" altLang="en-US" sz="11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1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벡터</a:t>
                      </a:r>
                      <a:r>
                        <a:rPr lang="ko-KR" altLang="en-US" sz="1100" b="1" spc="-60" baseline="0" dirty="0" err="1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+그래프 </a:t>
                      </a:r>
                      <a:r>
                        <a:rPr lang="ko-KR" altLang="en-US" sz="11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11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1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하이브리드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90137543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spc="-60" baseline="0" dirty="0">
                          <a:latin typeface="+mj-ea"/>
                          <a:ea typeface="+mj-ea"/>
                        </a:rPr>
                        <a:t>내용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임베딩 유사도로 </a:t>
                      </a:r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>문서 검색 </a:t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후 </a:t>
                      </a:r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>그대로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 </a:t>
                      </a: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>LLM에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 전달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엔티티</a:t>
                      </a:r>
                      <a:r>
                        <a:rPr lang="ko-KR" altLang="en-US" sz="1000" kern="1200" spc="-6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·</a:t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+mn-ea"/>
                        </a:rPr>
                        <a:t>관계를</a:t>
                      </a:r>
                      <a:r>
                        <a:rPr lang="ko-KR" altLang="en-US" sz="1000" kern="1200" spc="-6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정확히</a:t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조회하나</a:t>
                      </a:r>
                      <a:r>
                        <a:rPr lang="en-US" altLang="ko-KR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자연어 질의 매핑이 어려움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벡터로 후보 검색</a:t>
                      </a:r>
                      <a:endParaRPr lang="en-US" altLang="ko-KR" sz="1000" kern="1200" spc="-6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71450" indent="-8255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맑은 고딕" panose="020B0503020000020004" pitchFamily="50" charset="-127"/>
                        <a:buChar char="–"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그래프로 존재·시계열·RBAC 재검증</a:t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kern="1200" spc="-6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endParaRPr lang="en-US" altLang="ko-KR" sz="1000" kern="1200" spc="-6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171450" indent="-8255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맑은 고딕" panose="020B0503020000020004" pitchFamily="50" charset="-127"/>
                        <a:buChar char="–"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1-hop 확장</a:t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en-US" altLang="ko-KR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8528579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spc="-60" baseline="0" dirty="0">
                          <a:latin typeface="+mj-ea"/>
                          <a:ea typeface="+mj-ea"/>
                        </a:rPr>
                        <a:t>장점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구현이 간단하고 자연어 질의에 강함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정확한 사실만 반환, 환각 없음</a:t>
                      </a:r>
                      <a:endParaRPr lang="en-US" altLang="ko-KR" sz="1000" kern="1200" spc="-6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  <a:p>
                      <a:pPr marL="88900" marR="0" lvl="0" indent="-88900" algn="l" defTabSz="914400" rtl="0" eaLnBrk="1" fontAlgn="auto" latinLnBrk="1" hangingPunct="1">
                        <a:lnSpc>
                          <a:spcPct val="125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존재하는 </a:t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사실만 반환, </a:t>
                      </a:r>
                      <a:br>
                        <a:rPr lang="en-US" altLang="ko-KR" sz="1000" spc="-60" baseline="0" dirty="0">
                          <a:latin typeface="+mj-ea"/>
                          <a:ea typeface="+mj-ea"/>
                        </a:rPr>
                      </a:b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환각 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없음, 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시계열 </a:t>
                      </a: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정확</a:t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7917456"/>
                  </a:ext>
                </a:extLst>
              </a:tr>
              <a:tr h="936000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300"/>
                        </a:spcBef>
                      </a:pPr>
                      <a:r>
                        <a:rPr lang="ko-KR" altLang="en-US" sz="1000" b="1" spc="-60" baseline="0" dirty="0">
                          <a:latin typeface="+mj-ea"/>
                          <a:ea typeface="+mj-ea"/>
                        </a:rPr>
                        <a:t>단점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kern="1200" spc="-6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유사도가 </a:t>
                      </a:r>
                      <a:r>
                        <a:rPr lang="ko-KR" altLang="en-US" sz="1000" kern="1200" spc="-60" baseline="0" dirty="0" err="1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높을 뿐 </a:t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+mn-ea"/>
                        </a:rPr>
                        <a:t>실재</a:t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+mn-ea"/>
                        </a:rPr>
                        <a:t>·유효성 보장 없음 → 환각 위험</a:t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+mn-ea"/>
                      </a:endParaRPr>
                    </a:p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+mn-ea"/>
                        </a:rPr>
                        <a:t>실제로 제재사례가 정답 조항 순위를 밀어낸 사례 확인</a:t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+mn-ea"/>
                        </a:rPr>
                        <a:t/>
                      </a:r>
                      <a:endParaRPr lang="ko-KR" altLang="en-US" sz="1000" kern="1200" spc="-60" baseline="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질의를 엔티티</a:t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·관계로 정확히 변환해야 하므로</a:t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8255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맑은 고딕" panose="020B0503020000020004" pitchFamily="50" charset="-127"/>
                        <a:buChar char="–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 자연어 질의에 취약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벡터+그래프 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이중 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계층 설계·유지 비용 발생</a:t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88900" indent="-88900" algn="l" latinLnBrk="1">
                        <a:lnSpc>
                          <a:spcPct val="125000"/>
                        </a:lnSpc>
                        <a:spcBef>
                          <a:spcPts val="300"/>
                        </a:spcBef>
                        <a:buFont typeface="Arial" panose="020B0604020202020204" pitchFamily="34" charset="0"/>
                        <a:buChar char="•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9753819"/>
                  </a:ext>
                </a:extLst>
              </a:tr>
            </a:tbl>
          </a:graphicData>
        </a:graphic>
      </p:graphicFrame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2DDC559-3B97-AD78-BC57-ED6965D241A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10833617"/>
              </p:ext>
            </p:extLst>
          </p:nvPr>
        </p:nvGraphicFramePr>
        <p:xfrm>
          <a:off x="663388" y="5477436"/>
          <a:ext cx="8588190" cy="75637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8588190">
                  <a:extLst>
                    <a:ext uri="{9D8B030D-6E8A-4147-A177-3AD203B41FA5}">
                      <a16:colId xmlns:a16="http://schemas.microsoft.com/office/drawing/2014/main" val="2915935000"/>
                    </a:ext>
                  </a:extLst>
                </a:gridCol>
              </a:tblGrid>
              <a:tr h="756372">
                <a:tc>
                  <a:txBody>
                    <a:bodyPr/>
                    <a:lstStyle/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100" b="0" spc="-60" baseline="0" dirty="0">
                          <a:solidFill>
                            <a:srgbClr val="25537D"/>
                          </a:solidFill>
                        </a:rPr>
                        <a:t>벡터가 </a:t>
                      </a:r>
                      <a:r>
                        <a:rPr lang="ko-KR" altLang="en-US" sz="1100" b="0" spc="-60" baseline="0" dirty="0">
                          <a:solidFill>
                            <a:srgbClr val="25537D"/>
                          </a:solidFill>
                        </a:rPr>
                        <a:t>후보를 찾고</a:t>
                      </a:r>
                      <a:r>
                        <a:rPr lang="ko-KR" altLang="en-US" sz="1100" b="0" spc="-60" baseline="0" dirty="0" err="1">
                          <a:solidFill>
                            <a:srgbClr val="25537D"/>
                          </a:solidFill>
                        </a:rPr>
                        <a:t> 그래프가</a:t>
                      </a:r>
                      <a:r>
                        <a:rPr lang="ko-KR" altLang="en-US" sz="1100" b="0" spc="-60" baseline="0" dirty="0">
                          <a:solidFill>
                            <a:srgbClr val="25537D"/>
                          </a:solidFill>
                        </a:rPr>
                        <a:t> 실재·시계열·RBAC을 재검증하는 </a:t>
                      </a:r>
                      <a:r>
                        <a:rPr lang="en-US" altLang="ko-KR" sz="1100" b="0" spc="-60" baseline="0" dirty="0">
                          <a:solidFill>
                            <a:srgbClr val="25537D"/>
                          </a:solidFill>
                        </a:rPr>
                        <a:t/>
                      </a:r>
                      <a:r>
                        <a:rPr lang="ko-KR" altLang="en-US" sz="1100" b="0" spc="-60" baseline="0" dirty="0">
                          <a:solidFill>
                            <a:srgbClr val="25537D"/>
                          </a:solidFill>
                        </a:rPr>
                        <a:t>하이브리드 구조가</a:t>
                      </a:r>
                      <a:endParaRPr lang="en-US" altLang="ko-KR" sz="1100" b="0" spc="-60" baseline="0" dirty="0">
                        <a:solidFill>
                          <a:srgbClr val="25537D"/>
                        </a:solidFill>
                      </a:endParaRPr>
                    </a:p>
                    <a:p>
                      <a:pPr algn="ctr" latinLnBrk="1">
                        <a:lnSpc>
                          <a:spcPct val="125000"/>
                        </a:lnSpc>
                        <a:spcBef>
                          <a:spcPts val="600"/>
                        </a:spcBef>
                      </a:pPr>
                      <a:r>
                        <a:rPr lang="ko-KR" altLang="en-US" sz="1400" b="1" baseline="0" dirty="0">
                          <a:solidFill>
                            <a:srgbClr val="25537D"/>
                          </a:solidFill>
                        </a:rPr>
                        <a:t>① 환각 방지, ② 시계열 정확도, ③ 차이니즈월 준수를 달성하기 위한 최적의 방안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873132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47132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코드 레벨 </a:t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ko-KR" altLang="en-US" sz="15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강제 구조</a:t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 채택 필요성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코드 레벨 </a:t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강제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 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: 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프롬프트 지시만으로는 보장할 수 없는 규제 준수를 시스템으로 강제하기 위한 근거</a:t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프롬프트 빌더(Gemini Gems 등)로는 RBAC·시계열·인용검증을 "지시"할 수 있을 뿐 "강제"할 수 없음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강제 </a:t>
            </a: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장치 미비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 시 리스크 발생 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: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탈옥·프롬프트 인젝션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모델 실수로 인한 정보유출·오답 리스크 발생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3" name="그룹 2">
            <a:extLst>
              <a:ext uri="{FF2B5EF4-FFF2-40B4-BE49-F238E27FC236}">
                <a16:creationId xmlns:a16="http://schemas.microsoft.com/office/drawing/2014/main" id="{50ABAE26-C806-571B-080F-510F85267EAF}"/>
              </a:ext>
            </a:extLst>
          </p:cNvPr>
          <p:cNvGrpSpPr/>
          <p:nvPr/>
        </p:nvGrpSpPr>
        <p:grpSpPr>
          <a:xfrm>
            <a:off x="497470" y="2212843"/>
            <a:ext cx="2603758" cy="252000"/>
            <a:chOff x="497470" y="2385423"/>
            <a:chExt cx="2603758" cy="224286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A6185018-CBEA-B62B-64F7-16656B4C6BFC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D62AA250-B91A-4F08-B262-841CE590C3D3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요구사항 성격에 따른 보장 방식 경로</a:t>
              </a:r>
            </a:p>
          </p:txBody>
        </p:sp>
      </p:grpSp>
      <p:sp>
        <p:nvSpPr>
          <p:cNvPr id="18" name="Shape 903">
            <a:extLst>
              <a:ext uri="{FF2B5EF4-FFF2-40B4-BE49-F238E27FC236}">
                <a16:creationId xmlns:a16="http://schemas.microsoft.com/office/drawing/2014/main" id="{7C1832BF-5D5A-03E5-4DC7-AEB8A7B2FF74}"/>
              </a:ext>
            </a:extLst>
          </p:cNvPr>
          <p:cNvSpPr/>
          <p:nvPr/>
        </p:nvSpPr>
        <p:spPr>
          <a:xfrm>
            <a:off x="763734" y="3480731"/>
            <a:ext cx="1700000" cy="680000"/>
          </a:xfrm>
          <a:prstGeom prst="roundRect">
            <a:avLst>
              <a:gd name="adj" fmla="val 12000"/>
            </a:avLst>
          </a:prstGeom>
          <a:solidFill>
            <a:srgbClr val="25537D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chemeClr val="bg1"/>
                </a:solidFill>
                <a:latin typeface="+mn-ea"/>
                <a:ea typeface="+mn-ea"/>
              </a:rPr>
              <a:t>새 요구사항 발생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chemeClr val="bg1"/>
                </a:solidFill>
                <a:latin typeface="+mn-ea"/>
                <a:ea typeface="+mn-ea"/>
              </a:rPr>
              <a:t>안전장치 필요 여부 판단</a:t>
            </a:r>
          </a:p>
        </p:txBody>
      </p:sp>
      <p:sp>
        <p:nvSpPr>
          <p:cNvPr id="21" name="Shape 903">
            <a:extLst>
              <a:ext uri="{FF2B5EF4-FFF2-40B4-BE49-F238E27FC236}">
                <a16:creationId xmlns:a16="http://schemas.microsoft.com/office/drawing/2014/main" id="{FD7C24D3-EA65-87AD-6B71-8EC96B64DEF7}"/>
              </a:ext>
            </a:extLst>
          </p:cNvPr>
          <p:cNvSpPr/>
          <p:nvPr/>
        </p:nvSpPr>
        <p:spPr>
          <a:xfrm>
            <a:off x="763734" y="2626197"/>
            <a:ext cx="1700000" cy="680000"/>
          </a:xfrm>
          <a:prstGeom prst="roundRect">
            <a:avLst>
              <a:gd name="adj" fmla="val 12000"/>
            </a:avLst>
          </a:prstGeom>
          <a:solidFill>
            <a:schemeClr val="bg1">
              <a:lumMod val="50000"/>
            </a:schemeClr>
          </a:solidFill>
          <a:ln w="9525">
            <a:solidFill>
              <a:schemeClr val="bg1">
                <a:lumMod val="50000"/>
              </a:schemeClr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FFFFFF"/>
                </a:solidFill>
                <a:latin typeface="+mn-ea"/>
                <a:ea typeface="+mn-ea"/>
              </a:rPr>
              <a:t>단순 정보 제공 요구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chemeClr val="bg1"/>
                </a:solidFill>
                <a:latin typeface="+mn-ea"/>
                <a:ea typeface="+mn-ea"/>
              </a:rPr>
              <a:t>프롬프트 지시로 충분</a:t>
            </a:r>
          </a:p>
        </p:txBody>
      </p:sp>
      <p:sp>
        <p:nvSpPr>
          <p:cNvPr id="22" name="Shape 903">
            <a:extLst>
              <a:ext uri="{FF2B5EF4-FFF2-40B4-BE49-F238E27FC236}">
                <a16:creationId xmlns:a16="http://schemas.microsoft.com/office/drawing/2014/main" id="{989C7D17-B4EA-1EF6-FE2A-4F671CD7E956}"/>
              </a:ext>
            </a:extLst>
          </p:cNvPr>
          <p:cNvSpPr/>
          <p:nvPr/>
        </p:nvSpPr>
        <p:spPr>
          <a:xfrm>
            <a:off x="2905035" y="2626197"/>
            <a:ext cx="2895930" cy="6800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chemeClr val="bg1">
                <a:lumMod val="50000"/>
              </a:schemeClr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latin typeface="+mn-ea"/>
                <a:ea typeface="+mn-ea"/>
              </a:rPr>
              <a:t>포맷·스타일 요구사항</a:t>
            </a:r>
            <a:endParaRPr lang="en-US" altLang="ko-KR" sz="1000" b="1" spc="-60" dirty="0">
              <a:latin typeface="+mn-ea"/>
              <a:ea typeface="+mn-ea"/>
            </a:endParaRPr>
          </a:p>
          <a:p>
            <a:pPr algn="ctr">
              <a:lnSpc>
                <a:spcPct val="125000"/>
              </a:lnSpc>
            </a:pPr>
            <a:r>
              <a:rPr lang="en-US" altLang="ko-KR" sz="900" spc="-60" dirty="0">
                <a:latin typeface="+mn-ea"/>
                <a:ea typeface="+mn-ea"/>
              </a:rPr>
              <a:t/>
            </a:r>
            <a:r>
              <a:rPr lang="ko-KR" altLang="en-US" sz="900" spc="-60" dirty="0">
                <a:latin typeface="+mn-ea"/>
                <a:ea typeface="+mn-ea"/>
              </a:rPr>
              <a:t>예시 제공으로 처리 가능</a:t>
            </a:r>
          </a:p>
        </p:txBody>
      </p:sp>
      <p:sp>
        <p:nvSpPr>
          <p:cNvPr id="25" name="Shape 906">
            <a:extLst>
              <a:ext uri="{FF2B5EF4-FFF2-40B4-BE49-F238E27FC236}">
                <a16:creationId xmlns:a16="http://schemas.microsoft.com/office/drawing/2014/main" id="{888C0DDA-5C4D-296D-7207-57294B980190}"/>
              </a:ext>
            </a:extLst>
          </p:cNvPr>
          <p:cNvSpPr/>
          <p:nvPr/>
        </p:nvSpPr>
        <p:spPr>
          <a:xfrm>
            <a:off x="6242266" y="3480731"/>
            <a:ext cx="2900000" cy="6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코드 </a:t>
            </a:r>
            <a:r>
              <a:rPr lang="ko-KR" altLang="en-US" sz="1000" b="1" spc="-60" dirty="0" err="1">
                <a:solidFill>
                  <a:srgbClr val="25537D"/>
                </a:solidFill>
                <a:latin typeface="+mn-ea"/>
                <a:ea typeface="+mn-ea"/>
              </a:rPr>
              <a:t>강제</a:t>
            </a: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 로직 필요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프롬프트 지시만으로는 보장 불가</a:t>
            </a:r>
            <a:r>
              <a:rPr lang="en-US" altLang="ko-KR" sz="900" spc="-60" dirty="0">
                <a:solidFill>
                  <a:srgbClr val="404040"/>
                </a:solidFill>
                <a:latin typeface="+mn-ea"/>
                <a:ea typeface="+mn-ea"/>
              </a:rPr>
              <a:t>, </a:t>
            </a: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별도 검증 로직으로 강제해야 함</a:t>
            </a:r>
          </a:p>
        </p:txBody>
      </p:sp>
      <p:sp>
        <p:nvSpPr>
          <p:cNvPr id="26" name="Shape 903">
            <a:extLst>
              <a:ext uri="{FF2B5EF4-FFF2-40B4-BE49-F238E27FC236}">
                <a16:creationId xmlns:a16="http://schemas.microsoft.com/office/drawing/2014/main" id="{DB5CD1A4-C5B6-AF05-FACB-4FBBADCBAF82}"/>
              </a:ext>
            </a:extLst>
          </p:cNvPr>
          <p:cNvSpPr/>
          <p:nvPr/>
        </p:nvSpPr>
        <p:spPr>
          <a:xfrm>
            <a:off x="6242266" y="2626197"/>
            <a:ext cx="2895930" cy="680000"/>
          </a:xfrm>
          <a:prstGeom prst="roundRect">
            <a:avLst>
              <a:gd name="adj" fmla="val 12000"/>
            </a:avLst>
          </a:prstGeom>
          <a:solidFill>
            <a:schemeClr val="bg2"/>
          </a:solidFill>
          <a:ln w="9525">
            <a:solidFill>
              <a:schemeClr val="bg1">
                <a:lumMod val="50000"/>
              </a:schemeClr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latin typeface="+mn-ea"/>
              </a:rPr>
              <a:t>예: 답변 톤·형식 안내</a:t>
            </a:r>
            <a:endParaRPr lang="en-US" altLang="ko-KR" sz="1000" b="1" spc="-60" dirty="0">
              <a:latin typeface="+mn-ea"/>
            </a:endParaRP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latin typeface="+mn-ea"/>
                <a:ea typeface="+mn-ea"/>
              </a:rPr>
              <a:t>위반해도 치명적 피해 없음</a:t>
            </a:r>
          </a:p>
        </p:txBody>
      </p:sp>
      <p:sp>
        <p:nvSpPr>
          <p:cNvPr id="27" name="Shape 906">
            <a:extLst>
              <a:ext uri="{FF2B5EF4-FFF2-40B4-BE49-F238E27FC236}">
                <a16:creationId xmlns:a16="http://schemas.microsoft.com/office/drawing/2014/main" id="{F7D5FDFC-8ABF-424C-A4B6-D13235E854C9}"/>
              </a:ext>
            </a:extLst>
          </p:cNvPr>
          <p:cNvSpPr/>
          <p:nvPr/>
        </p:nvSpPr>
        <p:spPr>
          <a:xfrm>
            <a:off x="2903000" y="3480731"/>
            <a:ext cx="2900000" cy="68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RBAC·시계열·인용검증 (본건)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위반 시 정보유출·오답 등 치명적 피해 발생</a:t>
            </a:r>
          </a:p>
        </p:txBody>
      </p: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0B5F29C9-586C-FE93-AD56-D41A0BC66FFF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2463734" y="2966197"/>
            <a:ext cx="44130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1073DDE6-E054-7300-CC7D-175AC7384517}"/>
              </a:ext>
            </a:extLst>
          </p:cNvPr>
          <p:cNvCxnSpPr>
            <a:cxnSpLocks/>
            <a:stCxn id="22" idx="3"/>
            <a:endCxn id="26" idx="1"/>
          </p:cNvCxnSpPr>
          <p:nvPr/>
        </p:nvCxnSpPr>
        <p:spPr>
          <a:xfrm>
            <a:off x="5800965" y="2966197"/>
            <a:ext cx="441301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직선 화살표 연결선 36">
            <a:extLst>
              <a:ext uri="{FF2B5EF4-FFF2-40B4-BE49-F238E27FC236}">
                <a16:creationId xmlns:a16="http://schemas.microsoft.com/office/drawing/2014/main" id="{819E0F21-9FE0-DE97-A1B5-EB1EA7C15BB1}"/>
              </a:ext>
            </a:extLst>
          </p:cNvPr>
          <p:cNvCxnSpPr>
            <a:cxnSpLocks/>
            <a:stCxn id="18" idx="3"/>
            <a:endCxn id="27" idx="1"/>
          </p:cNvCxnSpPr>
          <p:nvPr/>
        </p:nvCxnSpPr>
        <p:spPr>
          <a:xfrm>
            <a:off x="2463734" y="3820731"/>
            <a:ext cx="439266" cy="0"/>
          </a:xfrm>
          <a:prstGeom prst="straightConnector1">
            <a:avLst/>
          </a:prstGeom>
          <a:ln w="12700">
            <a:solidFill>
              <a:srgbClr val="2553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FC0595DE-361D-3177-2CDA-7ED836367B76}"/>
              </a:ext>
            </a:extLst>
          </p:cNvPr>
          <p:cNvCxnSpPr>
            <a:cxnSpLocks/>
            <a:stCxn id="27" idx="3"/>
            <a:endCxn id="25" idx="1"/>
          </p:cNvCxnSpPr>
          <p:nvPr/>
        </p:nvCxnSpPr>
        <p:spPr>
          <a:xfrm>
            <a:off x="5803000" y="3820731"/>
            <a:ext cx="439266" cy="0"/>
          </a:xfrm>
          <a:prstGeom prst="straightConnector1">
            <a:avLst/>
          </a:prstGeom>
          <a:ln w="12700">
            <a:solidFill>
              <a:srgbClr val="2553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그룹 42">
            <a:extLst>
              <a:ext uri="{FF2B5EF4-FFF2-40B4-BE49-F238E27FC236}">
                <a16:creationId xmlns:a16="http://schemas.microsoft.com/office/drawing/2014/main" id="{AAD27558-1AA2-F6F0-9FFD-15B2BBD91CDB}"/>
              </a:ext>
            </a:extLst>
          </p:cNvPr>
          <p:cNvGrpSpPr/>
          <p:nvPr/>
        </p:nvGrpSpPr>
        <p:grpSpPr>
          <a:xfrm>
            <a:off x="497470" y="4544762"/>
            <a:ext cx="2603758" cy="252000"/>
            <a:chOff x="497470" y="2385423"/>
            <a:chExt cx="2603758" cy="224286"/>
          </a:xfrm>
        </p:grpSpPr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B484750E-0152-8BD8-9DDC-B761812591C6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5" name="직사각형 44">
              <a:extLst>
                <a:ext uri="{FF2B5EF4-FFF2-40B4-BE49-F238E27FC236}">
                  <a16:creationId xmlns:a16="http://schemas.microsoft.com/office/drawing/2014/main" id="{B8298562-0481-C9E2-56DB-9A404C46F776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강제 장치 </a:t>
              </a:r>
              <a:r>
                <a:rPr lang="ko-KR" altLang="en-US" sz="1000" b="1" dirty="0" err="1">
                  <a:solidFill>
                    <a:schemeClr val="tx1"/>
                  </a:solidFill>
                  <a:latin typeface="+mj-ea"/>
                  <a:ea typeface="+mj-ea"/>
                </a:rPr>
                <a:t>미비</a:t>
              </a:r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 시 발생 리스크</a:t>
              </a:r>
            </a:p>
          </p:txBody>
        </p:sp>
      </p:grpSp>
      <p:sp>
        <p:nvSpPr>
          <p:cNvPr id="46" name="Shape 914">
            <a:extLst>
              <a:ext uri="{FF2B5EF4-FFF2-40B4-BE49-F238E27FC236}">
                <a16:creationId xmlns:a16="http://schemas.microsoft.com/office/drawing/2014/main" id="{4D736F24-D5DA-807E-63FC-C294A82F1DC0}"/>
              </a:ext>
            </a:extLst>
          </p:cNvPr>
          <p:cNvSpPr/>
          <p:nvPr/>
        </p:nvSpPr>
        <p:spPr>
          <a:xfrm>
            <a:off x="763734" y="4990857"/>
            <a:ext cx="1580024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정보유출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프롬프트 인젝션으로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타 부서 문서 노출 가능</a:t>
            </a:r>
          </a:p>
        </p:txBody>
      </p:sp>
      <p:sp>
        <p:nvSpPr>
          <p:cNvPr id="47" name="Shape 915">
            <a:extLst>
              <a:ext uri="{FF2B5EF4-FFF2-40B4-BE49-F238E27FC236}">
                <a16:creationId xmlns:a16="http://schemas.microsoft.com/office/drawing/2014/main" id="{6F0D4DAE-91F4-8165-8F6C-1700542FDCCB}"/>
              </a:ext>
            </a:extLst>
          </p:cNvPr>
          <p:cNvSpPr/>
          <p:nvPr/>
        </p:nvSpPr>
        <p:spPr>
          <a:xfrm>
            <a:off x="2462344" y="4990857"/>
            <a:ext cx="1580024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오답 확산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존재하지 않는 근거를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인용해 잘못된 판단 유도</a:t>
            </a:r>
          </a:p>
        </p:txBody>
      </p:sp>
      <p:sp>
        <p:nvSpPr>
          <p:cNvPr id="48" name="Shape 916">
            <a:extLst>
              <a:ext uri="{FF2B5EF4-FFF2-40B4-BE49-F238E27FC236}">
                <a16:creationId xmlns:a16="http://schemas.microsoft.com/office/drawing/2014/main" id="{03EB2177-0AC8-12CF-3E22-534277C93F9E}"/>
              </a:ext>
            </a:extLst>
          </p:cNvPr>
          <p:cNvSpPr/>
          <p:nvPr/>
        </p:nvSpPr>
        <p:spPr>
          <a:xfrm>
            <a:off x="4160954" y="4990857"/>
            <a:ext cx="1580024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구버전 오적용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폐지된 법령을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최신인 것처럼 안내</a:t>
            </a:r>
          </a:p>
        </p:txBody>
      </p:sp>
      <p:sp>
        <p:nvSpPr>
          <p:cNvPr id="49" name="Shape 917">
            <a:extLst>
              <a:ext uri="{FF2B5EF4-FFF2-40B4-BE49-F238E27FC236}">
                <a16:creationId xmlns:a16="http://schemas.microsoft.com/office/drawing/2014/main" id="{CD85F50D-D615-4B61-6BFB-8198D34D277D}"/>
              </a:ext>
            </a:extLst>
          </p:cNvPr>
          <p:cNvSpPr/>
          <p:nvPr/>
        </p:nvSpPr>
        <p:spPr>
          <a:xfrm>
            <a:off x="5859563" y="4990857"/>
            <a:ext cx="1580024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추적 불가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어떤 근거로 답했는지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감사 불가</a:t>
            </a:r>
          </a:p>
        </p:txBody>
      </p:sp>
      <p:sp>
        <p:nvSpPr>
          <p:cNvPr id="50" name="Shape 918">
            <a:extLst>
              <a:ext uri="{FF2B5EF4-FFF2-40B4-BE49-F238E27FC236}">
                <a16:creationId xmlns:a16="http://schemas.microsoft.com/office/drawing/2014/main" id="{A311297A-9D51-843F-C353-E58A955F999B}"/>
              </a:ext>
            </a:extLst>
          </p:cNvPr>
          <p:cNvSpPr/>
          <p:nvPr/>
        </p:nvSpPr>
        <p:spPr>
          <a:xfrm>
            <a:off x="7558172" y="4990857"/>
            <a:ext cx="1580024" cy="10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n-ea"/>
                <a:ea typeface="+mn-ea"/>
              </a:rPr>
              <a:t>검사 대응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규제기관 점검 시 안전장치를</a:t>
            </a:r>
          </a:p>
          <a:p>
            <a:pPr algn="ctr">
              <a:lnSpc>
                <a:spcPct val="125000"/>
              </a:lnSpc>
            </a:pPr>
            <a:r>
              <a:rPr lang="ko-KR" altLang="en-US" sz="900" spc="-60" dirty="0">
                <a:solidFill>
                  <a:srgbClr val="404040"/>
                </a:solidFill>
                <a:latin typeface="+mn-ea"/>
                <a:ea typeface="+mn-ea"/>
              </a:rPr>
              <a:t>설명할 수 없음</a:t>
            </a:r>
          </a:p>
        </p:txBody>
      </p:sp>
    </p:spTree>
    <p:extLst>
      <p:ext uri="{BB962C8B-B14F-4D97-AF65-F5344CB8AC3E}">
        <p14:creationId xmlns:p14="http://schemas.microsoft.com/office/powerpoint/2010/main" val="21380252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하이브리드 RAG 백엔드 구축 단계별 수행 방안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459394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초기 스캐폴딩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 → </a:t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영속 백엔드 전환</a:t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→ 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실사규 연동 </a:t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3단계로 구분하여 단계별 검증 항목과 안전장치 설계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7" name="화살표: 오각형 6">
            <a:extLst>
              <a:ext uri="{FF2B5EF4-FFF2-40B4-BE49-F238E27FC236}">
                <a16:creationId xmlns:a16="http://schemas.microsoft.com/office/drawing/2014/main" id="{ABD63C6E-9039-C1C5-7A4B-DE822F30E13B}"/>
              </a:ext>
            </a:extLst>
          </p:cNvPr>
          <p:cNvSpPr/>
          <p:nvPr/>
        </p:nvSpPr>
        <p:spPr>
          <a:xfrm>
            <a:off x="632271" y="2251452"/>
            <a:ext cx="2880000" cy="622364"/>
          </a:xfrm>
          <a:prstGeom prst="homePlate">
            <a:avLst>
              <a:gd name="adj" fmla="val 19391"/>
            </a:avLst>
          </a:prstGeom>
          <a:gradFill>
            <a:gsLst>
              <a:gs pos="0">
                <a:schemeClr val="accent1">
                  <a:lumMod val="20000"/>
                  <a:lumOff val="80000"/>
                </a:schemeClr>
              </a:gs>
              <a:gs pos="100000">
                <a:schemeClr val="accent1">
                  <a:lumMod val="40000"/>
                  <a:lumOff val="6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altLang="ko-KR" sz="900" b="1" spc="-60" dirty="0">
                <a:solidFill>
                  <a:schemeClr val="tx1"/>
                </a:solidFill>
                <a:latin typeface="+mj-ea"/>
                <a:ea typeface="+mj-ea"/>
              </a:rPr>
              <a:t>P H A S E </a:t>
            </a:r>
            <a:r>
              <a:rPr lang="ko-KR" altLang="en-US" sz="900" b="1" spc="-60" dirty="0">
                <a:solidFill>
                  <a:schemeClr val="tx1"/>
                </a:solidFill>
                <a:latin typeface="+mj-ea"/>
                <a:ea typeface="+mj-ea"/>
              </a:rPr>
              <a:t>①</a:t>
            </a:r>
            <a:endParaRPr lang="en-US" altLang="ko-KR" sz="900" b="1" spc="-6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초기 스캐폴딩</a:t>
            </a:r>
            <a:r>
              <a:rPr lang="en-US" altLang="ko-KR" sz="1100" b="1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1100" b="1" spc="-60" dirty="0" err="1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 (하이브리드 RAG 뼈대)</a:t>
            </a:r>
          </a:p>
        </p:txBody>
      </p:sp>
      <p:sp>
        <p:nvSpPr>
          <p:cNvPr id="8" name="화살표: 갈매기형 수장 7">
            <a:extLst>
              <a:ext uri="{FF2B5EF4-FFF2-40B4-BE49-F238E27FC236}">
                <a16:creationId xmlns:a16="http://schemas.microsoft.com/office/drawing/2014/main" id="{924FD2FA-F80D-A81A-78CA-AC29AA28B8F9}"/>
              </a:ext>
            </a:extLst>
          </p:cNvPr>
          <p:cNvSpPr/>
          <p:nvPr/>
        </p:nvSpPr>
        <p:spPr>
          <a:xfrm>
            <a:off x="3513001" y="2251452"/>
            <a:ext cx="2880000" cy="622364"/>
          </a:xfrm>
          <a:prstGeom prst="chevron">
            <a:avLst>
              <a:gd name="adj" fmla="val 17860"/>
            </a:avLst>
          </a:prstGeom>
          <a:gradFill>
            <a:gsLst>
              <a:gs pos="0">
                <a:schemeClr val="accent1">
                  <a:lumMod val="40000"/>
                  <a:lumOff val="60000"/>
                </a:schemeClr>
              </a:gs>
              <a:gs pos="100000">
                <a:schemeClr val="accent1">
                  <a:lumMod val="60000"/>
                  <a:lumOff val="40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altLang="ko-KR" sz="900" b="1" spc="-60" dirty="0">
                <a:solidFill>
                  <a:schemeClr val="tx1"/>
                </a:solidFill>
                <a:latin typeface="+mj-ea"/>
                <a:ea typeface="+mj-ea"/>
              </a:rPr>
              <a:t>P H A S E </a:t>
            </a:r>
            <a:r>
              <a:rPr lang="ko-KR" altLang="en-US" sz="900" b="1" spc="-60" dirty="0">
                <a:solidFill>
                  <a:schemeClr val="tx1"/>
                </a:solidFill>
                <a:latin typeface="+mj-ea"/>
                <a:ea typeface="+mj-ea"/>
              </a:rPr>
              <a:t>②</a:t>
            </a:r>
            <a:endParaRPr lang="en-US" altLang="ko-KR" sz="900" b="1" spc="-6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영속 백엔드</a:t>
            </a:r>
            <a:r>
              <a:rPr lang="ko-KR" altLang="en-US" sz="1100" b="1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전환 단계</a:t>
            </a:r>
            <a:endParaRPr lang="ko-KR" altLang="en-US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9" name="화살표: 갈매기형 수장 8">
            <a:extLst>
              <a:ext uri="{FF2B5EF4-FFF2-40B4-BE49-F238E27FC236}">
                <a16:creationId xmlns:a16="http://schemas.microsoft.com/office/drawing/2014/main" id="{926BCCAC-B644-00B4-BE39-49B2E58E3564}"/>
              </a:ext>
            </a:extLst>
          </p:cNvPr>
          <p:cNvSpPr/>
          <p:nvPr/>
        </p:nvSpPr>
        <p:spPr>
          <a:xfrm>
            <a:off x="6393731" y="2251452"/>
            <a:ext cx="2880000" cy="622364"/>
          </a:xfrm>
          <a:prstGeom prst="chevron">
            <a:avLst>
              <a:gd name="adj" fmla="val 20921"/>
            </a:avLst>
          </a:prstGeom>
          <a:gradFill>
            <a:gsLst>
              <a:gs pos="0">
                <a:schemeClr val="accent1">
                  <a:lumMod val="60000"/>
                  <a:lumOff val="40000"/>
                </a:schemeClr>
              </a:gs>
              <a:gs pos="100000">
                <a:schemeClr val="accent1">
                  <a:lumMod val="7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Bef>
                <a:spcPts val="600"/>
              </a:spcBef>
            </a:pPr>
            <a:r>
              <a:rPr lang="en-US" altLang="ko-KR" sz="900" b="1" spc="-60" dirty="0">
                <a:solidFill>
                  <a:schemeClr val="tx1"/>
                </a:solidFill>
                <a:latin typeface="+mj-ea"/>
                <a:ea typeface="+mj-ea"/>
              </a:rPr>
              <a:t>P H A S E </a:t>
            </a:r>
            <a:r>
              <a:rPr lang="ko-KR" altLang="en-US" sz="900" b="1" spc="-60" dirty="0">
                <a:solidFill>
                  <a:schemeClr val="tx1"/>
                </a:solidFill>
                <a:latin typeface="+mj-ea"/>
                <a:ea typeface="+mj-ea"/>
              </a:rPr>
              <a:t>③</a:t>
            </a:r>
            <a:endParaRPr lang="en-US" altLang="ko-KR" sz="900" b="1" spc="-60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실사규 연동</a:t>
            </a:r>
            <a:r>
              <a:rPr lang="en-US" altLang="ko-KR" sz="1100" b="1" spc="-60" dirty="0">
                <a:solidFill>
                  <a:schemeClr val="tx1"/>
                </a:solidFill>
                <a:latin typeface="+mj-ea"/>
                <a:ea typeface="+mj-ea"/>
              </a:rPr>
              <a:t> </a:t>
            </a:r>
            <a:r>
              <a:rPr lang="en-US" altLang="ko-KR" sz="900" b="1" spc="-60" dirty="0">
                <a:solidFill>
                  <a:schemeClr val="tx1"/>
                </a:solidFill>
                <a:latin typeface="+mj-ea"/>
                <a:ea typeface="+mj-ea"/>
              </a:rPr>
              <a:t>(</a:t>
            </a:r>
            <a:r>
              <a:rPr lang="ko-KR" altLang="en-US" sz="900" b="1" spc="-60" dirty="0">
                <a:solidFill>
                  <a:schemeClr val="tx1"/>
                </a:solidFill>
                <a:latin typeface="+mj-ea"/>
                <a:ea typeface="+mj-ea"/>
              </a:rPr>
              <a:t>실증 진행중</a:t>
            </a:r>
            <a:r>
              <a:rPr lang="en-US" altLang="ko-KR" sz="900" b="1" spc="-60" dirty="0">
                <a:solidFill>
                  <a:schemeClr val="tx1"/>
                </a:solidFill>
                <a:latin typeface="+mj-ea"/>
                <a:ea typeface="+mj-ea"/>
              </a:rPr>
              <a:t>)</a:t>
            </a:r>
            <a:endParaRPr lang="ko-KR" altLang="en-US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A8354BA8-ADC8-D8A0-F42F-E7C42124AFC4}"/>
              </a:ext>
            </a:extLst>
          </p:cNvPr>
          <p:cNvCxnSpPr>
            <a:cxnSpLocks/>
          </p:cNvCxnSpPr>
          <p:nvPr/>
        </p:nvCxnSpPr>
        <p:spPr>
          <a:xfrm>
            <a:off x="3501242" y="3013935"/>
            <a:ext cx="0" cy="251338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연결선 12">
            <a:extLst>
              <a:ext uri="{FF2B5EF4-FFF2-40B4-BE49-F238E27FC236}">
                <a16:creationId xmlns:a16="http://schemas.microsoft.com/office/drawing/2014/main" id="{8C2F932F-2634-3E6D-DD07-EA9567ACA0E6}"/>
              </a:ext>
            </a:extLst>
          </p:cNvPr>
          <p:cNvCxnSpPr>
            <a:cxnSpLocks/>
          </p:cNvCxnSpPr>
          <p:nvPr/>
        </p:nvCxnSpPr>
        <p:spPr>
          <a:xfrm>
            <a:off x="6383476" y="3013935"/>
            <a:ext cx="0" cy="2513385"/>
          </a:xfrm>
          <a:prstGeom prst="line">
            <a:avLst/>
          </a:prstGeom>
          <a:ln w="19050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51CFB422-FD3A-D8D2-31F6-B9910FFCF90A}"/>
              </a:ext>
            </a:extLst>
          </p:cNvPr>
          <p:cNvSpPr/>
          <p:nvPr/>
        </p:nvSpPr>
        <p:spPr>
          <a:xfrm>
            <a:off x="632271" y="3108628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ㆍ구성 요소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온톨로지 스키마, 하이브리드 리트리버 최초 구현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에이전트 하네스로 tool-calling 루프 구현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58B119B9-0A76-7E50-ED4B-4389CBAE07BA}"/>
              </a:ext>
            </a:extLst>
          </p:cNvPr>
          <p:cNvSpPr/>
          <p:nvPr/>
        </p:nvSpPr>
        <p:spPr>
          <a:xfrm>
            <a:off x="3513001" y="3108628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ㆍ그래프·벡터 전환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r>
              <a:rPr lang="ko-KR" altLang="en-US" sz="1000" b="1" spc="-60" dirty="0">
                <a:solidFill>
                  <a:srgbClr val="2553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NetworkX→Kuzu, InMemory→Chroma 실제 교체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프로세스 재시작 후 데이터 유지 확인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3159855C-FBFF-8788-2BDE-16B11ED4F845}"/>
              </a:ext>
            </a:extLst>
          </p:cNvPr>
          <p:cNvSpPr/>
          <p:nvPr/>
        </p:nvSpPr>
        <p:spPr>
          <a:xfrm>
            <a:off x="6393001" y="3108628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ㆍ데이터 파이프라인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LocalFileRegulationConnector로 사규 원문 자동 파싱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DRM 파일은 스킵, 배치 전체는 계속 진행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EDFFB7DD-E723-52BF-2041-DA55426FD55B}"/>
              </a:ext>
            </a:extLst>
          </p:cNvPr>
          <p:cNvSpPr/>
          <p:nvPr/>
        </p:nvSpPr>
        <p:spPr>
          <a:xfrm>
            <a:off x="632271" y="3954552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ㆍ백엔드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NetworkX(그래프)·InMemory(벡터)·HashEmbedder(더미)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서버 없이 프로세스 내에서 즉시 동작 검증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A401F823-4D90-9A18-30AC-80AC30093DDF}"/>
              </a:ext>
            </a:extLst>
          </p:cNvPr>
          <p:cNvSpPr/>
          <p:nvPr/>
        </p:nvSpPr>
        <p:spPr>
          <a:xfrm>
            <a:off x="3513001" y="3954552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ㆍSSO 인증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HS256/RS256+JWKS 검증 구현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미설정 시 서버 501 fail-closed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2" name="사각형: 둥근 모서리 11">
            <a:extLst>
              <a:ext uri="{FF2B5EF4-FFF2-40B4-BE49-F238E27FC236}">
                <a16:creationId xmlns:a16="http://schemas.microsoft.com/office/drawing/2014/main" id="{B7C6DB81-0839-7B8F-0774-60A867033FE1}"/>
              </a:ext>
            </a:extLst>
          </p:cNvPr>
          <p:cNvSpPr/>
          <p:nvPr/>
        </p:nvSpPr>
        <p:spPr>
          <a:xfrm>
            <a:off x="6393001" y="3954552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ㆍ실사규 검증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실사규 4건 색인, 시행일 자동 추출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 err="1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10F184A3-B34D-BE3D-A727-87118689BFA9}"/>
              </a:ext>
            </a:extLst>
          </p:cNvPr>
          <p:cNvSpPr/>
          <p:nvPr/>
        </p:nvSpPr>
        <p:spPr>
          <a:xfrm>
            <a:off x="632271" y="4800476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ㆍ검증 결과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고령투자자 랩상품 시나리오로 RBAC·시계열·인용검증 E2E 확인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테스트 14건 통과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1" name="사각형: 둥근 모서리 20">
            <a:extLst>
              <a:ext uri="{FF2B5EF4-FFF2-40B4-BE49-F238E27FC236}">
                <a16:creationId xmlns:a16="http://schemas.microsoft.com/office/drawing/2014/main" id="{767D464C-F223-6480-C6FC-08F99A5DEF06}"/>
              </a:ext>
            </a:extLst>
          </p:cNvPr>
          <p:cNvSpPr/>
          <p:nvPr/>
        </p:nvSpPr>
        <p:spPr>
          <a:xfrm>
            <a:off x="3513001" y="4800476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ㆍ검증 결과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VoyageEmbedder 요청/응답 파싱 단위테스트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테스트 27건 추가, 총 41건 통과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사각형: 둥근 모서리 21">
            <a:extLst>
              <a:ext uri="{FF2B5EF4-FFF2-40B4-BE49-F238E27FC236}">
                <a16:creationId xmlns:a16="http://schemas.microsoft.com/office/drawing/2014/main" id="{27CDD029-38AB-1A3D-E251-7C6E247C6B6D}"/>
              </a:ext>
            </a:extLst>
          </p:cNvPr>
          <p:cNvSpPr/>
          <p:nvPr/>
        </p:nvSpPr>
        <p:spPr>
          <a:xfrm>
            <a:off x="6393001" y="4800476"/>
            <a:ext cx="2880000" cy="735754"/>
          </a:xfrm>
          <a:prstGeom prst="roundRect">
            <a:avLst/>
          </a:prstGeom>
          <a:noFill/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1000" b="1" spc="-60" dirty="0" err="1">
                <a:solidFill>
                  <a:srgbClr val="25537D"/>
                </a:solidFill>
                <a:latin typeface="+mj-ea"/>
                <a:ea typeface="+mj-ea"/>
              </a:rPr>
              <a:t>ㆍ실증 결과</a:t>
            </a: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>
              <a:lnSpc>
                <a:spcPct val="125000"/>
              </a:lnSpc>
              <a:spcBef>
                <a:spcPts val="600"/>
              </a:spcBef>
            </a:pP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>- 테스트 97건 통과 (누적)</a:t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b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</a:br>
            <a:r>
              <a:rPr lang="en-US" altLang="ko-KR" sz="900" spc="-60" dirty="0">
                <a:solidFill>
                  <a:schemeClr val="tx1"/>
                </a:solidFill>
                <a:latin typeface="+mj-ea"/>
                <a:ea typeface="+mj-ea"/>
              </a:rPr>
              <a:t>- Voyage 전환 전까지 검색 품질은 참고용</a:t>
            </a:r>
            <a:r>
              <a:rPr lang="ko-KR" altLang="en-US" sz="900" spc="-60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4131415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WBS</a:t>
            </a:r>
            <a:endParaRPr lang="ko-KR" altLang="en-US" sz="1500" dirty="0">
              <a:ln>
                <a:solidFill>
                  <a:schemeClr val="bg1">
                    <a:alpha val="0"/>
                  </a:schemeClr>
                </a:solidFill>
              </a:ln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EAF81C43-6B3F-EF14-924D-17B70EA1D9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9876790"/>
              </p:ext>
            </p:extLst>
          </p:nvPr>
        </p:nvGraphicFramePr>
        <p:xfrm>
          <a:off x="494786" y="1281576"/>
          <a:ext cx="8916426" cy="4320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656866359"/>
                    </a:ext>
                  </a:extLst>
                </a:gridCol>
                <a:gridCol w="2520000">
                  <a:extLst>
                    <a:ext uri="{9D8B030D-6E8A-4147-A177-3AD203B41FA5}">
                      <a16:colId xmlns:a16="http://schemas.microsoft.com/office/drawing/2014/main" val="6472988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651274720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2462824143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2414230294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3272755482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1084729954"/>
                    </a:ext>
                  </a:extLst>
                </a:gridCol>
                <a:gridCol w="886071">
                  <a:extLst>
                    <a:ext uri="{9D8B030D-6E8A-4147-A177-3AD203B41FA5}">
                      <a16:colId xmlns:a16="http://schemas.microsoft.com/office/drawing/2014/main" val="3161595190"/>
                    </a:ext>
                  </a:extLst>
                </a:gridCol>
              </a:tblGrid>
              <a:tr h="36000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구분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‘26.08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09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10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11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12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spc="-60" baseline="0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‘27.01</a:t>
                      </a:r>
                      <a:endParaRPr lang="ko-KR" altLang="en-US" sz="1000" b="1" spc="-60" baseline="0" dirty="0">
                        <a:solidFill>
                          <a:schemeClr val="bg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5537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15841455"/>
                  </a:ext>
                </a:extLst>
              </a:tr>
              <a:tr h="360000">
                <a:tc rowSpan="3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초기 </a:t>
                      </a:r>
                      <a:r>
                        <a:rPr lang="ko-KR" altLang="en-US" sz="1000" b="1" spc="-60" baseline="0" dirty="0" err="1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구축</a:t>
                      </a:r>
                      <a:endParaRPr lang="ko-KR" altLang="en-US" sz="1000" b="1" spc="-60" baseline="0" dirty="0">
                        <a:solidFill>
                          <a:srgbClr val="25537D"/>
                        </a:solidFill>
                        <a:latin typeface="+mj-ea"/>
                        <a:ea typeface="+mj-ea"/>
                      </a:endParaRPr>
                    </a:p>
                    <a:p>
                      <a:pPr algn="ctr" latinLnBrk="1"/>
                      <a:endParaRPr lang="ko-KR" altLang="en-US" sz="1000" b="1" spc="-60" baseline="0" dirty="0">
                        <a:solidFill>
                          <a:srgbClr val="25537D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온톨로지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·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리트리버 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설계</a:t>
                      </a:r>
                      <a:endParaRPr lang="en-US" altLang="ko-KR" sz="1000" b="1" spc="-60" baseline="0" dirty="0">
                        <a:solidFill>
                          <a:schemeClr val="bg1">
                            <a:lumMod val="50000"/>
                          </a:schemeClr>
                        </a:solidFill>
                        <a:latin typeface="+mj-ea"/>
                        <a:ea typeface="+mj-ea"/>
                      </a:endParaRP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404865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에이전트 하네스 구현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65707576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시드데이터 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E2E 검증(14건)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100677769"/>
                  </a:ext>
                </a:extLst>
              </a:tr>
              <a:tr h="360000"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백엔드 전환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Kuzu 그래프 스토어 전환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396422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 err="1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Chroma 벡터 스토어 전환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47227071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latinLnBrk="1"/>
                      <a:endParaRPr lang="ko-KR" altLang="en-US" sz="9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SSO 인증(HS256/RS256+JWKS) 구현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5567943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rgbClr val="25537D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로컬 파일 커넥터 개발 · 실사규 4건 검증(테스트 97건)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34574342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실사용 준비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Voyage 실 임베딩 전환 및 MIN_SCORE 재보정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7100406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rgbClr val="25537D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실 사내 IdP(RS256/JWKS) 연동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5368975"/>
                  </a:ext>
                </a:extLst>
              </a:tr>
              <a:tr h="360000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>확장</a:t>
                      </a:r>
                      <a:r>
                        <a:rPr lang="ko-KR" altLang="en-US" sz="1000" b="1" spc="-60" baseline="0" dirty="0">
                          <a:solidFill>
                            <a:srgbClr val="25537D"/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6대 소스 실 크롤러 연동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5726347"/>
                  </a:ext>
                </a:extLst>
              </a:tr>
              <a:tr h="36000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spc="-60" baseline="0" dirty="0">
                        <a:solidFill>
                          <a:srgbClr val="25537D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평가셋 </a:t>
                      </a:r>
                      <a:r>
                        <a:rPr lang="ko-KR" altLang="en-US" sz="1000" b="1" spc="-60" baseline="0" dirty="0">
                          <a:solidFill>
                            <a:schemeClr val="bg1">
                              <a:lumMod val="50000"/>
                            </a:schemeClr>
                          </a:solidFill>
                          <a:latin typeface="+mj-ea"/>
                          <a:ea typeface="+mj-ea"/>
                        </a:rPr>
                        <a:t>확장 및 성능 튜닝</a:t>
                      </a:r>
                    </a:p>
                  </a:txBody>
                  <a:tcPr marL="252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alpha val="2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9847649"/>
                  </a:ext>
                </a:extLst>
              </a:tr>
            </a:tbl>
          </a:graphicData>
        </a:graphic>
      </p:graphicFrame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CD8B3986-61FD-D415-0844-BDA3BFC0B0C2}"/>
              </a:ext>
            </a:extLst>
          </p:cNvPr>
          <p:cNvSpPr/>
          <p:nvPr/>
        </p:nvSpPr>
        <p:spPr>
          <a:xfrm>
            <a:off x="4154426" y="1720803"/>
            <a:ext cx="1656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사각형: 둥근 모서리 15">
            <a:extLst>
              <a:ext uri="{FF2B5EF4-FFF2-40B4-BE49-F238E27FC236}">
                <a16:creationId xmlns:a16="http://schemas.microsoft.com/office/drawing/2014/main" id="{A88ED757-A33E-7B39-7B5E-062A5D08E2D8}"/>
              </a:ext>
            </a:extLst>
          </p:cNvPr>
          <p:cNvSpPr/>
          <p:nvPr/>
        </p:nvSpPr>
        <p:spPr>
          <a:xfrm>
            <a:off x="6822981" y="4607459"/>
            <a:ext cx="1656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8" name="사각형: 둥근 모서리 17">
            <a:extLst>
              <a:ext uri="{FF2B5EF4-FFF2-40B4-BE49-F238E27FC236}">
                <a16:creationId xmlns:a16="http://schemas.microsoft.com/office/drawing/2014/main" id="{8A792BD6-D5CA-83F4-D3B6-585AFBEB3B28}"/>
              </a:ext>
            </a:extLst>
          </p:cNvPr>
          <p:cNvSpPr/>
          <p:nvPr/>
        </p:nvSpPr>
        <p:spPr>
          <a:xfrm>
            <a:off x="5038260" y="4246627"/>
            <a:ext cx="2542248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9" name="사각형: 둥근 모서리 18">
            <a:extLst>
              <a:ext uri="{FF2B5EF4-FFF2-40B4-BE49-F238E27FC236}">
                <a16:creationId xmlns:a16="http://schemas.microsoft.com/office/drawing/2014/main" id="{91A301FE-754F-E88B-F8B7-8EED11DB5D99}"/>
              </a:ext>
            </a:extLst>
          </p:cNvPr>
          <p:cNvSpPr/>
          <p:nvPr/>
        </p:nvSpPr>
        <p:spPr>
          <a:xfrm>
            <a:off x="8086725" y="3885795"/>
            <a:ext cx="1299086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ko-KR" altLang="en-US" sz="900" dirty="0">
                <a:solidFill>
                  <a:schemeClr val="tx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20" name="사각형: 둥근 모서리 19">
            <a:extLst>
              <a:ext uri="{FF2B5EF4-FFF2-40B4-BE49-F238E27FC236}">
                <a16:creationId xmlns:a16="http://schemas.microsoft.com/office/drawing/2014/main" id="{277A8AA6-2E87-A8B1-F88C-C7D4B30AE8BB}"/>
              </a:ext>
            </a:extLst>
          </p:cNvPr>
          <p:cNvSpPr/>
          <p:nvPr/>
        </p:nvSpPr>
        <p:spPr>
          <a:xfrm>
            <a:off x="5038260" y="3524963"/>
            <a:ext cx="1656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CC6603B0-CEBB-238F-0FE7-5B49A0914121}"/>
              </a:ext>
            </a:extLst>
          </p:cNvPr>
          <p:cNvSpPr/>
          <p:nvPr/>
        </p:nvSpPr>
        <p:spPr>
          <a:xfrm>
            <a:off x="5038260" y="2803299"/>
            <a:ext cx="1656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0" name="사각형: 둥근 모서리 29">
            <a:extLst>
              <a:ext uri="{FF2B5EF4-FFF2-40B4-BE49-F238E27FC236}">
                <a16:creationId xmlns:a16="http://schemas.microsoft.com/office/drawing/2014/main" id="{D0F7DC8B-A360-8677-8AAE-ECAA1EC9F623}"/>
              </a:ext>
            </a:extLst>
          </p:cNvPr>
          <p:cNvSpPr/>
          <p:nvPr/>
        </p:nvSpPr>
        <p:spPr>
          <a:xfrm>
            <a:off x="6338508" y="2442467"/>
            <a:ext cx="828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1" name="사각형: 둥근 모서리 30">
            <a:extLst>
              <a:ext uri="{FF2B5EF4-FFF2-40B4-BE49-F238E27FC236}">
                <a16:creationId xmlns:a16="http://schemas.microsoft.com/office/drawing/2014/main" id="{4B6A69D0-6967-F663-702D-C515E732E60D}"/>
              </a:ext>
            </a:extLst>
          </p:cNvPr>
          <p:cNvSpPr/>
          <p:nvPr/>
        </p:nvSpPr>
        <p:spPr>
          <a:xfrm>
            <a:off x="5451238" y="2081635"/>
            <a:ext cx="1243022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5" name="사각형: 둥근 모서리 34">
            <a:extLst>
              <a:ext uri="{FF2B5EF4-FFF2-40B4-BE49-F238E27FC236}">
                <a16:creationId xmlns:a16="http://schemas.microsoft.com/office/drawing/2014/main" id="{A99A585F-7686-93A0-E4A4-602D75FFEEE7}"/>
              </a:ext>
            </a:extLst>
          </p:cNvPr>
          <p:cNvSpPr/>
          <p:nvPr/>
        </p:nvSpPr>
        <p:spPr>
          <a:xfrm>
            <a:off x="4154426" y="4968291"/>
            <a:ext cx="2539834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6" name="사각형: 둥근 모서리 35">
            <a:extLst>
              <a:ext uri="{FF2B5EF4-FFF2-40B4-BE49-F238E27FC236}">
                <a16:creationId xmlns:a16="http://schemas.microsoft.com/office/drawing/2014/main" id="{2E0DAB27-93DB-E045-8AA6-2FD8D9D02875}"/>
              </a:ext>
            </a:extLst>
          </p:cNvPr>
          <p:cNvSpPr/>
          <p:nvPr/>
        </p:nvSpPr>
        <p:spPr>
          <a:xfrm>
            <a:off x="8557812" y="5329124"/>
            <a:ext cx="828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38" name="사각형: 둥근 모서리 37">
            <a:extLst>
              <a:ext uri="{FF2B5EF4-FFF2-40B4-BE49-F238E27FC236}">
                <a16:creationId xmlns:a16="http://schemas.microsoft.com/office/drawing/2014/main" id="{693E9621-5D2F-AD01-CEF0-8BCA80E2BE1A}"/>
              </a:ext>
            </a:extLst>
          </p:cNvPr>
          <p:cNvSpPr/>
          <p:nvPr/>
        </p:nvSpPr>
        <p:spPr>
          <a:xfrm>
            <a:off x="6822981" y="3164131"/>
            <a:ext cx="1656000" cy="177813"/>
          </a:xfrm>
          <a:prstGeom prst="roundRect">
            <a:avLst/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ko-KR" altLang="en-US" sz="900" dirty="0">
              <a:solidFill>
                <a:schemeClr val="tx1"/>
              </a:solidFill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792732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0832"/>
            <a:ext cx="6552454" cy="39235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Appendix1. 하이브리드 RAG 4계층 구조</a:t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</a:p>
        </p:txBody>
      </p:sp>
      <p:sp>
        <p:nvSpPr>
          <p:cNvPr id="3" name="사각형: 둥근 모서리 2">
            <a:extLst>
              <a:ext uri="{FF2B5EF4-FFF2-40B4-BE49-F238E27FC236}">
                <a16:creationId xmlns:a16="http://schemas.microsoft.com/office/drawing/2014/main" id="{419E715B-37C0-794C-7C2F-80F4EDF596E6}"/>
              </a:ext>
            </a:extLst>
          </p:cNvPr>
          <p:cNvSpPr/>
          <p:nvPr/>
        </p:nvSpPr>
        <p:spPr>
          <a:xfrm>
            <a:off x="524921" y="2400734"/>
            <a:ext cx="7517318" cy="926105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endParaRPr lang="ko-KR" altLang="en-US" sz="1000" spc="-60">
              <a:latin typeface="+mj-ea"/>
              <a:ea typeface="+mj-ea"/>
            </a:endParaRPr>
          </a:p>
        </p:txBody>
      </p:sp>
      <p:sp>
        <p:nvSpPr>
          <p:cNvPr id="9" name="사각형: 둥근 위쪽 모서리 8">
            <a:extLst>
              <a:ext uri="{FF2B5EF4-FFF2-40B4-BE49-F238E27FC236}">
                <a16:creationId xmlns:a16="http://schemas.microsoft.com/office/drawing/2014/main" id="{E5B442E0-2196-01FB-84B1-F1A482A70348}"/>
              </a:ext>
            </a:extLst>
          </p:cNvPr>
          <p:cNvSpPr/>
          <p:nvPr/>
        </p:nvSpPr>
        <p:spPr>
          <a:xfrm rot="16200000">
            <a:off x="556365" y="2369292"/>
            <a:ext cx="926105" cy="988987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배포 계층</a:t>
            </a:r>
            <a:endParaRPr lang="en-US" altLang="ko-KR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511AB2D0-6A95-3C73-B86F-C386E9FEA002}"/>
              </a:ext>
            </a:extLst>
          </p:cNvPr>
          <p:cNvSpPr/>
          <p:nvPr/>
        </p:nvSpPr>
        <p:spPr>
          <a:xfrm>
            <a:off x="524920" y="3387746"/>
            <a:ext cx="7517318" cy="92610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endParaRPr lang="ko-KR" altLang="en-US" sz="1000" spc="-60">
              <a:latin typeface="+mj-ea"/>
              <a:ea typeface="+mj-ea"/>
            </a:endParaRPr>
          </a:p>
        </p:txBody>
      </p:sp>
      <p:sp>
        <p:nvSpPr>
          <p:cNvPr id="10" name="사각형: 둥근 위쪽 모서리 9">
            <a:extLst>
              <a:ext uri="{FF2B5EF4-FFF2-40B4-BE49-F238E27FC236}">
                <a16:creationId xmlns:a16="http://schemas.microsoft.com/office/drawing/2014/main" id="{230DFFC1-EF99-337A-8D5A-CC8FF6685437}"/>
              </a:ext>
            </a:extLst>
          </p:cNvPr>
          <p:cNvSpPr/>
          <p:nvPr/>
        </p:nvSpPr>
        <p:spPr>
          <a:xfrm rot="16200000">
            <a:off x="556364" y="3356302"/>
            <a:ext cx="926105" cy="988988"/>
          </a:xfrm>
          <a:prstGeom prst="round2Same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에이전트 계층</a:t>
            </a:r>
            <a:endParaRPr lang="en-US" altLang="ko-KR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66935F64-D6EA-95F2-2BD7-CC8B6AE9C16E}"/>
              </a:ext>
            </a:extLst>
          </p:cNvPr>
          <p:cNvSpPr/>
          <p:nvPr/>
        </p:nvSpPr>
        <p:spPr>
          <a:xfrm>
            <a:off x="524921" y="4374858"/>
            <a:ext cx="7517318" cy="926105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endParaRPr lang="ko-KR" altLang="en-US" sz="1000" spc="-60">
              <a:latin typeface="+mj-ea"/>
              <a:ea typeface="+mj-ea"/>
            </a:endParaRPr>
          </a:p>
        </p:txBody>
      </p:sp>
      <p:sp>
        <p:nvSpPr>
          <p:cNvPr id="12" name="사각형: 둥근 위쪽 모서리 11">
            <a:extLst>
              <a:ext uri="{FF2B5EF4-FFF2-40B4-BE49-F238E27FC236}">
                <a16:creationId xmlns:a16="http://schemas.microsoft.com/office/drawing/2014/main" id="{9CDDEA14-5E5D-38A3-92F5-FD87D932FFF7}"/>
              </a:ext>
            </a:extLst>
          </p:cNvPr>
          <p:cNvSpPr/>
          <p:nvPr/>
        </p:nvSpPr>
        <p:spPr>
          <a:xfrm rot="16200000">
            <a:off x="556364" y="4343414"/>
            <a:ext cx="926105" cy="988990"/>
          </a:xfrm>
          <a:prstGeom prst="round2SameRect">
            <a:avLst/>
          </a:prstGeom>
          <a:solidFill>
            <a:srgbClr val="F9E0C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지식 계층</a:t>
            </a:r>
            <a:endParaRPr lang="en-US" altLang="ko-KR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32AED938-47DE-5E20-3343-8BB9E888003C}"/>
              </a:ext>
            </a:extLst>
          </p:cNvPr>
          <p:cNvSpPr/>
          <p:nvPr/>
        </p:nvSpPr>
        <p:spPr>
          <a:xfrm>
            <a:off x="524921" y="5361920"/>
            <a:ext cx="7517318" cy="926106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endParaRPr lang="ko-KR" altLang="en-US" sz="1000" spc="-60">
              <a:latin typeface="+mj-ea"/>
              <a:ea typeface="+mj-ea"/>
            </a:endParaRPr>
          </a:p>
        </p:txBody>
      </p:sp>
      <p:sp>
        <p:nvSpPr>
          <p:cNvPr id="13" name="사각형: 둥근 위쪽 모서리 12">
            <a:extLst>
              <a:ext uri="{FF2B5EF4-FFF2-40B4-BE49-F238E27FC236}">
                <a16:creationId xmlns:a16="http://schemas.microsoft.com/office/drawing/2014/main" id="{ADE2A642-5188-088B-3493-F9A9E63898D9}"/>
              </a:ext>
            </a:extLst>
          </p:cNvPr>
          <p:cNvSpPr/>
          <p:nvPr/>
        </p:nvSpPr>
        <p:spPr>
          <a:xfrm rot="16200000">
            <a:off x="556363" y="5330475"/>
            <a:ext cx="926105" cy="988991"/>
          </a:xfrm>
          <a:prstGeom prst="round2SameRect">
            <a:avLst/>
          </a:prstGeom>
          <a:solidFill>
            <a:srgbClr val="F9E0C2"/>
          </a:solidFill>
          <a:ln>
            <a:solidFill>
              <a:schemeClr val="accent2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5000"/>
              </a:lnSpc>
              <a:spcBef>
                <a:spcPts val="600"/>
              </a:spcBef>
            </a:pPr>
            <a:r>
              <a:rPr lang="ko-KR" altLang="en-US" sz="1100" b="1" spc="-60" dirty="0">
                <a:solidFill>
                  <a:schemeClr val="tx1"/>
                </a:solidFill>
                <a:latin typeface="+mj-ea"/>
                <a:ea typeface="+mj-ea"/>
              </a:rPr>
              <a:t>파이프라인 계층</a:t>
            </a:r>
            <a:endParaRPr lang="en-US" altLang="ko-KR" sz="1100" b="1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grpSp>
        <p:nvGrpSpPr>
          <p:cNvPr id="22" name="그룹 21">
            <a:extLst>
              <a:ext uri="{FF2B5EF4-FFF2-40B4-BE49-F238E27FC236}">
                <a16:creationId xmlns:a16="http://schemas.microsoft.com/office/drawing/2014/main" id="{11BFD39C-3848-81EF-11D0-043A7EF8D7CA}"/>
              </a:ext>
            </a:extLst>
          </p:cNvPr>
          <p:cNvGrpSpPr/>
          <p:nvPr/>
        </p:nvGrpSpPr>
        <p:grpSpPr>
          <a:xfrm>
            <a:off x="1597623" y="2101188"/>
            <a:ext cx="4401625" cy="238591"/>
            <a:chOff x="1495423" y="1355517"/>
            <a:chExt cx="4401625" cy="238591"/>
          </a:xfrm>
        </p:grpSpPr>
        <p:sp>
          <p:nvSpPr>
            <p:cNvPr id="16" name="사각형: 둥근 위쪽 모서리 15">
              <a:extLst>
                <a:ext uri="{FF2B5EF4-FFF2-40B4-BE49-F238E27FC236}">
                  <a16:creationId xmlns:a16="http://schemas.microsoft.com/office/drawing/2014/main" id="{E1E2518A-1101-083F-4665-A2572B3E41A4}"/>
                </a:ext>
              </a:extLst>
            </p:cNvPr>
            <p:cNvSpPr/>
            <p:nvPr/>
          </p:nvSpPr>
          <p:spPr>
            <a:xfrm>
              <a:off x="1495423" y="1355517"/>
              <a:ext cx="2160000" cy="238591"/>
            </a:xfrm>
            <a:prstGeom prst="round2SameRect">
              <a:avLst/>
            </a:prstGeom>
            <a:solidFill>
              <a:srgbClr val="25537D"/>
            </a:solidFill>
            <a:ln w="19050">
              <a:solidFill>
                <a:srgbClr val="2553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70" dirty="0">
                  <a:solidFill>
                    <a:schemeClr val="bg1"/>
                  </a:solidFill>
                </a:rPr>
                <a:t>요청 흐름</a:t>
              </a:r>
            </a:p>
          </p:txBody>
        </p:sp>
        <p:sp>
          <p:nvSpPr>
            <p:cNvPr id="17" name="사각형: 둥근 위쪽 모서리 16">
              <a:extLst>
                <a:ext uri="{FF2B5EF4-FFF2-40B4-BE49-F238E27FC236}">
                  <a16:creationId xmlns:a16="http://schemas.microsoft.com/office/drawing/2014/main" id="{F1870EB7-5C36-0571-91AB-7B1B4FEED6A6}"/>
                </a:ext>
              </a:extLst>
            </p:cNvPr>
            <p:cNvSpPr/>
            <p:nvPr/>
          </p:nvSpPr>
          <p:spPr>
            <a:xfrm>
              <a:off x="3737048" y="1355517"/>
              <a:ext cx="2160000" cy="238591"/>
            </a:xfrm>
            <a:prstGeom prst="round2SameRect">
              <a:avLst/>
            </a:prstGeom>
            <a:solidFill>
              <a:srgbClr val="25537D"/>
            </a:solidFill>
            <a:ln w="19050">
              <a:solidFill>
                <a:srgbClr val="25537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200" b="1" spc="-70" dirty="0">
                  <a:solidFill>
                    <a:schemeClr val="bg1"/>
                  </a:solidFill>
                </a:rPr>
                <a:t>처리 주체</a:t>
              </a:r>
            </a:p>
          </p:txBody>
        </p:sp>
      </p:grpSp>
      <p:cxnSp>
        <p:nvCxnSpPr>
          <p:cNvPr id="36" name="직선 연결선 35">
            <a:extLst>
              <a:ext uri="{FF2B5EF4-FFF2-40B4-BE49-F238E27FC236}">
                <a16:creationId xmlns:a16="http://schemas.microsoft.com/office/drawing/2014/main" id="{6C67509B-057F-3670-CC08-D9DBD1A34F8C}"/>
              </a:ext>
            </a:extLst>
          </p:cNvPr>
          <p:cNvCxnSpPr>
            <a:cxnSpLocks/>
          </p:cNvCxnSpPr>
          <p:nvPr/>
        </p:nvCxnSpPr>
        <p:spPr>
          <a:xfrm>
            <a:off x="3789446" y="2472871"/>
            <a:ext cx="0" cy="3740150"/>
          </a:xfrm>
          <a:prstGeom prst="line">
            <a:avLst/>
          </a:prstGeom>
          <a:ln w="2857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2" name="그룹 71">
            <a:extLst>
              <a:ext uri="{FF2B5EF4-FFF2-40B4-BE49-F238E27FC236}">
                <a16:creationId xmlns:a16="http://schemas.microsoft.com/office/drawing/2014/main" id="{FB0B35AC-49D2-A243-B0C0-EE267B5F53A0}"/>
              </a:ext>
            </a:extLst>
          </p:cNvPr>
          <p:cNvGrpSpPr/>
          <p:nvPr/>
        </p:nvGrpSpPr>
        <p:grpSpPr>
          <a:xfrm>
            <a:off x="2555750" y="2486786"/>
            <a:ext cx="729915" cy="753998"/>
            <a:chOff x="2253904" y="1711960"/>
            <a:chExt cx="729915" cy="753998"/>
          </a:xfrm>
        </p:grpSpPr>
        <p:pic>
          <p:nvPicPr>
            <p:cNvPr id="30" name="그림 29">
              <a:extLst>
                <a:ext uri="{FF2B5EF4-FFF2-40B4-BE49-F238E27FC236}">
                  <a16:creationId xmlns:a16="http://schemas.microsoft.com/office/drawing/2014/main" id="{9E640F80-35B8-29CC-412E-B66C0AA68AB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8862" y="1711960"/>
              <a:ext cx="540000" cy="540000"/>
            </a:xfrm>
            <a:prstGeom prst="rect">
              <a:avLst/>
            </a:prstGeom>
          </p:spPr>
        </p:pic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6C329BAA-6A66-FA7C-8CB9-120339A3C4EB}"/>
                </a:ext>
              </a:extLst>
            </p:cNvPr>
            <p:cNvSpPr/>
            <p:nvPr/>
          </p:nvSpPr>
          <p:spPr>
            <a:xfrm>
              <a:off x="2253904" y="2249060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API 클라이언트</a:t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9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71" name="그룹 70">
            <a:extLst>
              <a:ext uri="{FF2B5EF4-FFF2-40B4-BE49-F238E27FC236}">
                <a16:creationId xmlns:a16="http://schemas.microsoft.com/office/drawing/2014/main" id="{773952A7-C401-CBB3-F7B1-684E164D2D9F}"/>
              </a:ext>
            </a:extLst>
          </p:cNvPr>
          <p:cNvGrpSpPr/>
          <p:nvPr/>
        </p:nvGrpSpPr>
        <p:grpSpPr>
          <a:xfrm>
            <a:off x="2555750" y="3554432"/>
            <a:ext cx="729915" cy="694805"/>
            <a:chOff x="2242291" y="2712559"/>
            <a:chExt cx="729915" cy="694805"/>
          </a:xfrm>
        </p:grpSpPr>
        <p:pic>
          <p:nvPicPr>
            <p:cNvPr id="32" name="그림 31">
              <a:extLst>
                <a:ext uri="{FF2B5EF4-FFF2-40B4-BE49-F238E27FC236}">
                  <a16:creationId xmlns:a16="http://schemas.microsoft.com/office/drawing/2014/main" id="{E3352C47-F59F-A6BF-0657-C709516BC0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37249" y="2712559"/>
              <a:ext cx="540000" cy="540000"/>
            </a:xfrm>
            <a:prstGeom prst="rect">
              <a:avLst/>
            </a:prstGeom>
          </p:spPr>
        </p:pic>
        <p:sp>
          <p:nvSpPr>
            <p:cNvPr id="50" name="직사각형 49">
              <a:extLst>
                <a:ext uri="{FF2B5EF4-FFF2-40B4-BE49-F238E27FC236}">
                  <a16:creationId xmlns:a16="http://schemas.microsoft.com/office/drawing/2014/main" id="{7DD8A218-AF59-0D39-E0F7-7989B2A6143A}"/>
                </a:ext>
              </a:extLst>
            </p:cNvPr>
            <p:cNvSpPr/>
            <p:nvPr/>
          </p:nvSpPr>
          <p:spPr>
            <a:xfrm>
              <a:off x="2242291" y="3190466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LLM</a:t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9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69" name="그룹 68">
            <a:extLst>
              <a:ext uri="{FF2B5EF4-FFF2-40B4-BE49-F238E27FC236}">
                <a16:creationId xmlns:a16="http://schemas.microsoft.com/office/drawing/2014/main" id="{31039A69-D078-E88C-93F7-59E18FB4D0C9}"/>
              </a:ext>
            </a:extLst>
          </p:cNvPr>
          <p:cNvGrpSpPr/>
          <p:nvPr/>
        </p:nvGrpSpPr>
        <p:grpSpPr>
          <a:xfrm>
            <a:off x="2519254" y="5504335"/>
            <a:ext cx="802907" cy="695971"/>
            <a:chOff x="2205795" y="4677921"/>
            <a:chExt cx="802907" cy="695971"/>
          </a:xfrm>
        </p:grpSpPr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AA1A5E69-8EB7-F683-0250-FF6DDEF4F54D}"/>
                </a:ext>
              </a:extLst>
            </p:cNvPr>
            <p:cNvSpPr/>
            <p:nvPr/>
          </p:nvSpPr>
          <p:spPr>
            <a:xfrm>
              <a:off x="2205795" y="5156994"/>
              <a:ext cx="802907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>6대 소스 커넥터</a:t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9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grpSp>
          <p:nvGrpSpPr>
            <p:cNvPr id="68" name="그룹 67">
              <a:extLst>
                <a:ext uri="{FF2B5EF4-FFF2-40B4-BE49-F238E27FC236}">
                  <a16:creationId xmlns:a16="http://schemas.microsoft.com/office/drawing/2014/main" id="{16F4617F-2BDA-24EF-D1C6-1FC415F1B275}"/>
                </a:ext>
              </a:extLst>
            </p:cNvPr>
            <p:cNvGrpSpPr/>
            <p:nvPr/>
          </p:nvGrpSpPr>
          <p:grpSpPr>
            <a:xfrm>
              <a:off x="2337249" y="4677921"/>
              <a:ext cx="540000" cy="540000"/>
              <a:chOff x="2337249" y="4677921"/>
              <a:chExt cx="540000" cy="540000"/>
            </a:xfrm>
          </p:grpSpPr>
          <p:pic>
            <p:nvPicPr>
              <p:cNvPr id="54" name="그림 53">
                <a:extLst>
                  <a:ext uri="{FF2B5EF4-FFF2-40B4-BE49-F238E27FC236}">
                    <a16:creationId xmlns:a16="http://schemas.microsoft.com/office/drawing/2014/main" id="{7E7024FE-E3A7-343E-9319-E929AFC130A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37249" y="4677921"/>
                <a:ext cx="540000" cy="540000"/>
              </a:xfrm>
              <a:prstGeom prst="rect">
                <a:avLst/>
              </a:prstGeom>
            </p:spPr>
          </p:pic>
          <p:sp>
            <p:nvSpPr>
              <p:cNvPr id="56" name="직사각형 55">
                <a:extLst>
                  <a:ext uri="{FF2B5EF4-FFF2-40B4-BE49-F238E27FC236}">
                    <a16:creationId xmlns:a16="http://schemas.microsoft.com/office/drawing/2014/main" id="{55801B57-FEC8-92E5-E9BA-AC01EB347885}"/>
                  </a:ext>
                </a:extLst>
              </p:cNvPr>
              <p:cNvSpPr/>
              <p:nvPr/>
            </p:nvSpPr>
            <p:spPr>
              <a:xfrm>
                <a:off x="2379228" y="4785021"/>
                <a:ext cx="453219" cy="2168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/>
                </a:r>
              </a:p>
            </p:txBody>
          </p:sp>
        </p:grpSp>
      </p:grp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FF4DB050-9D1C-03B0-A5C7-5E7D8FEA2DCF}"/>
              </a:ext>
            </a:extLst>
          </p:cNvPr>
          <p:cNvGrpSpPr/>
          <p:nvPr/>
        </p:nvGrpSpPr>
        <p:grpSpPr>
          <a:xfrm>
            <a:off x="2519254" y="4532778"/>
            <a:ext cx="802907" cy="697980"/>
            <a:chOff x="2205795" y="3695240"/>
            <a:chExt cx="802907" cy="697980"/>
          </a:xfrm>
        </p:grpSpPr>
        <p:sp>
          <p:nvSpPr>
            <p:cNvPr id="52" name="직사각형 51">
              <a:extLst>
                <a:ext uri="{FF2B5EF4-FFF2-40B4-BE49-F238E27FC236}">
                  <a16:creationId xmlns:a16="http://schemas.microsoft.com/office/drawing/2014/main" id="{DD49EB09-60C3-B184-B57B-E57887290E92}"/>
                </a:ext>
              </a:extLst>
            </p:cNvPr>
            <p:cNvSpPr/>
            <p:nvPr/>
          </p:nvSpPr>
          <p:spPr>
            <a:xfrm>
              <a:off x="2205795" y="4176322"/>
              <a:ext cx="802907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>HybridRetriever</a:t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9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grpSp>
          <p:nvGrpSpPr>
            <p:cNvPr id="67" name="그룹 66">
              <a:extLst>
                <a:ext uri="{FF2B5EF4-FFF2-40B4-BE49-F238E27FC236}">
                  <a16:creationId xmlns:a16="http://schemas.microsoft.com/office/drawing/2014/main" id="{2FF0969F-B811-A742-2FE7-A46BA1556B82}"/>
                </a:ext>
              </a:extLst>
            </p:cNvPr>
            <p:cNvGrpSpPr/>
            <p:nvPr/>
          </p:nvGrpSpPr>
          <p:grpSpPr>
            <a:xfrm>
              <a:off x="2337249" y="3695240"/>
              <a:ext cx="540000" cy="540000"/>
              <a:chOff x="2337249" y="3695240"/>
              <a:chExt cx="540000" cy="540000"/>
            </a:xfrm>
          </p:grpSpPr>
          <p:pic>
            <p:nvPicPr>
              <p:cNvPr id="51" name="그림 50">
                <a:extLst>
                  <a:ext uri="{FF2B5EF4-FFF2-40B4-BE49-F238E27FC236}">
                    <a16:creationId xmlns:a16="http://schemas.microsoft.com/office/drawing/2014/main" id="{7F8FE3C4-17CF-F0B7-29CD-74AD086332B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37249" y="3695240"/>
                <a:ext cx="540000" cy="540000"/>
              </a:xfrm>
              <a:prstGeom prst="rect">
                <a:avLst/>
              </a:prstGeom>
            </p:spPr>
          </p:pic>
          <p:sp>
            <p:nvSpPr>
              <p:cNvPr id="57" name="직사각형 56">
                <a:extLst>
                  <a:ext uri="{FF2B5EF4-FFF2-40B4-BE49-F238E27FC236}">
                    <a16:creationId xmlns:a16="http://schemas.microsoft.com/office/drawing/2014/main" id="{AA25288C-A1C1-8393-2BE8-979CAEFA3895}"/>
                  </a:ext>
                </a:extLst>
              </p:cNvPr>
              <p:cNvSpPr/>
              <p:nvPr/>
            </p:nvSpPr>
            <p:spPr>
              <a:xfrm>
                <a:off x="2379228" y="3794087"/>
                <a:ext cx="453219" cy="216898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900" b="1" dirty="0">
                    <a:solidFill>
                      <a:schemeClr val="tx1"/>
                    </a:solidFill>
                    <a:latin typeface="+mj-ea"/>
                    <a:ea typeface="+mj-ea"/>
                  </a:rPr>
                  <a:t/>
                </a:r>
              </a:p>
            </p:txBody>
          </p:sp>
        </p:grpSp>
      </p:grpSp>
      <p:pic>
        <p:nvPicPr>
          <p:cNvPr id="64" name="그림 63">
            <a:extLst>
              <a:ext uri="{FF2B5EF4-FFF2-40B4-BE49-F238E27FC236}">
                <a16:creationId xmlns:a16="http://schemas.microsoft.com/office/drawing/2014/main" id="{8F735E2D-B39B-5CA0-949A-F15B0EBB0F7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925" y="3154826"/>
            <a:ext cx="432000" cy="432000"/>
          </a:xfrm>
          <a:prstGeom prst="rect">
            <a:avLst/>
          </a:prstGeom>
        </p:spPr>
      </p:pic>
      <p:pic>
        <p:nvPicPr>
          <p:cNvPr id="65" name="그림 64">
            <a:extLst>
              <a:ext uri="{FF2B5EF4-FFF2-40B4-BE49-F238E27FC236}">
                <a16:creationId xmlns:a16="http://schemas.microsoft.com/office/drawing/2014/main" id="{A24EB2D9-EB97-668B-E3B3-6A72D8BB0153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925" y="5129665"/>
            <a:ext cx="432000" cy="432000"/>
          </a:xfrm>
          <a:prstGeom prst="rect">
            <a:avLst/>
          </a:prstGeom>
        </p:spPr>
      </p:pic>
      <p:pic>
        <p:nvPicPr>
          <p:cNvPr id="66" name="그림 65">
            <a:extLst>
              <a:ext uri="{FF2B5EF4-FFF2-40B4-BE49-F238E27FC236}">
                <a16:creationId xmlns:a16="http://schemas.microsoft.com/office/drawing/2014/main" id="{722C3B61-AEC5-B7B0-5FCF-D2F52AB89829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10925" y="4146015"/>
            <a:ext cx="432000" cy="432000"/>
          </a:xfrm>
          <a:prstGeom prst="rect">
            <a:avLst/>
          </a:prstGeom>
        </p:spPr>
      </p:pic>
      <p:pic>
        <p:nvPicPr>
          <p:cNvPr id="76" name="그림 75">
            <a:extLst>
              <a:ext uri="{FF2B5EF4-FFF2-40B4-BE49-F238E27FC236}">
                <a16:creationId xmlns:a16="http://schemas.microsoft.com/office/drawing/2014/main" id="{1D35A5C9-45E4-7646-59F9-B50F21402C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148" y="2714115"/>
            <a:ext cx="288000" cy="288000"/>
          </a:xfrm>
          <a:prstGeom prst="rect">
            <a:avLst/>
          </a:prstGeom>
        </p:spPr>
      </p:pic>
      <p:pic>
        <p:nvPicPr>
          <p:cNvPr id="77" name="그림 76">
            <a:extLst>
              <a:ext uri="{FF2B5EF4-FFF2-40B4-BE49-F238E27FC236}">
                <a16:creationId xmlns:a16="http://schemas.microsoft.com/office/drawing/2014/main" id="{B46173F9-3ECD-8C0E-9879-D46DA4B885B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148" y="3701145"/>
            <a:ext cx="288000" cy="288000"/>
          </a:xfrm>
          <a:prstGeom prst="rect">
            <a:avLst/>
          </a:prstGeom>
        </p:spPr>
      </p:pic>
      <p:pic>
        <p:nvPicPr>
          <p:cNvPr id="78" name="그림 77">
            <a:extLst>
              <a:ext uri="{FF2B5EF4-FFF2-40B4-BE49-F238E27FC236}">
                <a16:creationId xmlns:a16="http://schemas.microsoft.com/office/drawing/2014/main" id="{D21E0BAD-1848-AC36-A97E-97260D467AF3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148" y="4661597"/>
            <a:ext cx="288000" cy="288000"/>
          </a:xfrm>
          <a:prstGeom prst="rect">
            <a:avLst/>
          </a:prstGeom>
        </p:spPr>
      </p:pic>
      <p:pic>
        <p:nvPicPr>
          <p:cNvPr id="80" name="그림 79">
            <a:extLst>
              <a:ext uri="{FF2B5EF4-FFF2-40B4-BE49-F238E27FC236}">
                <a16:creationId xmlns:a16="http://schemas.microsoft.com/office/drawing/2014/main" id="{C0C03966-6D60-753B-9D47-5D50C6679C7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57148" y="5680970"/>
            <a:ext cx="288000" cy="288000"/>
          </a:xfrm>
          <a:prstGeom prst="rect">
            <a:avLst/>
          </a:prstGeom>
        </p:spPr>
      </p:pic>
      <p:grpSp>
        <p:nvGrpSpPr>
          <p:cNvPr id="92" name="그룹 91">
            <a:extLst>
              <a:ext uri="{FF2B5EF4-FFF2-40B4-BE49-F238E27FC236}">
                <a16:creationId xmlns:a16="http://schemas.microsoft.com/office/drawing/2014/main" id="{DB0816C9-00F2-454A-D66E-8B0844A43A06}"/>
              </a:ext>
            </a:extLst>
          </p:cNvPr>
          <p:cNvGrpSpPr/>
          <p:nvPr/>
        </p:nvGrpSpPr>
        <p:grpSpPr>
          <a:xfrm>
            <a:off x="4268985" y="5473920"/>
            <a:ext cx="1293091" cy="760449"/>
            <a:chOff x="4204885" y="4728249"/>
            <a:chExt cx="1293091" cy="760449"/>
          </a:xfrm>
        </p:grpSpPr>
        <p:pic>
          <p:nvPicPr>
            <p:cNvPr id="81" name="그림 80">
              <a:extLst>
                <a:ext uri="{FF2B5EF4-FFF2-40B4-BE49-F238E27FC236}">
                  <a16:creationId xmlns:a16="http://schemas.microsoft.com/office/drawing/2014/main" id="{55C4ED60-FD1A-D732-84CB-45D8FE44712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430" y="4728249"/>
              <a:ext cx="540003" cy="540000"/>
            </a:xfrm>
            <a:prstGeom prst="rect">
              <a:avLst/>
            </a:prstGeom>
          </p:spPr>
        </p:pic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FA96B1B5-4331-6326-39C8-9DEEE0565E8A}"/>
                </a:ext>
              </a:extLst>
            </p:cNvPr>
            <p:cNvSpPr/>
            <p:nvPr/>
          </p:nvSpPr>
          <p:spPr>
            <a:xfrm>
              <a:off x="4204885" y="5271800"/>
              <a:ext cx="1293091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데이터 파이프라인</a:t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grpSp>
        <p:nvGrpSpPr>
          <p:cNvPr id="93" name="그룹 92">
            <a:extLst>
              <a:ext uri="{FF2B5EF4-FFF2-40B4-BE49-F238E27FC236}">
                <a16:creationId xmlns:a16="http://schemas.microsoft.com/office/drawing/2014/main" id="{20D5CD28-CFA0-5116-8BA1-8E72B3ACAB82}"/>
              </a:ext>
            </a:extLst>
          </p:cNvPr>
          <p:cNvGrpSpPr/>
          <p:nvPr/>
        </p:nvGrpSpPr>
        <p:grpSpPr>
          <a:xfrm>
            <a:off x="4514077" y="4495823"/>
            <a:ext cx="802907" cy="760449"/>
            <a:chOff x="4449977" y="3750152"/>
            <a:chExt cx="802907" cy="760449"/>
          </a:xfrm>
        </p:grpSpPr>
        <p:pic>
          <p:nvPicPr>
            <p:cNvPr id="47" name="그림 46">
              <a:extLst>
                <a:ext uri="{FF2B5EF4-FFF2-40B4-BE49-F238E27FC236}">
                  <a16:creationId xmlns:a16="http://schemas.microsoft.com/office/drawing/2014/main" id="{F2177B5C-245D-E229-A9E2-E5C6B02038A2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581430" y="3750152"/>
              <a:ext cx="540003" cy="540000"/>
            </a:xfrm>
            <a:prstGeom prst="rect">
              <a:avLst/>
            </a:prstGeom>
          </p:spPr>
        </p:pic>
        <p:sp>
          <p:nvSpPr>
            <p:cNvPr id="83" name="직사각형 82">
              <a:extLst>
                <a:ext uri="{FF2B5EF4-FFF2-40B4-BE49-F238E27FC236}">
                  <a16:creationId xmlns:a16="http://schemas.microsoft.com/office/drawing/2014/main" id="{B698CC46-352C-725C-055F-5BC6903892CA}"/>
                </a:ext>
              </a:extLst>
            </p:cNvPr>
            <p:cNvSpPr/>
            <p:nvPr/>
          </p:nvSpPr>
          <p:spPr>
            <a:xfrm>
              <a:off x="4449977" y="4293703"/>
              <a:ext cx="802907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그래프·벡터 스토어</a:t>
              </a:r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cxnSp>
        <p:nvCxnSpPr>
          <p:cNvPr id="85" name="직선 화살표 연결선 84">
            <a:extLst>
              <a:ext uri="{FF2B5EF4-FFF2-40B4-BE49-F238E27FC236}">
                <a16:creationId xmlns:a16="http://schemas.microsoft.com/office/drawing/2014/main" id="{794F5979-C56E-4BF4-5C46-AAD3788654B0}"/>
              </a:ext>
            </a:extLst>
          </p:cNvPr>
          <p:cNvCxnSpPr>
            <a:cxnSpLocks/>
          </p:cNvCxnSpPr>
          <p:nvPr/>
        </p:nvCxnSpPr>
        <p:spPr>
          <a:xfrm>
            <a:off x="3322161" y="4837909"/>
            <a:ext cx="1252979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연결선: 꺾임 89">
            <a:extLst>
              <a:ext uri="{FF2B5EF4-FFF2-40B4-BE49-F238E27FC236}">
                <a16:creationId xmlns:a16="http://schemas.microsoft.com/office/drawing/2014/main" id="{15468E91-5E54-D083-3C29-28F2F5AE256C}"/>
              </a:ext>
            </a:extLst>
          </p:cNvPr>
          <p:cNvCxnSpPr>
            <a:cxnSpLocks/>
          </p:cNvCxnSpPr>
          <p:nvPr/>
        </p:nvCxnSpPr>
        <p:spPr>
          <a:xfrm>
            <a:off x="3322161" y="3886372"/>
            <a:ext cx="1252979" cy="816747"/>
          </a:xfrm>
          <a:prstGeom prst="bentConnector3">
            <a:avLst>
              <a:gd name="adj1" fmla="val 50000"/>
            </a:avLst>
          </a:prstGeom>
          <a:ln w="19050">
            <a:solidFill>
              <a:schemeClr val="accent2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직선 화살표 연결선 95">
            <a:extLst>
              <a:ext uri="{FF2B5EF4-FFF2-40B4-BE49-F238E27FC236}">
                <a16:creationId xmlns:a16="http://schemas.microsoft.com/office/drawing/2014/main" id="{E9B63961-F1B6-FA30-87A3-A220155BAA46}"/>
              </a:ext>
            </a:extLst>
          </p:cNvPr>
          <p:cNvCxnSpPr>
            <a:cxnSpLocks/>
          </p:cNvCxnSpPr>
          <p:nvPr/>
        </p:nvCxnSpPr>
        <p:spPr>
          <a:xfrm>
            <a:off x="3322161" y="5852321"/>
            <a:ext cx="1252979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직사각형 100">
            <a:extLst>
              <a:ext uri="{FF2B5EF4-FFF2-40B4-BE49-F238E27FC236}">
                <a16:creationId xmlns:a16="http://schemas.microsoft.com/office/drawing/2014/main" id="{019B89C6-BE6D-206D-8EAB-005107F61E8B}"/>
              </a:ext>
            </a:extLst>
          </p:cNvPr>
          <p:cNvSpPr/>
          <p:nvPr/>
        </p:nvSpPr>
        <p:spPr>
          <a:xfrm>
            <a:off x="3905836" y="3998808"/>
            <a:ext cx="802907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하이브리드 검색</a:t>
            </a:r>
          </a:p>
        </p:txBody>
      </p:sp>
      <p:grpSp>
        <p:nvGrpSpPr>
          <p:cNvPr id="106" name="그룹 105">
            <a:extLst>
              <a:ext uri="{FF2B5EF4-FFF2-40B4-BE49-F238E27FC236}">
                <a16:creationId xmlns:a16="http://schemas.microsoft.com/office/drawing/2014/main" id="{2E47E7DC-17AC-00A9-BAAA-363E34972FE8}"/>
              </a:ext>
            </a:extLst>
          </p:cNvPr>
          <p:cNvGrpSpPr/>
          <p:nvPr/>
        </p:nvGrpSpPr>
        <p:grpSpPr>
          <a:xfrm>
            <a:off x="1770057" y="2492939"/>
            <a:ext cx="729915" cy="755855"/>
            <a:chOff x="1705957" y="1753618"/>
            <a:chExt cx="729915" cy="755855"/>
          </a:xfrm>
        </p:grpSpPr>
        <p:pic>
          <p:nvPicPr>
            <p:cNvPr id="103" name="그림 102">
              <a:extLst>
                <a:ext uri="{FF2B5EF4-FFF2-40B4-BE49-F238E27FC236}">
                  <a16:creationId xmlns:a16="http://schemas.microsoft.com/office/drawing/2014/main" id="{C0D6D0D0-A345-C309-CAE0-E73503000473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0914" y="1753618"/>
              <a:ext cx="540000" cy="540000"/>
            </a:xfrm>
            <a:prstGeom prst="rect">
              <a:avLst/>
            </a:prstGeom>
          </p:spPr>
        </p:pic>
        <p:sp>
          <p:nvSpPr>
            <p:cNvPr id="105" name="직사각형 104">
              <a:extLst>
                <a:ext uri="{FF2B5EF4-FFF2-40B4-BE49-F238E27FC236}">
                  <a16:creationId xmlns:a16="http://schemas.microsoft.com/office/drawing/2014/main" id="{03210B96-059B-1E4C-2392-A29421BAEE5D}"/>
                </a:ext>
              </a:extLst>
            </p:cNvPr>
            <p:cNvSpPr/>
            <p:nvPr/>
          </p:nvSpPr>
          <p:spPr>
            <a:xfrm>
              <a:off x="1705957" y="2292575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외부 요청자</a:t>
              </a:r>
            </a:p>
          </p:txBody>
        </p:sp>
      </p:grpSp>
      <p:grpSp>
        <p:nvGrpSpPr>
          <p:cNvPr id="107" name="그룹 106">
            <a:extLst>
              <a:ext uri="{FF2B5EF4-FFF2-40B4-BE49-F238E27FC236}">
                <a16:creationId xmlns:a16="http://schemas.microsoft.com/office/drawing/2014/main" id="{62302169-CC1C-1657-DA0B-773DD8DC7D62}"/>
              </a:ext>
            </a:extLst>
          </p:cNvPr>
          <p:cNvGrpSpPr/>
          <p:nvPr/>
        </p:nvGrpSpPr>
        <p:grpSpPr>
          <a:xfrm>
            <a:off x="1770057" y="3497951"/>
            <a:ext cx="729915" cy="755855"/>
            <a:chOff x="1705957" y="1753618"/>
            <a:chExt cx="729915" cy="755855"/>
          </a:xfrm>
        </p:grpSpPr>
        <p:pic>
          <p:nvPicPr>
            <p:cNvPr id="108" name="그림 107">
              <a:extLst>
                <a:ext uri="{FF2B5EF4-FFF2-40B4-BE49-F238E27FC236}">
                  <a16:creationId xmlns:a16="http://schemas.microsoft.com/office/drawing/2014/main" id="{82942713-6112-1CBE-DC89-07E5D4C3D69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0914" y="1753618"/>
              <a:ext cx="540000" cy="540000"/>
            </a:xfrm>
            <a:prstGeom prst="rect">
              <a:avLst/>
            </a:prstGeom>
          </p:spPr>
        </p:pic>
        <p:sp>
          <p:nvSpPr>
            <p:cNvPr id="109" name="직사각형 108">
              <a:extLst>
                <a:ext uri="{FF2B5EF4-FFF2-40B4-BE49-F238E27FC236}">
                  <a16:creationId xmlns:a16="http://schemas.microsoft.com/office/drawing/2014/main" id="{DC37CC53-45CC-7998-012F-A8B6347464FA}"/>
                </a:ext>
              </a:extLst>
            </p:cNvPr>
            <p:cNvSpPr/>
            <p:nvPr/>
          </p:nvSpPr>
          <p:spPr>
            <a:xfrm>
              <a:off x="1705957" y="2292575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>도구 호출 루프</a:t>
              </a:r>
            </a:p>
          </p:txBody>
        </p:sp>
      </p:grpSp>
      <p:grpSp>
        <p:nvGrpSpPr>
          <p:cNvPr id="113" name="그룹 112">
            <a:extLst>
              <a:ext uri="{FF2B5EF4-FFF2-40B4-BE49-F238E27FC236}">
                <a16:creationId xmlns:a16="http://schemas.microsoft.com/office/drawing/2014/main" id="{AD2C18F0-D775-393A-5878-21E283188984}"/>
              </a:ext>
            </a:extLst>
          </p:cNvPr>
          <p:cNvGrpSpPr/>
          <p:nvPr/>
        </p:nvGrpSpPr>
        <p:grpSpPr>
          <a:xfrm>
            <a:off x="1770057" y="4476048"/>
            <a:ext cx="729915" cy="755855"/>
            <a:chOff x="1705957" y="1753618"/>
            <a:chExt cx="729915" cy="755855"/>
          </a:xfrm>
        </p:grpSpPr>
        <p:pic>
          <p:nvPicPr>
            <p:cNvPr id="114" name="그림 113">
              <a:extLst>
                <a:ext uri="{FF2B5EF4-FFF2-40B4-BE49-F238E27FC236}">
                  <a16:creationId xmlns:a16="http://schemas.microsoft.com/office/drawing/2014/main" id="{7E80E533-BBF3-7FBB-FD80-304677999A6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0914" y="1753618"/>
              <a:ext cx="540000" cy="540000"/>
            </a:xfrm>
            <a:prstGeom prst="rect">
              <a:avLst/>
            </a:prstGeom>
          </p:spPr>
        </p:pic>
        <p:sp>
          <p:nvSpPr>
            <p:cNvPr id="115" name="직사각형 114">
              <a:extLst>
                <a:ext uri="{FF2B5EF4-FFF2-40B4-BE49-F238E27FC236}">
                  <a16:creationId xmlns:a16="http://schemas.microsoft.com/office/drawing/2014/main" id="{13AE8432-BDDA-94EC-DD23-75883A9E1484}"/>
                </a:ext>
              </a:extLst>
            </p:cNvPr>
            <p:cNvSpPr/>
            <p:nvPr/>
          </p:nvSpPr>
          <p:spPr>
            <a:xfrm>
              <a:off x="1705957" y="2292575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>그래프·벡터 교차검증</a:t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grpSp>
        <p:nvGrpSpPr>
          <p:cNvPr id="116" name="그룹 115">
            <a:extLst>
              <a:ext uri="{FF2B5EF4-FFF2-40B4-BE49-F238E27FC236}">
                <a16:creationId xmlns:a16="http://schemas.microsoft.com/office/drawing/2014/main" id="{61172DDC-A3AF-6F33-BBE8-2CCD5D392ACC}"/>
              </a:ext>
            </a:extLst>
          </p:cNvPr>
          <p:cNvGrpSpPr/>
          <p:nvPr/>
        </p:nvGrpSpPr>
        <p:grpSpPr>
          <a:xfrm>
            <a:off x="1770057" y="5452136"/>
            <a:ext cx="729915" cy="755855"/>
            <a:chOff x="1705957" y="1753618"/>
            <a:chExt cx="729915" cy="755855"/>
          </a:xfrm>
        </p:grpSpPr>
        <p:pic>
          <p:nvPicPr>
            <p:cNvPr id="117" name="그림 116">
              <a:extLst>
                <a:ext uri="{FF2B5EF4-FFF2-40B4-BE49-F238E27FC236}">
                  <a16:creationId xmlns:a16="http://schemas.microsoft.com/office/drawing/2014/main" id="{22923C9A-F465-C02D-CA53-5C9E58EF1BD4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0914" y="1753618"/>
              <a:ext cx="540000" cy="540000"/>
            </a:xfrm>
            <a:prstGeom prst="rect">
              <a:avLst/>
            </a:prstGeom>
          </p:spPr>
        </p:pic>
        <p:sp>
          <p:nvSpPr>
            <p:cNvPr id="118" name="직사각형 117">
              <a:extLst>
                <a:ext uri="{FF2B5EF4-FFF2-40B4-BE49-F238E27FC236}">
                  <a16:creationId xmlns:a16="http://schemas.microsoft.com/office/drawing/2014/main" id="{1877F7A2-3275-F7C2-EE5E-98BA52FB8884}"/>
                </a:ext>
              </a:extLst>
            </p:cNvPr>
            <p:cNvSpPr/>
            <p:nvPr/>
          </p:nvSpPr>
          <p:spPr>
            <a:xfrm>
              <a:off x="1705957" y="2292575"/>
              <a:ext cx="729915" cy="216898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900" b="1" dirty="0">
                  <a:solidFill>
                    <a:schemeClr val="tx1"/>
                  </a:solidFill>
                  <a:latin typeface="+mj-ea"/>
                  <a:ea typeface="+mj-ea"/>
                </a:rPr>
                <a:t>ingest.py</a:t>
              </a:r>
              <a:r>
                <a:rPr lang="ko-KR" altLang="en-US" sz="9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sp>
        <p:nvSpPr>
          <p:cNvPr id="119" name="직사각형 118">
            <a:extLst>
              <a:ext uri="{FF2B5EF4-FFF2-40B4-BE49-F238E27FC236}">
                <a16:creationId xmlns:a16="http://schemas.microsoft.com/office/drawing/2014/main" id="{AAF1C3F9-2F8E-4724-EF68-A9004B59023A}"/>
              </a:ext>
            </a:extLst>
          </p:cNvPr>
          <p:cNvSpPr/>
          <p:nvPr/>
        </p:nvSpPr>
        <p:spPr>
          <a:xfrm>
            <a:off x="1975393" y="5770860"/>
            <a:ext cx="309555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  <a:endParaRPr lang="ko-KR" altLang="en-US" sz="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0" name="직사각형 119">
            <a:extLst>
              <a:ext uri="{FF2B5EF4-FFF2-40B4-BE49-F238E27FC236}">
                <a16:creationId xmlns:a16="http://schemas.microsoft.com/office/drawing/2014/main" id="{10BC22A1-EFAD-B611-7B2F-F31F57444E8A}"/>
              </a:ext>
            </a:extLst>
          </p:cNvPr>
          <p:cNvSpPr/>
          <p:nvPr/>
        </p:nvSpPr>
        <p:spPr>
          <a:xfrm>
            <a:off x="1975393" y="4810584"/>
            <a:ext cx="309555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solidFill>
                  <a:schemeClr val="bg1"/>
                </a:solidFill>
                <a:latin typeface="+mj-ea"/>
                <a:ea typeface="+mj-ea"/>
              </a:rPr>
              <a:t/>
            </a:r>
            <a:endParaRPr lang="ko-KR" altLang="en-US" sz="900" b="1" dirty="0">
              <a:solidFill>
                <a:schemeClr val="bg1"/>
              </a:solidFill>
              <a:latin typeface="+mj-ea"/>
              <a:ea typeface="+mj-ea"/>
            </a:endParaRPr>
          </a:p>
        </p:txBody>
      </p:sp>
      <p:sp>
        <p:nvSpPr>
          <p:cNvPr id="121" name="직사각형 120">
            <a:extLst>
              <a:ext uri="{FF2B5EF4-FFF2-40B4-BE49-F238E27FC236}">
                <a16:creationId xmlns:a16="http://schemas.microsoft.com/office/drawing/2014/main" id="{7B31D552-D146-56DB-6A20-89DCDD8778AD}"/>
              </a:ext>
            </a:extLst>
          </p:cNvPr>
          <p:cNvSpPr/>
          <p:nvPr/>
        </p:nvSpPr>
        <p:spPr>
          <a:xfrm>
            <a:off x="6081082" y="2652400"/>
            <a:ext cx="1945521" cy="422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Bearer JWT로 인증된</a:t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요청만 /chat 진입</a:t>
            </a:r>
          </a:p>
        </p:txBody>
      </p:sp>
      <p:sp>
        <p:nvSpPr>
          <p:cNvPr id="122" name="직사각형 121">
            <a:extLst>
              <a:ext uri="{FF2B5EF4-FFF2-40B4-BE49-F238E27FC236}">
                <a16:creationId xmlns:a16="http://schemas.microsoft.com/office/drawing/2014/main" id="{82031311-75C0-77DB-B715-FDCD9E1EEF0F}"/>
              </a:ext>
            </a:extLst>
          </p:cNvPr>
          <p:cNvSpPr/>
          <p:nvPr/>
        </p:nvSpPr>
        <p:spPr>
          <a:xfrm>
            <a:off x="6081082" y="3639478"/>
            <a:ext cx="1945521" cy="422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system prompt + search_knowledge</a:t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도구로 근거 확보 후 답변 생성</a:t>
            </a:r>
            <a:r>
              <a:rPr lang="ko-KR" altLang="en-US" sz="900" b="1" dirty="0" err="1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</a:p>
        </p:txBody>
      </p:sp>
      <p:sp>
        <p:nvSpPr>
          <p:cNvPr id="123" name="직사각형 122">
            <a:extLst>
              <a:ext uri="{FF2B5EF4-FFF2-40B4-BE49-F238E27FC236}">
                <a16:creationId xmlns:a16="http://schemas.microsoft.com/office/drawing/2014/main" id="{C33DE679-9C19-A84F-E899-EF8CA822DEBC}"/>
              </a:ext>
            </a:extLst>
          </p:cNvPr>
          <p:cNvSpPr/>
          <p:nvPr/>
        </p:nvSpPr>
        <p:spPr>
          <a:xfrm>
            <a:off x="6081082" y="4626556"/>
            <a:ext cx="1945521" cy="422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벡터 후보를 그래프로 교차검증</a:t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RBAC·시계열 재확인</a:t>
            </a:r>
          </a:p>
        </p:txBody>
      </p:sp>
      <p:sp>
        <p:nvSpPr>
          <p:cNvPr id="124" name="직사각형 123">
            <a:extLst>
              <a:ext uri="{FF2B5EF4-FFF2-40B4-BE49-F238E27FC236}">
                <a16:creationId xmlns:a16="http://schemas.microsoft.com/office/drawing/2014/main" id="{0F472400-DBA4-89A6-773B-85330DD360AA}"/>
              </a:ext>
            </a:extLst>
          </p:cNvPr>
          <p:cNvSpPr/>
          <p:nvPr/>
        </p:nvSpPr>
        <p:spPr>
          <a:xfrm>
            <a:off x="6081082" y="5613633"/>
            <a:ext cx="1945521" cy="422674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원문 수집·마스킹·색인으로</a:t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지식 계층에 데이터 공급</a:t>
            </a:r>
          </a:p>
        </p:txBody>
      </p:sp>
      <p:cxnSp>
        <p:nvCxnSpPr>
          <p:cNvPr id="125" name="직선 화살표 연결선 124">
            <a:extLst>
              <a:ext uri="{FF2B5EF4-FFF2-40B4-BE49-F238E27FC236}">
                <a16:creationId xmlns:a16="http://schemas.microsoft.com/office/drawing/2014/main" id="{0A3D30B0-F862-4762-E9CF-94D000043583}"/>
              </a:ext>
            </a:extLst>
          </p:cNvPr>
          <p:cNvCxnSpPr>
            <a:cxnSpLocks/>
          </p:cNvCxnSpPr>
          <p:nvPr/>
        </p:nvCxnSpPr>
        <p:spPr>
          <a:xfrm>
            <a:off x="3322161" y="2894810"/>
            <a:ext cx="1863372" cy="0"/>
          </a:xfrm>
          <a:prstGeom prst="straightConnector1">
            <a:avLst/>
          </a:prstGeom>
          <a:ln w="19050">
            <a:solidFill>
              <a:schemeClr val="accent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8" name="그림 127">
            <a:extLst>
              <a:ext uri="{FF2B5EF4-FFF2-40B4-BE49-F238E27FC236}">
                <a16:creationId xmlns:a16="http://schemas.microsoft.com/office/drawing/2014/main" id="{1EA48243-EFD7-3C9D-D4C3-C06B0DCEAF08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28425" y="2498115"/>
            <a:ext cx="540000" cy="540000"/>
          </a:xfrm>
          <a:prstGeom prst="rect">
            <a:avLst/>
          </a:prstGeom>
        </p:spPr>
      </p:pic>
      <p:sp>
        <p:nvSpPr>
          <p:cNvPr id="131" name="직사각형 130">
            <a:extLst>
              <a:ext uri="{FF2B5EF4-FFF2-40B4-BE49-F238E27FC236}">
                <a16:creationId xmlns:a16="http://schemas.microsoft.com/office/drawing/2014/main" id="{53B0608F-99A4-7C02-B6C9-DBB50C96EE56}"/>
              </a:ext>
            </a:extLst>
          </p:cNvPr>
          <p:cNvSpPr/>
          <p:nvPr/>
        </p:nvSpPr>
        <p:spPr>
          <a:xfrm>
            <a:off x="5200215" y="3014168"/>
            <a:ext cx="802907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SSO Provider</a:t>
            </a:r>
          </a:p>
        </p:txBody>
      </p:sp>
      <p:cxnSp>
        <p:nvCxnSpPr>
          <p:cNvPr id="133" name="직선 연결선 132">
            <a:extLst>
              <a:ext uri="{FF2B5EF4-FFF2-40B4-BE49-F238E27FC236}">
                <a16:creationId xmlns:a16="http://schemas.microsoft.com/office/drawing/2014/main" id="{B245A2F5-83AA-A369-6C8B-DEFC0BBCC8C0}"/>
              </a:ext>
            </a:extLst>
          </p:cNvPr>
          <p:cNvCxnSpPr/>
          <p:nvPr/>
        </p:nvCxnSpPr>
        <p:spPr>
          <a:xfrm>
            <a:off x="6015576" y="2472871"/>
            <a:ext cx="0" cy="75819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직선 연결선 133">
            <a:extLst>
              <a:ext uri="{FF2B5EF4-FFF2-40B4-BE49-F238E27FC236}">
                <a16:creationId xmlns:a16="http://schemas.microsoft.com/office/drawing/2014/main" id="{D233C860-4EBA-F663-C517-53C5B2FD1811}"/>
              </a:ext>
            </a:extLst>
          </p:cNvPr>
          <p:cNvCxnSpPr/>
          <p:nvPr/>
        </p:nvCxnSpPr>
        <p:spPr>
          <a:xfrm>
            <a:off x="6015576" y="3466047"/>
            <a:ext cx="0" cy="75819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직선 연결선 134">
            <a:extLst>
              <a:ext uri="{FF2B5EF4-FFF2-40B4-BE49-F238E27FC236}">
                <a16:creationId xmlns:a16="http://schemas.microsoft.com/office/drawing/2014/main" id="{2D358219-4556-76C7-A3EB-A05C7D01EC66}"/>
              </a:ext>
            </a:extLst>
          </p:cNvPr>
          <p:cNvCxnSpPr/>
          <p:nvPr/>
        </p:nvCxnSpPr>
        <p:spPr>
          <a:xfrm>
            <a:off x="6015576" y="4476048"/>
            <a:ext cx="0" cy="75819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직선 연결선 135">
            <a:extLst>
              <a:ext uri="{FF2B5EF4-FFF2-40B4-BE49-F238E27FC236}">
                <a16:creationId xmlns:a16="http://schemas.microsoft.com/office/drawing/2014/main" id="{63E0FAC6-31FD-EB7D-7BA1-20DAAD8FC748}"/>
              </a:ext>
            </a:extLst>
          </p:cNvPr>
          <p:cNvCxnSpPr/>
          <p:nvPr/>
        </p:nvCxnSpPr>
        <p:spPr>
          <a:xfrm>
            <a:off x="6015576" y="5441597"/>
            <a:ext cx="0" cy="758195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2" name="오른쪽 중괄호 141">
            <a:extLst>
              <a:ext uri="{FF2B5EF4-FFF2-40B4-BE49-F238E27FC236}">
                <a16:creationId xmlns:a16="http://schemas.microsoft.com/office/drawing/2014/main" id="{4F8A3675-5909-D815-AF6A-7F8A41AB306F}"/>
              </a:ext>
            </a:extLst>
          </p:cNvPr>
          <p:cNvSpPr/>
          <p:nvPr/>
        </p:nvSpPr>
        <p:spPr>
          <a:xfrm>
            <a:off x="8043868" y="4374759"/>
            <a:ext cx="166482" cy="1913264"/>
          </a:xfrm>
          <a:prstGeom prst="rightBrace">
            <a:avLst/>
          </a:prstGeom>
          <a:ln w="12700">
            <a:solidFill>
              <a:schemeClr val="accent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143" name="직사각형 142">
            <a:extLst>
              <a:ext uri="{FF2B5EF4-FFF2-40B4-BE49-F238E27FC236}">
                <a16:creationId xmlns:a16="http://schemas.microsoft.com/office/drawing/2014/main" id="{2462546B-581A-43AB-818B-E04FEAE15FF0}"/>
              </a:ext>
            </a:extLst>
          </p:cNvPr>
          <p:cNvSpPr/>
          <p:nvPr/>
        </p:nvSpPr>
        <p:spPr>
          <a:xfrm>
            <a:off x="8139635" y="5013860"/>
            <a:ext cx="1461698" cy="6188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프롬프트만으로는</a:t>
            </a:r>
            <a:endParaRPr lang="en-US" altLang="ko-KR" sz="9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900" b="1" dirty="0" err="1">
                <a:solidFill>
                  <a:schemeClr val="tx1"/>
                </a:solidFill>
                <a:latin typeface="+mj-ea"/>
                <a:ea typeface="+mj-ea"/>
              </a:rPr>
              <a:t>RBAC·시계열·인용검증을</a:t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>코드로</a:t>
            </a:r>
            <a:endParaRPr lang="en-US" altLang="ko-KR" sz="900" b="1" dirty="0">
              <a:solidFill>
                <a:schemeClr val="tx1"/>
              </a:solidFill>
              <a:latin typeface="+mj-ea"/>
              <a:ea typeface="+mj-ea"/>
            </a:endParaRPr>
          </a:p>
          <a:p>
            <a:pPr algn="ctr"/>
            <a:r>
              <a:rPr lang="en-US" altLang="ko-KR" sz="900" b="1" dirty="0">
                <a:solidFill>
                  <a:schemeClr val="tx1"/>
                </a:solidFill>
                <a:latin typeface="+mj-ea"/>
                <a:ea typeface="+mj-ea"/>
              </a:rPr>
              <a:t>강제할 방법 없음</a:t>
            </a:r>
            <a:r>
              <a:rPr lang="ko-KR" altLang="en-US" sz="900" b="1" dirty="0">
                <a:solidFill>
                  <a:schemeClr val="tx1"/>
                </a:solidFill>
                <a:latin typeface="+mj-ea"/>
                <a:ea typeface="+mj-ea"/>
              </a:rPr>
              <a:t/>
            </a:r>
            <a:endParaRPr lang="en-US" altLang="ko-KR" sz="900" b="1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44" name="직사각형 143">
            <a:extLst>
              <a:ext uri="{FF2B5EF4-FFF2-40B4-BE49-F238E27FC236}">
                <a16:creationId xmlns:a16="http://schemas.microsoft.com/office/drawing/2014/main" id="{FDAC2B83-1AE0-CCF1-C806-A17B4AC98E9D}"/>
              </a:ext>
            </a:extLst>
          </p:cNvPr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그룹 AI 준법감시 에이전트는 4개 계층으로 분리 구성·운영, 각 계층은 독립적으로 검증되고 교체 가능</a:t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배포 계층과 에이전트 계층은 요청 처리를 담당하고, 지식 계층과 파이프라인 계층은 데이터의 정확성을 담당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지식 계층은 벡터+그래프 하이브리드 구조로 환각을 원천 차단 — 이 교차검증이 프롬프트 빌더 방식과의 핵심 차이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58743032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Appendix2. 핵심 안전장치 상세</a:t>
            </a:r>
            <a:r>
              <a:rPr lang="ko-KR" altLang="en-US" sz="1500" dirty="0" err="1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그룹 AI 준법감시 에이전트 3대 핵심 안전장치 : ① 환각 방지, ② 시계열 인지, ③ RBAC(차이니즈월)</a:t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 err="1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프롬프트 지시가 아니라 코드 레벨에서 구조적으로 강제되는 메커니즘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모두 테스트로 우회 불가 여부를 검증 — 97건 전체 통과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A92C6E41-C704-7A4D-C93E-2D29A090CF54}"/>
              </a:ext>
            </a:extLst>
          </p:cNvPr>
          <p:cNvSpPr/>
          <p:nvPr/>
        </p:nvSpPr>
        <p:spPr>
          <a:xfrm>
            <a:off x="497470" y="2400497"/>
            <a:ext cx="2197358" cy="1184939"/>
          </a:xfrm>
          <a:prstGeom prst="rect">
            <a:avLst/>
          </a:prstGeom>
          <a:solidFill>
            <a:srgbClr val="E5EEF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9263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환각 방지</a:t>
            </a:r>
            <a:r>
              <a:rPr lang="ko-KR" altLang="en-US" sz="1000" b="1" spc="-60" dirty="0">
                <a:solidFill>
                  <a:srgbClr val="2553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 indent="449263">
              <a:lnSpc>
                <a:spcPct val="125000"/>
              </a:lnSpc>
            </a:pPr>
            <a:r>
              <a:rPr lang="ko-KR" altLang="en-US" sz="800" spc="-60" dirty="0">
                <a:solidFill>
                  <a:schemeClr val="tx1"/>
                </a:solidFill>
                <a:latin typeface="+mj-ea"/>
                <a:ea typeface="+mj-ea"/>
              </a:rPr>
              <a:t>벡터 검색 결과를 그래프로 교차검증</a:t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16" name="Shape 903">
            <a:extLst>
              <a:ext uri="{FF2B5EF4-FFF2-40B4-BE49-F238E27FC236}">
                <a16:creationId xmlns:a16="http://schemas.microsoft.com/office/drawing/2014/main" id="{205A2089-9797-6955-DD0D-883127D495AA}"/>
              </a:ext>
            </a:extLst>
          </p:cNvPr>
          <p:cNvSpPr/>
          <p:nvPr/>
        </p:nvSpPr>
        <p:spPr>
          <a:xfrm>
            <a:off x="612237" y="2840000"/>
            <a:ext cx="340000" cy="340000"/>
          </a:xfrm>
          <a:prstGeom prst="rect">
            <a:avLst/>
          </a:prstGeom>
          <a:solidFill>
            <a:srgbClr val="25537D"/>
          </a:solidFill>
          <a:ln>
            <a:noFill/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b="1" spc="-40" dirty="0">
                <a:solidFill>
                  <a:srgbClr val="FFFFFF"/>
                </a:solidFill>
                <a:latin typeface="+mn-ea"/>
                <a:ea typeface="+mn-ea"/>
              </a:rPr>
              <a:t>01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DE2927A-006C-1BFD-6F6A-CAEF8E03B956}"/>
              </a:ext>
            </a:extLst>
          </p:cNvPr>
          <p:cNvSpPr/>
          <p:nvPr/>
        </p:nvSpPr>
        <p:spPr>
          <a:xfrm>
            <a:off x="497470" y="3678001"/>
            <a:ext cx="2197358" cy="1184939"/>
          </a:xfrm>
          <a:prstGeom prst="rect">
            <a:avLst/>
          </a:prstGeom>
          <a:solidFill>
            <a:srgbClr val="E5EEF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9263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시계열 인지</a:t>
            </a:r>
            <a:r>
              <a:rPr lang="ko-KR" altLang="en-US" sz="1000" b="1" spc="-60" dirty="0">
                <a:solidFill>
                  <a:srgbClr val="2553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 indent="449263">
              <a:lnSpc>
                <a:spcPct val="125000"/>
              </a:lnSpc>
            </a:pPr>
            <a:r>
              <a:rPr lang="ko-KR" altLang="en-US" sz="800" spc="-60" dirty="0">
                <a:solidFill>
                  <a:schemeClr val="tx1"/>
                </a:solidFill>
                <a:latin typeface="+mj-ea"/>
                <a:ea typeface="+mj-ea"/>
              </a:rPr>
              <a:t>SUPERSEDES 체인으로 결정적 판정</a:t>
            </a:r>
            <a:r>
              <a:rPr lang="ko-KR" altLang="en-US" sz="800" spc="-6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2" name="Shape 903">
            <a:extLst>
              <a:ext uri="{FF2B5EF4-FFF2-40B4-BE49-F238E27FC236}">
                <a16:creationId xmlns:a16="http://schemas.microsoft.com/office/drawing/2014/main" id="{FED129D8-C9DA-BF77-72A3-7F3E1C76DFDE}"/>
              </a:ext>
            </a:extLst>
          </p:cNvPr>
          <p:cNvSpPr/>
          <p:nvPr/>
        </p:nvSpPr>
        <p:spPr>
          <a:xfrm>
            <a:off x="612237" y="4117504"/>
            <a:ext cx="340000" cy="340000"/>
          </a:xfrm>
          <a:prstGeom prst="rect">
            <a:avLst/>
          </a:prstGeom>
          <a:solidFill>
            <a:srgbClr val="25537D"/>
          </a:solidFill>
          <a:ln>
            <a:noFill/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b="1" spc="-40" dirty="0">
                <a:solidFill>
                  <a:srgbClr val="FFFFFF"/>
                </a:solidFill>
                <a:latin typeface="+mn-ea"/>
                <a:ea typeface="+mn-ea"/>
              </a:rPr>
              <a:t>0</a:t>
            </a:r>
            <a:r>
              <a:rPr lang="en-US" altLang="ko-KR" sz="1000" b="1" spc="-40" dirty="0">
                <a:solidFill>
                  <a:srgbClr val="FFFFFF"/>
                </a:solidFill>
                <a:latin typeface="+mn-ea"/>
                <a:ea typeface="+mn-ea"/>
              </a:rPr>
              <a:t>2</a:t>
            </a:r>
            <a:endParaRPr lang="ko-KR" altLang="en-US" sz="1000" b="1" spc="-4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FDF9404C-597E-E7E2-44EC-BA0E1E68D01A}"/>
              </a:ext>
            </a:extLst>
          </p:cNvPr>
          <p:cNvSpPr/>
          <p:nvPr/>
        </p:nvSpPr>
        <p:spPr>
          <a:xfrm>
            <a:off x="497470" y="4955505"/>
            <a:ext cx="2197358" cy="1184939"/>
          </a:xfrm>
          <a:prstGeom prst="rect">
            <a:avLst/>
          </a:prstGeom>
          <a:solidFill>
            <a:srgbClr val="E5EEF7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indent="449263">
              <a:lnSpc>
                <a:spcPct val="125000"/>
              </a:lnSpc>
            </a:pPr>
            <a:r>
              <a:rPr lang="ko-KR" altLang="en-US" sz="1000" b="1" spc="-60" dirty="0">
                <a:solidFill>
                  <a:srgbClr val="25537D"/>
                </a:solidFill>
                <a:latin typeface="+mj-ea"/>
                <a:ea typeface="+mj-ea"/>
              </a:rPr>
              <a:t>RBAC(차이니즈월)</a:t>
            </a:r>
            <a:endParaRPr lang="en-US" altLang="ko-KR" sz="1000" b="1" spc="-60" dirty="0">
              <a:solidFill>
                <a:srgbClr val="25537D"/>
              </a:solidFill>
              <a:latin typeface="+mj-ea"/>
              <a:ea typeface="+mj-ea"/>
            </a:endParaRPr>
          </a:p>
          <a:p>
            <a:pPr indent="449263">
              <a:lnSpc>
                <a:spcPct val="125000"/>
              </a:lnSpc>
            </a:pPr>
            <a:r>
              <a:rPr lang="ko-KR" altLang="en-US" sz="800" spc="-60" dirty="0">
                <a:solidFill>
                  <a:schemeClr val="tx1"/>
                </a:solidFill>
                <a:latin typeface="+mj-ea"/>
                <a:ea typeface="+mj-ea"/>
              </a:rPr>
              <a:t>dept는 서명된 클레임에서만 파생</a:t>
            </a:r>
            <a:endParaRPr lang="en-US" altLang="ko-KR" sz="900" spc="-60" dirty="0">
              <a:solidFill>
                <a:schemeClr val="tx1"/>
              </a:solidFill>
              <a:latin typeface="+mj-ea"/>
              <a:ea typeface="+mj-ea"/>
            </a:endParaRPr>
          </a:p>
        </p:txBody>
      </p:sp>
      <p:sp>
        <p:nvSpPr>
          <p:cNvPr id="24" name="Shape 903">
            <a:extLst>
              <a:ext uri="{FF2B5EF4-FFF2-40B4-BE49-F238E27FC236}">
                <a16:creationId xmlns:a16="http://schemas.microsoft.com/office/drawing/2014/main" id="{E532B416-5B4A-338E-01E4-E34DFE67F10B}"/>
              </a:ext>
            </a:extLst>
          </p:cNvPr>
          <p:cNvSpPr/>
          <p:nvPr/>
        </p:nvSpPr>
        <p:spPr>
          <a:xfrm>
            <a:off x="612237" y="5395008"/>
            <a:ext cx="340000" cy="340000"/>
          </a:xfrm>
          <a:prstGeom prst="rect">
            <a:avLst/>
          </a:prstGeom>
          <a:solidFill>
            <a:srgbClr val="25537D"/>
          </a:solidFill>
          <a:ln>
            <a:noFill/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1000" b="1" spc="-40" dirty="0">
                <a:solidFill>
                  <a:srgbClr val="FFFFFF"/>
                </a:solidFill>
                <a:latin typeface="+mn-ea"/>
                <a:ea typeface="+mn-ea"/>
              </a:rPr>
              <a:t>0</a:t>
            </a:r>
            <a:r>
              <a:rPr lang="en-US" altLang="ko-KR" sz="1000" b="1" spc="-40" dirty="0">
                <a:solidFill>
                  <a:srgbClr val="FFFFFF"/>
                </a:solidFill>
                <a:latin typeface="+mn-ea"/>
                <a:ea typeface="+mn-ea"/>
              </a:rPr>
              <a:t>3</a:t>
            </a:r>
            <a:endParaRPr lang="ko-KR" altLang="en-US" sz="1000" b="1" spc="-4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cxnSp>
        <p:nvCxnSpPr>
          <p:cNvPr id="25" name="Connector 902">
            <a:extLst>
              <a:ext uri="{FF2B5EF4-FFF2-40B4-BE49-F238E27FC236}">
                <a16:creationId xmlns:a16="http://schemas.microsoft.com/office/drawing/2014/main" id="{33A261BE-ADBF-5855-D5EE-837CC070A96A}"/>
              </a:ext>
            </a:extLst>
          </p:cNvPr>
          <p:cNvCxnSpPr/>
          <p:nvPr/>
        </p:nvCxnSpPr>
        <p:spPr>
          <a:xfrm>
            <a:off x="497470" y="2401541"/>
            <a:ext cx="8910000" cy="0"/>
          </a:xfrm>
          <a:prstGeom prst="straightConnector1">
            <a:avLst/>
          </a:prstGeom>
          <a:ln w="12700"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902">
            <a:extLst>
              <a:ext uri="{FF2B5EF4-FFF2-40B4-BE49-F238E27FC236}">
                <a16:creationId xmlns:a16="http://schemas.microsoft.com/office/drawing/2014/main" id="{113F010E-A73E-496C-67CB-9FEEC6266530}"/>
              </a:ext>
            </a:extLst>
          </p:cNvPr>
          <p:cNvCxnSpPr/>
          <p:nvPr/>
        </p:nvCxnSpPr>
        <p:spPr>
          <a:xfrm>
            <a:off x="497470" y="3678001"/>
            <a:ext cx="8910000" cy="0"/>
          </a:xfrm>
          <a:prstGeom prst="straightConnector1">
            <a:avLst/>
          </a:prstGeom>
          <a:ln w="12700"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902">
            <a:extLst>
              <a:ext uri="{FF2B5EF4-FFF2-40B4-BE49-F238E27FC236}">
                <a16:creationId xmlns:a16="http://schemas.microsoft.com/office/drawing/2014/main" id="{C07AB2C6-EF16-1A19-B607-7B65F8693AE6}"/>
              </a:ext>
            </a:extLst>
          </p:cNvPr>
          <p:cNvCxnSpPr/>
          <p:nvPr/>
        </p:nvCxnSpPr>
        <p:spPr>
          <a:xfrm>
            <a:off x="497470" y="4958973"/>
            <a:ext cx="8910000" cy="0"/>
          </a:xfrm>
          <a:prstGeom prst="straightConnector1">
            <a:avLst/>
          </a:prstGeom>
          <a:ln w="12700"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28" name="표 27">
            <a:extLst>
              <a:ext uri="{FF2B5EF4-FFF2-40B4-BE49-F238E27FC236}">
                <a16:creationId xmlns:a16="http://schemas.microsoft.com/office/drawing/2014/main" id="{E012B48D-33F6-2433-DABA-CFC63CD7ED0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11870184"/>
              </p:ext>
            </p:extLst>
          </p:nvPr>
        </p:nvGraphicFramePr>
        <p:xfrm>
          <a:off x="2689764" y="2400497"/>
          <a:ext cx="6738906" cy="380761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69453">
                  <a:extLst>
                    <a:ext uri="{9D8B030D-6E8A-4147-A177-3AD203B41FA5}">
                      <a16:colId xmlns:a16="http://schemas.microsoft.com/office/drawing/2014/main" val="696561983"/>
                    </a:ext>
                  </a:extLst>
                </a:gridCol>
                <a:gridCol w="3369453">
                  <a:extLst>
                    <a:ext uri="{9D8B030D-6E8A-4147-A177-3AD203B41FA5}">
                      <a16:colId xmlns:a16="http://schemas.microsoft.com/office/drawing/2014/main" val="4221699609"/>
                    </a:ext>
                  </a:extLst>
                </a:gridCol>
              </a:tblGrid>
              <a:tr h="1265570"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그래프에 없는 id는 노이즈로 폐기</a:t>
                      </a: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[[CITE:id]] 마커를 검색된 id와 재대조</a:t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실패 시 [출처 미확인]으로 명시</a:t>
                      </a: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검증 통과분만 번호 각주로 치환</a:t>
                      </a: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감사로그(JSONL)에 검증·거부 이력 기록</a:t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08311042"/>
                  </a:ext>
                </a:extLst>
              </a:tr>
              <a:tr h="1295400"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질의 시점(as_of) 기준 유효 버전 그래프에서 결정적 탐색</a:t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과거 시점 질의 시 폐지된 조항 자동 배제</a:t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고령투자자 시나리오로 신구법 전환 시점 검증</a:t>
                      </a:r>
                      <a:r>
                        <a:rPr lang="ko-KR" altLang="en-US" sz="1000" spc="-60" baseline="0" dirty="0" err="1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as_of 파라미터로 과거 기준 조회 지원</a:t>
                      </a: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실사규 4건 색인 후 시행일 자동 추출 확인</a:t>
                      </a: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ko-KR" altLang="en-US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02395906"/>
                  </a:ext>
                </a:extLst>
              </a:tr>
              <a:tr h="1246648"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en-US" altLang="ko-KR" sz="1000" spc="-60" baseline="0" dirty="0">
                          <a:latin typeface="+mj-ea"/>
                          <a:ea typeface="+mj-ea"/>
                        </a:rPr>
                        <a:t>도구 호출 인자의 dept 위조 시도 무시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>SSO 미설정 시 서버 전체 501 fail-closed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r>
                        <a:rPr lang="ko-KR" altLang="en-US" sz="1000" spc="-60" baseline="0" dirty="0" err="1">
                          <a:latin typeface="+mj-ea"/>
                          <a:ea typeface="+mj-ea"/>
                        </a:rPr>
                        <a:t>RBAC 우회 시도 테스트 전부 차단 확인 → 타 부서 문서 노출 0건</a:t>
                      </a: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br>
                        <a:rPr lang="en-US" altLang="ko-KR" sz="1000" spc="-60" baseline="0" dirty="0">
                          <a:latin typeface="+mj-ea"/>
                          <a:ea typeface="+mj-ea"/>
                        </a:rPr>
                      </a:br>
                      <a:r>
                        <a:rPr lang="ko-KR" altLang="en-US" sz="1000" spc="-60" baseline="0" dirty="0">
                          <a:latin typeface="+mj-ea"/>
                          <a:ea typeface="+mj-ea"/>
                        </a:rPr>
                        <a:t/>
                      </a: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  <a:p>
                      <a:pPr marL="171450" indent="-171450" algn="l" latinLnBrk="1">
                        <a:buFont typeface="Wingdings" panose="05000000000000000000" pitchFamily="2" charset="2"/>
                        <a:buChar char="§"/>
                      </a:pPr>
                      <a:endParaRPr lang="en-US" altLang="ko-KR" sz="1000" spc="-60" baseline="0" dirty="0">
                        <a:latin typeface="+mj-ea"/>
                        <a:ea typeface="+mj-ea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49995831"/>
                  </a:ext>
                </a:extLst>
              </a:tr>
            </a:tbl>
          </a:graphicData>
        </a:graphic>
      </p:graphicFrame>
      <p:cxnSp>
        <p:nvCxnSpPr>
          <p:cNvPr id="29" name="직선 연결선 28">
            <a:extLst>
              <a:ext uri="{FF2B5EF4-FFF2-40B4-BE49-F238E27FC236}">
                <a16:creationId xmlns:a16="http://schemas.microsoft.com/office/drawing/2014/main" id="{33D6BCBD-4523-45DE-54A9-C820F9A7F019}"/>
              </a:ext>
            </a:extLst>
          </p:cNvPr>
          <p:cNvCxnSpPr>
            <a:cxnSpLocks/>
          </p:cNvCxnSpPr>
          <p:nvPr/>
        </p:nvCxnSpPr>
        <p:spPr>
          <a:xfrm>
            <a:off x="6049708" y="2539802"/>
            <a:ext cx="0" cy="1045634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연결선 30">
            <a:extLst>
              <a:ext uri="{FF2B5EF4-FFF2-40B4-BE49-F238E27FC236}">
                <a16:creationId xmlns:a16="http://schemas.microsoft.com/office/drawing/2014/main" id="{8EC2D16B-FE80-8799-3109-770350E8759F}"/>
              </a:ext>
            </a:extLst>
          </p:cNvPr>
          <p:cNvCxnSpPr>
            <a:cxnSpLocks/>
          </p:cNvCxnSpPr>
          <p:nvPr/>
        </p:nvCxnSpPr>
        <p:spPr>
          <a:xfrm>
            <a:off x="6049708" y="3817306"/>
            <a:ext cx="0" cy="1045634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직선 연결선 31">
            <a:extLst>
              <a:ext uri="{FF2B5EF4-FFF2-40B4-BE49-F238E27FC236}">
                <a16:creationId xmlns:a16="http://schemas.microsoft.com/office/drawing/2014/main" id="{58A7DDAC-15F7-FB94-C2F3-8D66CDB2D7D7}"/>
              </a:ext>
            </a:extLst>
          </p:cNvPr>
          <p:cNvCxnSpPr>
            <a:cxnSpLocks/>
          </p:cNvCxnSpPr>
          <p:nvPr/>
        </p:nvCxnSpPr>
        <p:spPr>
          <a:xfrm>
            <a:off x="6049708" y="5061907"/>
            <a:ext cx="0" cy="1045634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902">
            <a:extLst>
              <a:ext uri="{FF2B5EF4-FFF2-40B4-BE49-F238E27FC236}">
                <a16:creationId xmlns:a16="http://schemas.microsoft.com/office/drawing/2014/main" id="{F30CD6DB-A92C-0961-3707-A948DF06443C}"/>
              </a:ext>
            </a:extLst>
          </p:cNvPr>
          <p:cNvCxnSpPr/>
          <p:nvPr/>
        </p:nvCxnSpPr>
        <p:spPr>
          <a:xfrm>
            <a:off x="497470" y="6144148"/>
            <a:ext cx="8910000" cy="0"/>
          </a:xfrm>
          <a:prstGeom prst="straightConnector1">
            <a:avLst/>
          </a:prstGeom>
          <a:ln w="9525">
            <a:solidFill>
              <a:schemeClr val="bg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33606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Appendix3. 프롬프트 지시 vs 코드 강제 구조</a:t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안전장치 구현 방식 : 프롬프트 지시만으로는 우회 가능하지만, 코드 레벨 강제는 구조적으로 우회 불가능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세션의 dept는 SSO 서명 클레임에서만 파생되고, LLM·도구 호출 인자 그 무엇도 이를 override할 수 없도록 강제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LLM·사용자 프롬프트·검색된 문서 텍스트 어디서도 dept나 인용 검증 로직에 접근할 경로가 없는 구조 사전 설계 필요</a:t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D53B1E3-4011-4539-68CA-A7E5C5730DEB}"/>
              </a:ext>
            </a:extLst>
          </p:cNvPr>
          <p:cNvGrpSpPr/>
          <p:nvPr/>
        </p:nvGrpSpPr>
        <p:grpSpPr>
          <a:xfrm>
            <a:off x="497468" y="2225906"/>
            <a:ext cx="7614367" cy="252000"/>
            <a:chOff x="497468" y="2385423"/>
            <a:chExt cx="7614367" cy="22428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E73604F-385B-1141-EAB7-CCDEE2AD0CE4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60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99E6605-E701-B4C7-4D34-36E1ECE1160D}"/>
                </a:ext>
              </a:extLst>
            </p:cNvPr>
            <p:cNvSpPr/>
            <p:nvPr/>
          </p:nvSpPr>
          <p:spPr>
            <a:xfrm>
              <a:off x="497468" y="2385423"/>
              <a:ext cx="7614367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>지시 방식의 구분 : LLM에게 직접 "이 부서 문서는 보여주지 마"라고 지시하면 프롬프트 인젝션에 취약하므로 주의 필요</a:t>
              </a:r>
              <a:r>
                <a:rPr lang="en-US" altLang="ko-KR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sp>
        <p:nvSpPr>
          <p:cNvPr id="2" name="사각형: 둥근 모서리 1">
            <a:extLst>
              <a:ext uri="{FF2B5EF4-FFF2-40B4-BE49-F238E27FC236}">
                <a16:creationId xmlns:a16="http://schemas.microsoft.com/office/drawing/2014/main" id="{3EADA419-D6B3-82E9-3AD4-91F237F97FDE}"/>
              </a:ext>
            </a:extLst>
          </p:cNvPr>
          <p:cNvSpPr/>
          <p:nvPr/>
        </p:nvSpPr>
        <p:spPr>
          <a:xfrm>
            <a:off x="767443" y="2566851"/>
            <a:ext cx="3889224" cy="124399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코드 강제 구조</a:t>
            </a:r>
          </a:p>
        </p:txBody>
      </p:sp>
      <p:sp>
        <p:nvSpPr>
          <p:cNvPr id="4" name="사각형: 둥근 모서리 3">
            <a:extLst>
              <a:ext uri="{FF2B5EF4-FFF2-40B4-BE49-F238E27FC236}">
                <a16:creationId xmlns:a16="http://schemas.microsoft.com/office/drawing/2014/main" id="{FA363A0A-A0C5-EE8F-093D-6B6E1A5D7BEE}"/>
              </a:ext>
            </a:extLst>
          </p:cNvPr>
          <p:cNvSpPr/>
          <p:nvPr/>
        </p:nvSpPr>
        <p:spPr>
          <a:xfrm>
            <a:off x="916392" y="2938780"/>
            <a:ext cx="986612" cy="278758"/>
          </a:xfrm>
          <a:prstGeom prst="roundRect">
            <a:avLst/>
          </a:prstGeom>
          <a:solidFill>
            <a:srgbClr val="2553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bg1"/>
                </a:solidFill>
              </a:rPr>
              <a:t>LLM</a:t>
            </a:r>
          </a:p>
        </p:txBody>
      </p:sp>
      <p:sp>
        <p:nvSpPr>
          <p:cNvPr id="5" name="사각형: 둥근 모서리 4">
            <a:extLst>
              <a:ext uri="{FF2B5EF4-FFF2-40B4-BE49-F238E27FC236}">
                <a16:creationId xmlns:a16="http://schemas.microsoft.com/office/drawing/2014/main" id="{A2159E5F-D15F-2308-F323-DDBB7EF8D3AF}"/>
              </a:ext>
            </a:extLst>
          </p:cNvPr>
          <p:cNvSpPr/>
          <p:nvPr/>
        </p:nvSpPr>
        <p:spPr>
          <a:xfrm>
            <a:off x="916392" y="3398436"/>
            <a:ext cx="986612" cy="278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Dispatcher</a:t>
            </a:r>
          </a:p>
        </p:txBody>
      </p:sp>
      <p:sp>
        <p:nvSpPr>
          <p:cNvPr id="6" name="사각형: 둥근 모서리 5">
            <a:extLst>
              <a:ext uri="{FF2B5EF4-FFF2-40B4-BE49-F238E27FC236}">
                <a16:creationId xmlns:a16="http://schemas.microsoft.com/office/drawing/2014/main" id="{485CE6E5-D92E-F2C3-F394-1B53A690DBB5}"/>
              </a:ext>
            </a:extLst>
          </p:cNvPr>
          <p:cNvSpPr/>
          <p:nvPr/>
        </p:nvSpPr>
        <p:spPr>
          <a:xfrm>
            <a:off x="2228726" y="3398436"/>
            <a:ext cx="986612" cy="278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세션 dept</a:t>
            </a:r>
            <a:r>
              <a:rPr lang="en-US" altLang="ko-KR" sz="1000" b="1" spc="-60" dirty="0">
                <a:solidFill>
                  <a:schemeClr val="tx1"/>
                </a:solidFill>
              </a:rPr>
              <a:t/>
            </a:r>
            <a:endParaRPr lang="ko-KR" altLang="en-US" sz="1000" b="1" spc="-60" dirty="0">
              <a:solidFill>
                <a:schemeClr val="tx1"/>
              </a:solidFill>
            </a:endParaRPr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85F0B78D-8C3D-25A1-786B-54B4C1576F35}"/>
              </a:ext>
            </a:extLst>
          </p:cNvPr>
          <p:cNvSpPr/>
          <p:nvPr/>
        </p:nvSpPr>
        <p:spPr>
          <a:xfrm>
            <a:off x="3541060" y="3398436"/>
            <a:ext cx="986612" cy="278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검색 결과</a:t>
            </a:r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9132D33F-6840-DC01-9E83-5296B86CD728}"/>
              </a:ext>
            </a:extLst>
          </p:cNvPr>
          <p:cNvCxnSpPr>
            <a:stCxn id="5" idx="0"/>
            <a:endCxn id="4" idx="2"/>
          </p:cNvCxnSpPr>
          <p:nvPr/>
        </p:nvCxnSpPr>
        <p:spPr>
          <a:xfrm flipV="1">
            <a:off x="1409698" y="3217538"/>
            <a:ext cx="0" cy="1808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8BE4451A-BDC0-F6A0-8811-3BD903A191AB}"/>
              </a:ext>
            </a:extLst>
          </p:cNvPr>
          <p:cNvCxnSpPr>
            <a:cxnSpLocks/>
            <a:stCxn id="5" idx="3"/>
            <a:endCxn id="6" idx="1"/>
          </p:cNvCxnSpPr>
          <p:nvPr/>
        </p:nvCxnSpPr>
        <p:spPr>
          <a:xfrm>
            <a:off x="1903004" y="3537815"/>
            <a:ext cx="32572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3571A981-70F9-1F49-26F0-9DF0BC184F78}"/>
              </a:ext>
            </a:extLst>
          </p:cNvPr>
          <p:cNvCxnSpPr>
            <a:cxnSpLocks/>
            <a:stCxn id="6" idx="3"/>
            <a:endCxn id="7" idx="1"/>
          </p:cNvCxnSpPr>
          <p:nvPr/>
        </p:nvCxnSpPr>
        <p:spPr>
          <a:xfrm>
            <a:off x="3215338" y="3537815"/>
            <a:ext cx="325722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5FB503D1-F673-3849-C94E-D14E0673B664}"/>
              </a:ext>
            </a:extLst>
          </p:cNvPr>
          <p:cNvCxnSpPr>
            <a:endCxn id="6" idx="0"/>
          </p:cNvCxnSpPr>
          <p:nvPr/>
        </p:nvCxnSpPr>
        <p:spPr>
          <a:xfrm>
            <a:off x="1903004" y="3064193"/>
            <a:ext cx="819028" cy="334243"/>
          </a:xfrm>
          <a:prstGeom prst="straightConnector1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연결선: 꺾임 21">
            <a:extLst>
              <a:ext uri="{FF2B5EF4-FFF2-40B4-BE49-F238E27FC236}">
                <a16:creationId xmlns:a16="http://schemas.microsoft.com/office/drawing/2014/main" id="{92AD3227-629C-F9BA-9A3B-CFDED56ADCE4}"/>
              </a:ext>
            </a:extLst>
          </p:cNvPr>
          <p:cNvCxnSpPr>
            <a:stCxn id="4" idx="3"/>
            <a:endCxn id="7" idx="0"/>
          </p:cNvCxnSpPr>
          <p:nvPr/>
        </p:nvCxnSpPr>
        <p:spPr>
          <a:xfrm>
            <a:off x="1903004" y="3078159"/>
            <a:ext cx="2131362" cy="320277"/>
          </a:xfrm>
          <a:prstGeom prst="bentConnector2">
            <a:avLst/>
          </a:prstGeom>
          <a:ln w="12700">
            <a:solidFill>
              <a:schemeClr val="accent2">
                <a:lumMod val="50000"/>
              </a:schemeClr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9829AEC6-D850-11AC-3F17-0F87F9741D24}"/>
              </a:ext>
            </a:extLst>
          </p:cNvPr>
          <p:cNvSpPr/>
          <p:nvPr/>
        </p:nvSpPr>
        <p:spPr>
          <a:xfrm>
            <a:off x="2413603" y="3169658"/>
            <a:ext cx="971518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질의 전달</a:t>
            </a: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60CC81CC-79D5-F1E7-2AED-ED3CF9A8B1EC}"/>
              </a:ext>
            </a:extLst>
          </p:cNvPr>
          <p:cNvSpPr/>
          <p:nvPr/>
        </p:nvSpPr>
        <p:spPr>
          <a:xfrm>
            <a:off x="3095385" y="2845099"/>
            <a:ext cx="971518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accent2">
                    <a:lumMod val="50000"/>
                  </a:schemeClr>
                </a:solidFill>
                <a:latin typeface="+mj-ea"/>
                <a:ea typeface="+mj-ea"/>
              </a:rPr>
              <a:t>dept 위조 금지</a:t>
            </a:r>
          </a:p>
        </p:txBody>
      </p:sp>
      <p:sp>
        <p:nvSpPr>
          <p:cNvPr id="25" name="사각형: 둥근 모서리 24">
            <a:extLst>
              <a:ext uri="{FF2B5EF4-FFF2-40B4-BE49-F238E27FC236}">
                <a16:creationId xmlns:a16="http://schemas.microsoft.com/office/drawing/2014/main" id="{53EE7B01-8D7B-5F6A-81B4-DA17A9B9E00D}"/>
              </a:ext>
            </a:extLst>
          </p:cNvPr>
          <p:cNvSpPr/>
          <p:nvPr/>
        </p:nvSpPr>
        <p:spPr>
          <a:xfrm>
            <a:off x="5338219" y="2566851"/>
            <a:ext cx="3889224" cy="1243996"/>
          </a:xfrm>
          <a:prstGeom prst="roundRect">
            <a:avLst/>
          </a:prstGeom>
          <a:solidFill>
            <a:schemeClr val="bg1"/>
          </a:solidFill>
          <a:ln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ko-KR" altLang="en-US" sz="1000" b="1" spc="-60">
                <a:solidFill>
                  <a:schemeClr val="tx1"/>
                </a:solidFill>
              </a:rPr>
              <a:t>프롬프트 지시만</a:t>
            </a:r>
            <a:r>
              <a:rPr lang="ko-KR" altLang="en-US" sz="1000" b="1" spc="-60" dirty="0">
                <a:solidFill>
                  <a:schemeClr val="tx1"/>
                </a:solidFill>
              </a:rPr>
              <a:t/>
            </a:r>
          </a:p>
        </p:txBody>
      </p:sp>
      <p:sp>
        <p:nvSpPr>
          <p:cNvPr id="26" name="사각형: 둥근 모서리 25">
            <a:extLst>
              <a:ext uri="{FF2B5EF4-FFF2-40B4-BE49-F238E27FC236}">
                <a16:creationId xmlns:a16="http://schemas.microsoft.com/office/drawing/2014/main" id="{CA8AB3FD-2ED0-8930-B8A8-AC79383C4042}"/>
              </a:ext>
            </a:extLst>
          </p:cNvPr>
          <p:cNvSpPr/>
          <p:nvPr/>
        </p:nvSpPr>
        <p:spPr>
          <a:xfrm>
            <a:off x="5487168" y="2938780"/>
            <a:ext cx="986612" cy="278758"/>
          </a:xfrm>
          <a:prstGeom prst="roundRect">
            <a:avLst/>
          </a:prstGeom>
          <a:solidFill>
            <a:srgbClr val="25537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bg1"/>
                </a:solidFill>
              </a:rPr>
              <a:t>사용자</a:t>
            </a:r>
          </a:p>
        </p:txBody>
      </p:sp>
      <p:sp>
        <p:nvSpPr>
          <p:cNvPr id="27" name="사각형: 둥근 모서리 26">
            <a:extLst>
              <a:ext uri="{FF2B5EF4-FFF2-40B4-BE49-F238E27FC236}">
                <a16:creationId xmlns:a16="http://schemas.microsoft.com/office/drawing/2014/main" id="{6A693462-E1CF-6F4A-4926-91DBBD614BF7}"/>
              </a:ext>
            </a:extLst>
          </p:cNvPr>
          <p:cNvSpPr/>
          <p:nvPr/>
        </p:nvSpPr>
        <p:spPr>
          <a:xfrm>
            <a:off x="5487168" y="3398436"/>
            <a:ext cx="986612" cy="278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LLM</a:t>
            </a:r>
          </a:p>
        </p:txBody>
      </p:sp>
      <p:sp>
        <p:nvSpPr>
          <p:cNvPr id="29" name="사각형: 둥근 모서리 28">
            <a:extLst>
              <a:ext uri="{FF2B5EF4-FFF2-40B4-BE49-F238E27FC236}">
                <a16:creationId xmlns:a16="http://schemas.microsoft.com/office/drawing/2014/main" id="{F05511A0-EFBA-6C63-17A4-29BB289D68EA}"/>
              </a:ext>
            </a:extLst>
          </p:cNvPr>
          <p:cNvSpPr/>
          <p:nvPr/>
        </p:nvSpPr>
        <p:spPr>
          <a:xfrm>
            <a:off x="8111836" y="3398436"/>
            <a:ext cx="986612" cy="27875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spc="-60" dirty="0">
                <a:solidFill>
                  <a:schemeClr val="tx1"/>
                </a:solidFill>
              </a:rPr>
              <a:t>전체 문서</a:t>
            </a:r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5F678890-B549-C0F6-84B2-89B5940CED5F}"/>
              </a:ext>
            </a:extLst>
          </p:cNvPr>
          <p:cNvCxnSpPr>
            <a:stCxn id="27" idx="0"/>
            <a:endCxn id="26" idx="2"/>
          </p:cNvCxnSpPr>
          <p:nvPr/>
        </p:nvCxnSpPr>
        <p:spPr>
          <a:xfrm flipV="1">
            <a:off x="5980474" y="3217538"/>
            <a:ext cx="0" cy="180898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181B196F-1B79-50D1-772E-791F2320221C}"/>
              </a:ext>
            </a:extLst>
          </p:cNvPr>
          <p:cNvCxnSpPr>
            <a:cxnSpLocks/>
            <a:stCxn id="27" idx="3"/>
            <a:endCxn id="29" idx="1"/>
          </p:cNvCxnSpPr>
          <p:nvPr/>
        </p:nvCxnSpPr>
        <p:spPr>
          <a:xfrm>
            <a:off x="6473780" y="3537815"/>
            <a:ext cx="1638056" cy="0"/>
          </a:xfrm>
          <a:prstGeom prst="straightConnector1">
            <a:avLst/>
          </a:prstGeom>
          <a:ln w="12700">
            <a:solidFill>
              <a:schemeClr val="bg1">
                <a:lumMod val="50000"/>
              </a:schemeClr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직사각형 34">
            <a:extLst>
              <a:ext uri="{FF2B5EF4-FFF2-40B4-BE49-F238E27FC236}">
                <a16:creationId xmlns:a16="http://schemas.microsoft.com/office/drawing/2014/main" id="{B78EB461-59D3-7AA4-820D-5669B9766F40}"/>
              </a:ext>
            </a:extLst>
          </p:cNvPr>
          <p:cNvSpPr/>
          <p:nvPr/>
        </p:nvSpPr>
        <p:spPr>
          <a:xfrm>
            <a:off x="7934825" y="2870123"/>
            <a:ext cx="802907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accent1">
                    <a:lumMod val="50000"/>
                  </a:schemeClr>
                </a:solidFill>
                <a:latin typeface="+mj-ea"/>
                <a:ea typeface="+mj-ea"/>
              </a:rPr>
              <a:t>직접 접근</a:t>
            </a:r>
          </a:p>
        </p:txBody>
      </p: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6CC9B5CA-5917-E395-5C25-691D5A94C9B1}"/>
              </a:ext>
            </a:extLst>
          </p:cNvPr>
          <p:cNvSpPr/>
          <p:nvPr/>
        </p:nvSpPr>
        <p:spPr>
          <a:xfrm>
            <a:off x="6967085" y="3566358"/>
            <a:ext cx="802907" cy="21689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 b="1" dirty="0">
                <a:solidFill>
                  <a:schemeClr val="bg1">
                    <a:lumMod val="50000"/>
                  </a:schemeClr>
                </a:solidFill>
                <a:latin typeface="+mj-ea"/>
                <a:ea typeface="+mj-ea"/>
              </a:rPr>
              <a:t>검증 없음</a:t>
            </a:r>
          </a:p>
        </p:txBody>
      </p:sp>
      <p:cxnSp>
        <p:nvCxnSpPr>
          <p:cNvPr id="40" name="연결선: 꺾임 39">
            <a:extLst>
              <a:ext uri="{FF2B5EF4-FFF2-40B4-BE49-F238E27FC236}">
                <a16:creationId xmlns:a16="http://schemas.microsoft.com/office/drawing/2014/main" id="{47044271-8C54-A8D2-6C08-B71DA6F38466}"/>
              </a:ext>
            </a:extLst>
          </p:cNvPr>
          <p:cNvCxnSpPr>
            <a:stCxn id="26" idx="3"/>
            <a:endCxn id="29" idx="0"/>
          </p:cNvCxnSpPr>
          <p:nvPr/>
        </p:nvCxnSpPr>
        <p:spPr>
          <a:xfrm>
            <a:off x="6473780" y="3078159"/>
            <a:ext cx="2131362" cy="320277"/>
          </a:xfrm>
          <a:prstGeom prst="bentConnector2">
            <a:avLst/>
          </a:prstGeom>
          <a:ln w="1270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EC0DE9BC-4A62-0370-BBB5-4E94B4E86D78}"/>
              </a:ext>
            </a:extLst>
          </p:cNvPr>
          <p:cNvGrpSpPr/>
          <p:nvPr/>
        </p:nvGrpSpPr>
        <p:grpSpPr>
          <a:xfrm>
            <a:off x="497468" y="4104021"/>
            <a:ext cx="4455532" cy="252000"/>
            <a:chOff x="497468" y="2385423"/>
            <a:chExt cx="4455532" cy="224286"/>
          </a:xfrm>
        </p:grpSpPr>
        <p:sp>
          <p:nvSpPr>
            <p:cNvPr id="46" name="직사각형 45">
              <a:extLst>
                <a:ext uri="{FF2B5EF4-FFF2-40B4-BE49-F238E27FC236}">
                  <a16:creationId xmlns:a16="http://schemas.microsoft.com/office/drawing/2014/main" id="{F5B3D3A4-A5FF-3A6B-C694-0E84DEC8FC87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pc="-60"/>
            </a:p>
          </p:txBody>
        </p:sp>
        <p:sp>
          <p:nvSpPr>
            <p:cNvPr id="47" name="직사각형 46">
              <a:extLst>
                <a:ext uri="{FF2B5EF4-FFF2-40B4-BE49-F238E27FC236}">
                  <a16:creationId xmlns:a16="http://schemas.microsoft.com/office/drawing/2014/main" id="{EAB3C923-0C10-10F2-2398-60C4D72F7D9C}"/>
                </a:ext>
              </a:extLst>
            </p:cNvPr>
            <p:cNvSpPr/>
            <p:nvPr/>
          </p:nvSpPr>
          <p:spPr>
            <a:xfrm>
              <a:off x="497468" y="2385423"/>
              <a:ext cx="4455532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>코드 강제 확보 기준 : 프롬프트 지시 문구가 아닌 실제 강제 지점(코드)으로 판단</a:t>
              </a:r>
              <a:r>
                <a:rPr lang="en-US" altLang="ko-KR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1000" b="1" spc="-60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</a:p>
          </p:txBody>
        </p:sp>
      </p:grpSp>
      <p:graphicFrame>
        <p:nvGraphicFramePr>
          <p:cNvPr id="49" name="표 48">
            <a:extLst>
              <a:ext uri="{FF2B5EF4-FFF2-40B4-BE49-F238E27FC236}">
                <a16:creationId xmlns:a16="http://schemas.microsoft.com/office/drawing/2014/main" id="{6A816D5B-F77C-2C42-D01C-C37840307A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4864235"/>
              </p:ext>
            </p:extLst>
          </p:nvPr>
        </p:nvGraphicFramePr>
        <p:xfrm>
          <a:off x="767443" y="4414516"/>
          <a:ext cx="8460000" cy="1833882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361312432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432981491"/>
                    </a:ext>
                  </a:extLst>
                </a:gridCol>
                <a:gridCol w="3600000">
                  <a:extLst>
                    <a:ext uri="{9D8B030D-6E8A-4147-A177-3AD203B41FA5}">
                      <a16:colId xmlns:a16="http://schemas.microsoft.com/office/drawing/2014/main" val="2774969107"/>
                    </a:ext>
                  </a:extLst>
                </a:gridCol>
              </a:tblGrid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구분 기준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프롬프트 지시만으로 부족한 지점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bg1"/>
                          </a:solidFill>
                          <a:latin typeface="+mj-ea"/>
                          <a:ea typeface="+mj-ea"/>
                        </a:rPr>
                        <a:t>대응 방안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537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5471060"/>
                  </a:ext>
                </a:extLst>
              </a:tr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부서 접근 통제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시스템 프롬프트로 "이 부서 문서는 보여주지 마"만 지시</a:t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b="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dept는 SSO 서명 클레임에서만 파생, 도구 인자로 override 불가</a:t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b="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26230179"/>
                  </a:ext>
                </a:extLst>
              </a:tr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법령 버전 판정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모델이 최신 버전을 스스로 추론</a:t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 err="1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SUPERSEDES 체인을 그래프에서 결정적으로 탐색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68169296"/>
                  </a:ext>
                </a:extLst>
              </a:tr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근거 검증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모델이 지어낸 근거를 그대로 신뢰</a:t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/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인용마커를 검색된 id와 재대조, 실패 시 시각적 표시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5136750"/>
                  </a:ext>
                </a:extLst>
              </a:tr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인증 여부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프롬프트 빌더는 인증 없이도 응답 생성 가능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SSO 미설정 시 서버 전체 요청을 501로 거부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78747518"/>
                  </a:ext>
                </a:extLst>
              </a:tr>
              <a:tr h="305647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행위 추적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어떤 근거로 답했는지 기록 없음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endParaRPr lang="ko-KR" altLang="en-US" sz="9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모든 턴을 JSONL 감사로그로 append-only 기록</a:t>
                      </a:r>
                      <a:r>
                        <a:rPr lang="en-US" altLang="ko-KR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  <a:r>
                        <a:rPr lang="ko-KR" altLang="en-US" sz="9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/>
                      </a: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962967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270671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Appendix4. 코드 모듈 구조 및 테스트 체계</a:t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74427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프로젝트 코드 구조 : 계층별 모듈 분리와 각 모듈을 검증하는 테스트 스위트로 구성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bootstrap.py가 환경변수로 각 계층 구현체를 조립 — 그래프·벡터·임베더 백엔드를 무중단으로 교체 가능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D53B1E3-4011-4539-68CA-A7E5C5730DEB}"/>
              </a:ext>
            </a:extLst>
          </p:cNvPr>
          <p:cNvGrpSpPr/>
          <p:nvPr/>
        </p:nvGrpSpPr>
        <p:grpSpPr>
          <a:xfrm>
            <a:off x="497470" y="2212843"/>
            <a:ext cx="2603758" cy="252000"/>
            <a:chOff x="497470" y="2385423"/>
            <a:chExt cx="2603758" cy="22428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E73604F-385B-1141-EAB7-CCDEE2AD0CE4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99E6605-E701-B4C7-4D34-36E1ECE1160D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코드 모듈 계층 구조</a:t>
              </a:r>
            </a:p>
          </p:txBody>
        </p:sp>
      </p:grpSp>
      <p:sp>
        <p:nvSpPr>
          <p:cNvPr id="74" name="Shape 903">
            <a:extLst>
              <a:ext uri="{FF2B5EF4-FFF2-40B4-BE49-F238E27FC236}">
                <a16:creationId xmlns:a16="http://schemas.microsoft.com/office/drawing/2014/main" id="{14EA131E-98E6-45B3-C8AC-FA47F234D405}"/>
              </a:ext>
            </a:extLst>
          </p:cNvPr>
          <p:cNvSpPr/>
          <p:nvPr/>
        </p:nvSpPr>
        <p:spPr>
          <a:xfrm>
            <a:off x="1788843" y="5400000"/>
            <a:ext cx="1260000" cy="72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>ontology/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전 계층 공통 스키마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EntityType·RelationType</a:t>
            </a:r>
            <a:endParaRPr lang="en-US" altLang="ko-KR" sz="800" spc="-40" dirty="0">
              <a:solidFill>
                <a:srgbClr val="D6E2EF"/>
              </a:solidFill>
              <a:latin typeface="+mn-ea"/>
              <a:ea typeface="+mn-ea"/>
            </a:endParaRP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6대 소스·9종 관계 정의</a:t>
            </a:r>
          </a:p>
        </p:txBody>
      </p:sp>
      <p:sp>
        <p:nvSpPr>
          <p:cNvPr id="75" name="Shape 904">
            <a:extLst>
              <a:ext uri="{FF2B5EF4-FFF2-40B4-BE49-F238E27FC236}">
                <a16:creationId xmlns:a16="http://schemas.microsoft.com/office/drawing/2014/main" id="{0D2B82C8-EDA1-2AA2-E47A-BA93FCC783A5}"/>
              </a:ext>
            </a:extLst>
          </p:cNvPr>
          <p:cNvSpPr/>
          <p:nvPr/>
        </p:nvSpPr>
        <p:spPr>
          <a:xfrm>
            <a:off x="1788843" y="4486666"/>
            <a:ext cx="1260000" cy="7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25537D"/>
                </a:solidFill>
                <a:latin typeface="+mn-ea"/>
                <a:ea typeface="+mn-ea"/>
              </a:rPr>
              <a:t>pipeline/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404040"/>
                </a:solidFill>
                <a:latin typeface="+mn-ea"/>
                <a:ea typeface="+mn-ea"/>
              </a:rPr>
              <a:t>커넥터 + 마스킹</a:t>
            </a:r>
            <a:endParaRPr lang="en-US" altLang="ko-KR" sz="800" spc="-40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404040"/>
                </a:solidFill>
                <a:latin typeface="+mn-ea"/>
              </a:rPr>
              <a:t>6대 소스 원문 수집·색인</a:t>
            </a:r>
            <a:r>
              <a:rPr lang="ko-KR" altLang="en-US" sz="800" spc="-40" dirty="0">
                <a:solidFill>
                  <a:srgbClr val="404040"/>
                </a:solidFill>
                <a:latin typeface="+mn-ea"/>
                <a:ea typeface="+mn-ea"/>
              </a:rPr>
              <a:t/>
            </a:r>
          </a:p>
        </p:txBody>
      </p:sp>
      <p:sp>
        <p:nvSpPr>
          <p:cNvPr id="76" name="Shape 905">
            <a:extLst>
              <a:ext uri="{FF2B5EF4-FFF2-40B4-BE49-F238E27FC236}">
                <a16:creationId xmlns:a16="http://schemas.microsoft.com/office/drawing/2014/main" id="{0A8C949C-A15F-66AF-B561-E69C868EDCC6}"/>
              </a:ext>
            </a:extLst>
          </p:cNvPr>
          <p:cNvSpPr/>
          <p:nvPr/>
        </p:nvSpPr>
        <p:spPr>
          <a:xfrm>
            <a:off x="497470" y="3572421"/>
            <a:ext cx="900000" cy="720000"/>
          </a:xfrm>
          <a:prstGeom prst="roundRect">
            <a:avLst>
              <a:gd name="adj" fmla="val 12000"/>
            </a:avLst>
          </a:prstGeom>
          <a:solidFill>
            <a:srgbClr val="25537D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>bootstrap</a:t>
            </a:r>
            <a:endParaRPr lang="en-US" altLang="ko-KR" sz="900" b="1" spc="-40" dirty="0">
              <a:solidFill>
                <a:srgbClr val="FFFFFF"/>
              </a:solidFill>
              <a:latin typeface="+mn-ea"/>
            </a:endParaRPr>
          </a:p>
          <a:p>
            <a:pPr algn="ctr">
              <a:lnSpc>
                <a:spcPct val="105000"/>
              </a:lnSpc>
            </a:pPr>
            <a:r>
              <a:rPr lang="en-US" altLang="ko-KR" sz="900" b="1" spc="-40" dirty="0">
                <a:solidFill>
                  <a:srgbClr val="FFFFFF"/>
                </a:solidFill>
                <a:latin typeface="+mn-ea"/>
                <a:ea typeface="+mn-ea"/>
              </a:rPr>
              <a:t/>
            </a:r>
          </a:p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</a:rPr>
              <a:t>.py</a:t>
            </a:r>
            <a:endParaRPr lang="ko-KR" altLang="en-US" sz="900" b="1" spc="-40" dirty="0">
              <a:solidFill>
                <a:srgbClr val="FFFFFF"/>
              </a:solidFill>
              <a:latin typeface="+mn-ea"/>
              <a:ea typeface="+mn-ea"/>
            </a:endParaRPr>
          </a:p>
        </p:txBody>
      </p:sp>
      <p:sp>
        <p:nvSpPr>
          <p:cNvPr id="77" name="Shape 906">
            <a:extLst>
              <a:ext uri="{FF2B5EF4-FFF2-40B4-BE49-F238E27FC236}">
                <a16:creationId xmlns:a16="http://schemas.microsoft.com/office/drawing/2014/main" id="{8D9B5631-4EF2-3103-811C-C3F142B37F0F}"/>
              </a:ext>
            </a:extLst>
          </p:cNvPr>
          <p:cNvSpPr/>
          <p:nvPr/>
        </p:nvSpPr>
        <p:spPr>
          <a:xfrm>
            <a:off x="1788843" y="3573333"/>
            <a:ext cx="1260000" cy="72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>knowledge/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그래프·벡터·임베더</a:t>
            </a:r>
            <a:endParaRPr lang="en-US" altLang="ko-KR" sz="800" spc="-40" dirty="0">
              <a:solidFill>
                <a:srgbClr val="D6E2EF"/>
              </a:solidFill>
              <a:latin typeface="+mn-ea"/>
              <a:ea typeface="+mn-ea"/>
            </a:endParaRP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HybridRetriever</a:t>
            </a:r>
            <a:r>
              <a:rPr lang="ko-KR" altLang="en-US" sz="800" spc="-40" dirty="0">
                <a:solidFill>
                  <a:srgbClr val="D6E2EF"/>
                </a:solidFill>
                <a:latin typeface="+mn-ea"/>
              </a:rPr>
              <a:t/>
            </a:r>
            <a:endParaRPr lang="ko-KR" altLang="en-US" sz="800" spc="-40" dirty="0">
              <a:solidFill>
                <a:srgbClr val="D6E2EF"/>
              </a:solidFill>
              <a:latin typeface="+mn-ea"/>
              <a:ea typeface="+mn-ea"/>
            </a:endParaRPr>
          </a:p>
        </p:txBody>
      </p:sp>
      <p:sp>
        <p:nvSpPr>
          <p:cNvPr id="78" name="Shape 907">
            <a:extLst>
              <a:ext uri="{FF2B5EF4-FFF2-40B4-BE49-F238E27FC236}">
                <a16:creationId xmlns:a16="http://schemas.microsoft.com/office/drawing/2014/main" id="{732144DC-08CA-ACDD-FF0C-DFB1E7B51C4C}"/>
              </a:ext>
            </a:extLst>
          </p:cNvPr>
          <p:cNvSpPr/>
          <p:nvPr/>
        </p:nvSpPr>
        <p:spPr>
          <a:xfrm>
            <a:off x="3500000" y="3573333"/>
            <a:ext cx="1260000" cy="72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25537D"/>
                </a:solidFill>
                <a:latin typeface="+mn-ea"/>
                <a:ea typeface="+mn-ea"/>
              </a:rPr>
              <a:t>agent/</a:t>
            </a:r>
            <a:r>
              <a:rPr lang="ko-KR" altLang="en-US" sz="900" b="1" spc="-40" dirty="0">
                <a:solidFill>
                  <a:srgbClr val="25537D"/>
                </a:solidFill>
                <a:latin typeface="+mn-ea"/>
              </a:rPr>
              <a:t/>
            </a:r>
            <a:endParaRPr lang="ko-KR" altLang="en-US" sz="900" b="1" spc="-40" dirty="0">
              <a:solidFill>
                <a:srgbClr val="25537D"/>
              </a:solidFill>
              <a:latin typeface="+mn-ea"/>
              <a:ea typeface="+mn-ea"/>
            </a:endParaRP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404040"/>
                </a:solidFill>
                <a:latin typeface="+mn-ea"/>
                <a:ea typeface="+mn-ea"/>
              </a:rPr>
              <a:t>하네스·SSO·감사</a:t>
            </a:r>
            <a:endParaRPr lang="en-US" altLang="ko-KR" sz="800" spc="-40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404040"/>
                </a:solidFill>
                <a:latin typeface="+mn-ea"/>
                <a:ea typeface="+mn-ea"/>
              </a:rPr>
              <a:t>요청 처리·검증·기록</a:t>
            </a:r>
          </a:p>
        </p:txBody>
      </p:sp>
      <p:sp>
        <p:nvSpPr>
          <p:cNvPr id="79" name="Shape 908">
            <a:extLst>
              <a:ext uri="{FF2B5EF4-FFF2-40B4-BE49-F238E27FC236}">
                <a16:creationId xmlns:a16="http://schemas.microsoft.com/office/drawing/2014/main" id="{6F39B56A-F434-245B-6CB0-1B196C0E0B20}"/>
              </a:ext>
            </a:extLst>
          </p:cNvPr>
          <p:cNvSpPr/>
          <p:nvPr/>
        </p:nvSpPr>
        <p:spPr>
          <a:xfrm>
            <a:off x="1788843" y="2660000"/>
            <a:ext cx="1260000" cy="720000"/>
          </a:xfrm>
          <a:prstGeom prst="roundRect">
            <a:avLst>
              <a:gd name="adj" fmla="val 12000"/>
            </a:avLst>
          </a:prstGeom>
          <a:solidFill>
            <a:schemeClr val="accent1">
              <a:lumMod val="75000"/>
            </a:schemeClr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>api/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D6E2EF"/>
                </a:solidFill>
                <a:latin typeface="+mn-ea"/>
                <a:ea typeface="+mn-ea"/>
              </a:rPr>
              <a:t>FastAPI 배포</a:t>
            </a:r>
          </a:p>
        </p:txBody>
      </p:sp>
      <p:sp>
        <p:nvSpPr>
          <p:cNvPr id="80" name="Shape 909">
            <a:extLst>
              <a:ext uri="{FF2B5EF4-FFF2-40B4-BE49-F238E27FC236}">
                <a16:creationId xmlns:a16="http://schemas.microsoft.com/office/drawing/2014/main" id="{E639521B-DEA2-1124-AE20-A437A889EDDF}"/>
              </a:ext>
            </a:extLst>
          </p:cNvPr>
          <p:cNvSpPr/>
          <p:nvPr/>
        </p:nvSpPr>
        <p:spPr>
          <a:xfrm>
            <a:off x="3500000" y="2660000"/>
            <a:ext cx="1260000" cy="720000"/>
          </a:xfrm>
          <a:prstGeom prst="roundRect">
            <a:avLst>
              <a:gd name="adj" fmla="val 12000"/>
            </a:avLst>
          </a:prstGeom>
          <a:solidFill>
            <a:srgbClr val="F2F2F2"/>
          </a:solidFill>
          <a:ln w="9525">
            <a:solidFill>
              <a:srgbClr val="595959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404040"/>
                </a:solidFill>
                <a:latin typeface="+mn-ea"/>
                <a:ea typeface="+mn-ea"/>
              </a:rPr>
              <a:t>tests/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97건 전체 검증</a:t>
            </a:r>
          </a:p>
          <a:p>
            <a:pPr algn="ctr">
              <a:lnSpc>
                <a:spcPct val="105000"/>
              </a:lnSpc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구조 변경 시 즉시 회귀 확인</a:t>
            </a:r>
          </a:p>
        </p:txBody>
      </p:sp>
      <p:sp>
        <p:nvSpPr>
          <p:cNvPr id="84" name="TextBox 913">
            <a:extLst>
              <a:ext uri="{FF2B5EF4-FFF2-40B4-BE49-F238E27FC236}">
                <a16:creationId xmlns:a16="http://schemas.microsoft.com/office/drawing/2014/main" id="{2D88E9BE-2205-6C4D-2161-C04C393C8137}"/>
              </a:ext>
            </a:extLst>
          </p:cNvPr>
          <p:cNvSpPr txBox="1"/>
          <p:nvPr/>
        </p:nvSpPr>
        <p:spPr>
          <a:xfrm>
            <a:off x="2551980" y="4309999"/>
            <a:ext cx="7400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의존</a:t>
            </a:r>
          </a:p>
        </p:txBody>
      </p:sp>
      <p:sp>
        <p:nvSpPr>
          <p:cNvPr id="90" name="TextBox 919">
            <a:extLst>
              <a:ext uri="{FF2B5EF4-FFF2-40B4-BE49-F238E27FC236}">
                <a16:creationId xmlns:a16="http://schemas.microsoft.com/office/drawing/2014/main" id="{860DAAE5-A643-9E1E-BB37-DA7DF921CAF3}"/>
              </a:ext>
            </a:extLst>
          </p:cNvPr>
          <p:cNvSpPr txBox="1"/>
          <p:nvPr/>
        </p:nvSpPr>
        <p:spPr>
          <a:xfrm>
            <a:off x="998735" y="5577549"/>
            <a:ext cx="600000" cy="18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조립</a:t>
            </a:r>
          </a:p>
        </p:txBody>
      </p:sp>
      <p:cxnSp>
        <p:nvCxnSpPr>
          <p:cNvPr id="107" name="직선 연결선 106">
            <a:extLst>
              <a:ext uri="{FF2B5EF4-FFF2-40B4-BE49-F238E27FC236}">
                <a16:creationId xmlns:a16="http://schemas.microsoft.com/office/drawing/2014/main" id="{441F91D7-76B8-C99E-D868-5382722A0F1F}"/>
              </a:ext>
            </a:extLst>
          </p:cNvPr>
          <p:cNvCxnSpPr>
            <a:stCxn id="79" idx="2"/>
            <a:endCxn id="77" idx="0"/>
          </p:cNvCxnSpPr>
          <p:nvPr/>
        </p:nvCxnSpPr>
        <p:spPr>
          <a:xfrm>
            <a:off x="2418843" y="3380000"/>
            <a:ext cx="0" cy="193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직선 연결선 107">
            <a:extLst>
              <a:ext uri="{FF2B5EF4-FFF2-40B4-BE49-F238E27FC236}">
                <a16:creationId xmlns:a16="http://schemas.microsoft.com/office/drawing/2014/main" id="{9C4565F2-4F28-DFA1-988B-218581FD10AA}"/>
              </a:ext>
            </a:extLst>
          </p:cNvPr>
          <p:cNvCxnSpPr>
            <a:cxnSpLocks/>
            <a:stCxn id="79" idx="3"/>
            <a:endCxn id="80" idx="1"/>
          </p:cNvCxnSpPr>
          <p:nvPr/>
        </p:nvCxnSpPr>
        <p:spPr>
          <a:xfrm>
            <a:off x="3048843" y="3020000"/>
            <a:ext cx="451157" cy="0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직선 연결선 110">
            <a:extLst>
              <a:ext uri="{FF2B5EF4-FFF2-40B4-BE49-F238E27FC236}">
                <a16:creationId xmlns:a16="http://schemas.microsoft.com/office/drawing/2014/main" id="{03676A11-D903-6C7E-B5C5-0102C44361B0}"/>
              </a:ext>
            </a:extLst>
          </p:cNvPr>
          <p:cNvCxnSpPr>
            <a:cxnSpLocks/>
            <a:stCxn id="74" idx="0"/>
            <a:endCxn id="75" idx="2"/>
          </p:cNvCxnSpPr>
          <p:nvPr/>
        </p:nvCxnSpPr>
        <p:spPr>
          <a:xfrm flipV="1">
            <a:off x="2418843" y="5206666"/>
            <a:ext cx="0" cy="193334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직선 연결선 113">
            <a:extLst>
              <a:ext uri="{FF2B5EF4-FFF2-40B4-BE49-F238E27FC236}">
                <a16:creationId xmlns:a16="http://schemas.microsoft.com/office/drawing/2014/main" id="{2463E3F6-7B0C-7A53-21B5-7CF29312739F}"/>
              </a:ext>
            </a:extLst>
          </p:cNvPr>
          <p:cNvCxnSpPr>
            <a:cxnSpLocks/>
            <a:stCxn id="80" idx="2"/>
            <a:endCxn id="78" idx="0"/>
          </p:cNvCxnSpPr>
          <p:nvPr/>
        </p:nvCxnSpPr>
        <p:spPr>
          <a:xfrm>
            <a:off x="4130000" y="3380000"/>
            <a:ext cx="0" cy="193333"/>
          </a:xfrm>
          <a:prstGeom prst="line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연결선: 꺾임 117">
            <a:extLst>
              <a:ext uri="{FF2B5EF4-FFF2-40B4-BE49-F238E27FC236}">
                <a16:creationId xmlns:a16="http://schemas.microsoft.com/office/drawing/2014/main" id="{29B1593D-894E-F4FB-BC16-406583A512A6}"/>
              </a:ext>
            </a:extLst>
          </p:cNvPr>
          <p:cNvCxnSpPr>
            <a:stCxn id="74" idx="1"/>
            <a:endCxn id="76" idx="2"/>
          </p:cNvCxnSpPr>
          <p:nvPr/>
        </p:nvCxnSpPr>
        <p:spPr>
          <a:xfrm rot="10800000">
            <a:off x="947471" y="4292422"/>
            <a:ext cx="841373" cy="1467579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연결선: 꺾임 118">
            <a:extLst>
              <a:ext uri="{FF2B5EF4-FFF2-40B4-BE49-F238E27FC236}">
                <a16:creationId xmlns:a16="http://schemas.microsoft.com/office/drawing/2014/main" id="{FF395516-6B06-3EBF-A137-6801CC76D57B}"/>
              </a:ext>
            </a:extLst>
          </p:cNvPr>
          <p:cNvCxnSpPr>
            <a:cxnSpLocks/>
            <a:stCxn id="78" idx="2"/>
            <a:endCxn id="75" idx="3"/>
          </p:cNvCxnSpPr>
          <p:nvPr/>
        </p:nvCxnSpPr>
        <p:spPr>
          <a:xfrm rot="5400000">
            <a:off x="3312756" y="4029421"/>
            <a:ext cx="553333" cy="1081157"/>
          </a:xfrm>
          <a:prstGeom prst="bentConnector2">
            <a:avLst/>
          </a:prstGeom>
          <a:ln w="12700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TextBox 913">
            <a:extLst>
              <a:ext uri="{FF2B5EF4-FFF2-40B4-BE49-F238E27FC236}">
                <a16:creationId xmlns:a16="http://schemas.microsoft.com/office/drawing/2014/main" id="{A56D07CC-9AE9-5C35-F783-9D4A9B18D667}"/>
              </a:ext>
            </a:extLst>
          </p:cNvPr>
          <p:cNvSpPr txBox="1"/>
          <p:nvPr/>
        </p:nvSpPr>
        <p:spPr>
          <a:xfrm>
            <a:off x="3492320" y="4866211"/>
            <a:ext cx="895400" cy="16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lnSpc>
                <a:spcPct val="105000"/>
              </a:lnSpc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테스트 대상</a:t>
            </a:r>
          </a:p>
        </p:txBody>
      </p:sp>
      <p:grpSp>
        <p:nvGrpSpPr>
          <p:cNvPr id="123" name="그룹 122">
            <a:extLst>
              <a:ext uri="{FF2B5EF4-FFF2-40B4-BE49-F238E27FC236}">
                <a16:creationId xmlns:a16="http://schemas.microsoft.com/office/drawing/2014/main" id="{DBB9C852-9BDC-844B-49BF-6E5CB0BEC6AA}"/>
              </a:ext>
            </a:extLst>
          </p:cNvPr>
          <p:cNvGrpSpPr/>
          <p:nvPr/>
        </p:nvGrpSpPr>
        <p:grpSpPr>
          <a:xfrm>
            <a:off x="5191390" y="2212843"/>
            <a:ext cx="2603758" cy="252000"/>
            <a:chOff x="497470" y="2385423"/>
            <a:chExt cx="2603758" cy="224286"/>
          </a:xfrm>
        </p:grpSpPr>
        <p:sp>
          <p:nvSpPr>
            <p:cNvPr id="124" name="직사각형 123">
              <a:extLst>
                <a:ext uri="{FF2B5EF4-FFF2-40B4-BE49-F238E27FC236}">
                  <a16:creationId xmlns:a16="http://schemas.microsoft.com/office/drawing/2014/main" id="{6FFF064F-23EA-7D0F-F9B1-0E8ADD21E18E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5" name="직사각형 124">
              <a:extLst>
                <a:ext uri="{FF2B5EF4-FFF2-40B4-BE49-F238E27FC236}">
                  <a16:creationId xmlns:a16="http://schemas.microsoft.com/office/drawing/2014/main" id="{BB026138-0827-F793-4408-2899F1EBA66D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>테스트 스위트 구성(안)</a:t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ko-KR" altLang="en-US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r>
                <a:rPr lang="en-US" altLang="ko-KR" sz="10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</a:rPr>
                <a:t/>
              </a:r>
              <a:endParaRPr lang="ko-KR" altLang="en-US" sz="10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126" name="Shape 905">
            <a:extLst>
              <a:ext uri="{FF2B5EF4-FFF2-40B4-BE49-F238E27FC236}">
                <a16:creationId xmlns:a16="http://schemas.microsoft.com/office/drawing/2014/main" id="{69B6791F-846A-106E-531C-3297227BF963}"/>
              </a:ext>
            </a:extLst>
          </p:cNvPr>
          <p:cNvSpPr/>
          <p:nvPr/>
        </p:nvSpPr>
        <p:spPr>
          <a:xfrm>
            <a:off x="5385756" y="2952485"/>
            <a:ext cx="900000" cy="847643"/>
          </a:xfrm>
          <a:prstGeom prst="roundRect">
            <a:avLst>
              <a:gd name="adj" fmla="val 12000"/>
            </a:avLst>
          </a:prstGeom>
          <a:solidFill>
            <a:srgbClr val="25537D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en-US" altLang="ko-KR" sz="900" b="1" spc="-40" dirty="0">
                <a:solidFill>
                  <a:srgbClr val="FFFFFF"/>
                </a:solidFill>
                <a:latin typeface="+mn-ea"/>
                <a:ea typeface="+mn-ea"/>
              </a:rPr>
              <a:t>핵심 로직</a:t>
            </a: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/>
            </a:r>
          </a:p>
        </p:txBody>
      </p:sp>
      <p:sp>
        <p:nvSpPr>
          <p:cNvPr id="129" name="Shape 905">
            <a:extLst>
              <a:ext uri="{FF2B5EF4-FFF2-40B4-BE49-F238E27FC236}">
                <a16:creationId xmlns:a16="http://schemas.microsoft.com/office/drawing/2014/main" id="{A57BFE52-A9BE-66F4-CBF4-1060336E3435}"/>
              </a:ext>
            </a:extLst>
          </p:cNvPr>
          <p:cNvSpPr/>
          <p:nvPr/>
        </p:nvSpPr>
        <p:spPr>
          <a:xfrm>
            <a:off x="5383596" y="4903058"/>
            <a:ext cx="900000" cy="847643"/>
          </a:xfrm>
          <a:prstGeom prst="roundRect">
            <a:avLst>
              <a:gd name="adj" fmla="val 12000"/>
            </a:avLst>
          </a:prstGeom>
          <a:solidFill>
            <a:srgbClr val="25537D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lnSpc>
                <a:spcPct val="105000"/>
              </a:lnSpc>
            </a:pPr>
            <a:r>
              <a:rPr lang="ko-KR" altLang="en-US" sz="900" b="1" spc="-40" dirty="0">
                <a:solidFill>
                  <a:srgbClr val="FFFFFF"/>
                </a:solidFill>
                <a:latin typeface="+mn-ea"/>
                <a:ea typeface="+mn-ea"/>
              </a:rPr>
              <a:t>안전장치</a:t>
            </a:r>
          </a:p>
        </p:txBody>
      </p:sp>
      <p:grpSp>
        <p:nvGrpSpPr>
          <p:cNvPr id="142" name="그룹 141">
            <a:extLst>
              <a:ext uri="{FF2B5EF4-FFF2-40B4-BE49-F238E27FC236}">
                <a16:creationId xmlns:a16="http://schemas.microsoft.com/office/drawing/2014/main" id="{DACE393F-E8EE-549A-0C16-1345AADDAA48}"/>
              </a:ext>
            </a:extLst>
          </p:cNvPr>
          <p:cNvGrpSpPr/>
          <p:nvPr/>
        </p:nvGrpSpPr>
        <p:grpSpPr>
          <a:xfrm>
            <a:off x="6920168" y="4415415"/>
            <a:ext cx="2200971" cy="1822930"/>
            <a:chOff x="6394388" y="4415415"/>
            <a:chExt cx="1972671" cy="1822930"/>
          </a:xfrm>
        </p:grpSpPr>
        <p:sp>
          <p:nvSpPr>
            <p:cNvPr id="136" name="Shape 907">
              <a:extLst>
                <a:ext uri="{FF2B5EF4-FFF2-40B4-BE49-F238E27FC236}">
                  <a16:creationId xmlns:a16="http://schemas.microsoft.com/office/drawing/2014/main" id="{06EC15BD-6B82-1A37-5655-DF46BF9A1407}"/>
                </a:ext>
              </a:extLst>
            </p:cNvPr>
            <p:cNvSpPr/>
            <p:nvPr/>
          </p:nvSpPr>
          <p:spPr>
            <a:xfrm>
              <a:off x="6394388" y="4415415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>
                  <a:solidFill>
                    <a:srgbClr val="25537D"/>
                  </a:solidFill>
                  <a:latin typeface="+mn-ea"/>
                  <a:ea typeface="+mn-ea"/>
                </a:rPr>
                <a:t>test_sso.py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37" name="Shape 907">
              <a:extLst>
                <a:ext uri="{FF2B5EF4-FFF2-40B4-BE49-F238E27FC236}">
                  <a16:creationId xmlns:a16="http://schemas.microsoft.com/office/drawing/2014/main" id="{607EF406-2C5A-3A7D-C3F7-8DDFD3E202E6}"/>
                </a:ext>
              </a:extLst>
            </p:cNvPr>
            <p:cNvSpPr/>
            <p:nvPr/>
          </p:nvSpPr>
          <p:spPr>
            <a:xfrm>
              <a:off x="6394388" y="4903058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 dirty="0" err="1">
                  <a:solidFill>
                    <a:srgbClr val="25537D"/>
                  </a:solidFill>
                  <a:latin typeface="+mn-ea"/>
                  <a:ea typeface="+mn-ea"/>
                </a:rPr>
                <a:t>test_citation.py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38" name="Shape 907">
              <a:extLst>
                <a:ext uri="{FF2B5EF4-FFF2-40B4-BE49-F238E27FC236}">
                  <a16:creationId xmlns:a16="http://schemas.microsoft.com/office/drawing/2014/main" id="{A594566F-C4D7-D426-1525-6569F462A813}"/>
                </a:ext>
              </a:extLst>
            </p:cNvPr>
            <p:cNvSpPr/>
            <p:nvPr/>
          </p:nvSpPr>
          <p:spPr>
            <a:xfrm>
              <a:off x="6394388" y="5390701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>
                  <a:solidFill>
                    <a:srgbClr val="25537D"/>
                  </a:solidFill>
                  <a:latin typeface="+mn-ea"/>
                  <a:ea typeface="+mn-ea"/>
                </a:rPr>
                <a:t>test_harness.py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39" name="Shape 907">
              <a:extLst>
                <a:ext uri="{FF2B5EF4-FFF2-40B4-BE49-F238E27FC236}">
                  <a16:creationId xmlns:a16="http://schemas.microsoft.com/office/drawing/2014/main" id="{94142D04-1607-3390-0D87-6882C6939210}"/>
                </a:ext>
              </a:extLst>
            </p:cNvPr>
            <p:cNvSpPr/>
            <p:nvPr/>
          </p:nvSpPr>
          <p:spPr>
            <a:xfrm>
              <a:off x="6394388" y="5878345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 dirty="0">
                  <a:solidFill>
                    <a:srgbClr val="25537D"/>
                  </a:solidFill>
                  <a:latin typeface="+mn-ea"/>
                  <a:ea typeface="+mn-ea"/>
                </a:rPr>
                <a:t>test_e2e_seed.py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</p:grpSp>
      <p:grpSp>
        <p:nvGrpSpPr>
          <p:cNvPr id="141" name="그룹 140">
            <a:extLst>
              <a:ext uri="{FF2B5EF4-FFF2-40B4-BE49-F238E27FC236}">
                <a16:creationId xmlns:a16="http://schemas.microsoft.com/office/drawing/2014/main" id="{456D2784-904C-9F1F-FFC1-2C20070291A2}"/>
              </a:ext>
            </a:extLst>
          </p:cNvPr>
          <p:cNvGrpSpPr/>
          <p:nvPr/>
        </p:nvGrpSpPr>
        <p:grpSpPr>
          <a:xfrm>
            <a:off x="6920168" y="2464843"/>
            <a:ext cx="2200971" cy="1822929"/>
            <a:chOff x="6394388" y="2464843"/>
            <a:chExt cx="1972671" cy="1822929"/>
          </a:xfrm>
        </p:grpSpPr>
        <p:sp>
          <p:nvSpPr>
            <p:cNvPr id="133" name="Shape 907">
              <a:extLst>
                <a:ext uri="{FF2B5EF4-FFF2-40B4-BE49-F238E27FC236}">
                  <a16:creationId xmlns:a16="http://schemas.microsoft.com/office/drawing/2014/main" id="{C70A0DAF-9FB6-BA56-F0E9-70003CBC1DD7}"/>
                </a:ext>
              </a:extLst>
            </p:cNvPr>
            <p:cNvSpPr/>
            <p:nvPr/>
          </p:nvSpPr>
          <p:spPr>
            <a:xfrm>
              <a:off x="6394388" y="2464843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altLang="ko-KR" sz="900" b="1" spc="-40" dirty="0">
                  <a:solidFill>
                    <a:srgbClr val="25537D"/>
                  </a:solidFill>
                  <a:latin typeface="+mn-ea"/>
                  <a:ea typeface="+mn-ea"/>
                </a:rPr>
                <a:t>test_ontology.py</a:t>
              </a:r>
              <a:r>
                <a:rPr lang="ko-KR" altLang="en-US" sz="900" b="1" spc="-40" dirty="0" err="1">
                  <a:solidFill>
                    <a:srgbClr val="25537D"/>
                  </a:solidFill>
                  <a:latin typeface="+mn-ea"/>
                  <a:ea typeface="+mn-ea"/>
                </a:rPr>
                <a:t/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34" name="Shape 907">
              <a:extLst>
                <a:ext uri="{FF2B5EF4-FFF2-40B4-BE49-F238E27FC236}">
                  <a16:creationId xmlns:a16="http://schemas.microsoft.com/office/drawing/2014/main" id="{F5082265-12A9-DFDD-B6FD-319BCE7E427C}"/>
                </a:ext>
              </a:extLst>
            </p:cNvPr>
            <p:cNvSpPr/>
            <p:nvPr/>
          </p:nvSpPr>
          <p:spPr>
            <a:xfrm>
              <a:off x="6394388" y="2952486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en-US" altLang="ko-KR" sz="900" b="1" spc="-40">
                  <a:solidFill>
                    <a:srgbClr val="25537D"/>
                  </a:solidFill>
                  <a:latin typeface="+mn-ea"/>
                  <a:ea typeface="+mn-ea"/>
                </a:rPr>
                <a:t>test_graph_store.py</a:t>
              </a:r>
              <a:r>
                <a:rPr lang="ko-KR" altLang="en-US" sz="900" b="1" spc="-40" dirty="0">
                  <a:solidFill>
                    <a:srgbClr val="25537D"/>
                  </a:solidFill>
                  <a:latin typeface="+mn-ea"/>
                  <a:ea typeface="+mn-ea"/>
                </a:rPr>
                <a:t/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35" name="Shape 907">
              <a:extLst>
                <a:ext uri="{FF2B5EF4-FFF2-40B4-BE49-F238E27FC236}">
                  <a16:creationId xmlns:a16="http://schemas.microsoft.com/office/drawing/2014/main" id="{6213B86D-0162-AEF5-53F2-6D152E94108C}"/>
                </a:ext>
              </a:extLst>
            </p:cNvPr>
            <p:cNvSpPr/>
            <p:nvPr/>
          </p:nvSpPr>
          <p:spPr>
            <a:xfrm>
              <a:off x="6394388" y="3440129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>
                  <a:solidFill>
                    <a:srgbClr val="25537D"/>
                  </a:solidFill>
                  <a:latin typeface="+mn-ea"/>
                  <a:ea typeface="+mn-ea"/>
                </a:rPr>
                <a:t>test_vector_store.py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  <p:sp>
          <p:nvSpPr>
            <p:cNvPr id="140" name="Shape 907">
              <a:extLst>
                <a:ext uri="{FF2B5EF4-FFF2-40B4-BE49-F238E27FC236}">
                  <a16:creationId xmlns:a16="http://schemas.microsoft.com/office/drawing/2014/main" id="{DC7F44AB-AD85-5A29-4ADB-C037CE410A9F}"/>
                </a:ext>
              </a:extLst>
            </p:cNvPr>
            <p:cNvSpPr/>
            <p:nvPr/>
          </p:nvSpPr>
          <p:spPr>
            <a:xfrm>
              <a:off x="6394388" y="3927772"/>
              <a:ext cx="1972671" cy="360000"/>
            </a:xfrm>
            <a:prstGeom prst="roundRect">
              <a:avLst>
                <a:gd name="adj" fmla="val 12000"/>
              </a:avLst>
            </a:prstGeom>
            <a:solidFill>
              <a:srgbClr val="FFFFFF"/>
            </a:solidFill>
            <a:ln w="9525">
              <a:solidFill>
                <a:srgbClr val="25537D"/>
              </a:solidFill>
            </a:ln>
          </p:spPr>
          <p:txBody>
            <a:bodyPr wrap="square" lIns="45000" tIns="27000" rIns="45000" bIns="27000" rtlCol="0" anchor="ctr"/>
            <a:lstStyle/>
            <a:p>
              <a:pPr algn="ctr">
                <a:lnSpc>
                  <a:spcPct val="105000"/>
                </a:lnSpc>
              </a:pPr>
              <a:r>
                <a:rPr lang="ko-KR" altLang="en-US" sz="900" b="1" spc="-40" dirty="0" err="1">
                  <a:solidFill>
                    <a:srgbClr val="25537D"/>
                  </a:solidFill>
                  <a:latin typeface="+mn-ea"/>
                  <a:ea typeface="+mn-ea"/>
                </a:rPr>
                <a:t>test_retriever.py</a:t>
              </a:r>
              <a:endParaRPr lang="ko-KR" altLang="en-US" sz="800" spc="-40" dirty="0">
                <a:solidFill>
                  <a:srgbClr val="404040"/>
                </a:solidFill>
                <a:latin typeface="+mn-ea"/>
                <a:ea typeface="+mn-ea"/>
              </a:endParaRPr>
            </a:p>
          </p:txBody>
        </p:sp>
      </p:grpSp>
      <p:cxnSp>
        <p:nvCxnSpPr>
          <p:cNvPr id="3" name="연결선: 꺾임 2">
            <a:extLst>
              <a:ext uri="{FF2B5EF4-FFF2-40B4-BE49-F238E27FC236}">
                <a16:creationId xmlns:a16="http://schemas.microsoft.com/office/drawing/2014/main" id="{E07E0EF6-99B4-51BF-21E6-ECB55321ECFC}"/>
              </a:ext>
            </a:extLst>
          </p:cNvPr>
          <p:cNvCxnSpPr>
            <a:stCxn id="126" idx="3"/>
            <a:endCxn id="133" idx="1"/>
          </p:cNvCxnSpPr>
          <p:nvPr/>
        </p:nvCxnSpPr>
        <p:spPr>
          <a:xfrm flipV="1">
            <a:off x="6285756" y="2644843"/>
            <a:ext cx="634412" cy="731464"/>
          </a:xfrm>
          <a:prstGeom prst="bentConnector3">
            <a:avLst/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연결선: 꺾임 3">
            <a:extLst>
              <a:ext uri="{FF2B5EF4-FFF2-40B4-BE49-F238E27FC236}">
                <a16:creationId xmlns:a16="http://schemas.microsoft.com/office/drawing/2014/main" id="{3EDF4187-4540-C9D1-B269-B04789181267}"/>
              </a:ext>
            </a:extLst>
          </p:cNvPr>
          <p:cNvCxnSpPr>
            <a:cxnSpLocks/>
            <a:stCxn id="126" idx="3"/>
            <a:endCxn id="140" idx="1"/>
          </p:cNvCxnSpPr>
          <p:nvPr/>
        </p:nvCxnSpPr>
        <p:spPr>
          <a:xfrm>
            <a:off x="6285756" y="3376307"/>
            <a:ext cx="634412" cy="731465"/>
          </a:xfrm>
          <a:prstGeom prst="bentConnector3">
            <a:avLst/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연결선: 꺾임 11">
            <a:extLst>
              <a:ext uri="{FF2B5EF4-FFF2-40B4-BE49-F238E27FC236}">
                <a16:creationId xmlns:a16="http://schemas.microsoft.com/office/drawing/2014/main" id="{6D5A6A44-64EF-D5B4-1D75-C60605C314C2}"/>
              </a:ext>
            </a:extLst>
          </p:cNvPr>
          <p:cNvCxnSpPr>
            <a:cxnSpLocks/>
            <a:stCxn id="129" idx="3"/>
            <a:endCxn id="136" idx="1"/>
          </p:cNvCxnSpPr>
          <p:nvPr/>
        </p:nvCxnSpPr>
        <p:spPr>
          <a:xfrm flipV="1">
            <a:off x="6283596" y="4595415"/>
            <a:ext cx="636572" cy="731465"/>
          </a:xfrm>
          <a:prstGeom prst="bentConnector3">
            <a:avLst>
              <a:gd name="adj1" fmla="val 50000"/>
            </a:avLst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연결선: 꺾임 14">
            <a:extLst>
              <a:ext uri="{FF2B5EF4-FFF2-40B4-BE49-F238E27FC236}">
                <a16:creationId xmlns:a16="http://schemas.microsoft.com/office/drawing/2014/main" id="{9BBF3ED3-10F6-995D-7E09-D32758C3B472}"/>
              </a:ext>
            </a:extLst>
          </p:cNvPr>
          <p:cNvCxnSpPr>
            <a:cxnSpLocks/>
            <a:stCxn id="129" idx="3"/>
            <a:endCxn id="139" idx="1"/>
          </p:cNvCxnSpPr>
          <p:nvPr/>
        </p:nvCxnSpPr>
        <p:spPr>
          <a:xfrm>
            <a:off x="6283596" y="5326880"/>
            <a:ext cx="636572" cy="731465"/>
          </a:xfrm>
          <a:prstGeom prst="bentConnector3">
            <a:avLst>
              <a:gd name="adj1" fmla="val 50000"/>
            </a:avLst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ECFCAD11-7738-1AEA-6F8C-D3D9EE97031F}"/>
              </a:ext>
            </a:extLst>
          </p:cNvPr>
          <p:cNvCxnSpPr>
            <a:cxnSpLocks/>
            <a:stCxn id="126" idx="3"/>
            <a:endCxn id="134" idx="1"/>
          </p:cNvCxnSpPr>
          <p:nvPr/>
        </p:nvCxnSpPr>
        <p:spPr>
          <a:xfrm flipV="1">
            <a:off x="6285756" y="3132486"/>
            <a:ext cx="634412" cy="243821"/>
          </a:xfrm>
          <a:prstGeom prst="bentConnector3">
            <a:avLst/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연결선: 꺾임 25">
            <a:extLst>
              <a:ext uri="{FF2B5EF4-FFF2-40B4-BE49-F238E27FC236}">
                <a16:creationId xmlns:a16="http://schemas.microsoft.com/office/drawing/2014/main" id="{02C5A3E7-8BA5-5B88-6AC6-0AB8659DF9CE}"/>
              </a:ext>
            </a:extLst>
          </p:cNvPr>
          <p:cNvCxnSpPr>
            <a:cxnSpLocks/>
            <a:stCxn id="126" idx="3"/>
            <a:endCxn id="135" idx="1"/>
          </p:cNvCxnSpPr>
          <p:nvPr/>
        </p:nvCxnSpPr>
        <p:spPr>
          <a:xfrm>
            <a:off x="6285756" y="3376307"/>
            <a:ext cx="634412" cy="243822"/>
          </a:xfrm>
          <a:prstGeom prst="bentConnector3">
            <a:avLst/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연결선: 꺾임 28">
            <a:extLst>
              <a:ext uri="{FF2B5EF4-FFF2-40B4-BE49-F238E27FC236}">
                <a16:creationId xmlns:a16="http://schemas.microsoft.com/office/drawing/2014/main" id="{08F0D27E-EE17-C5DA-C7B7-7F94E5C44FD5}"/>
              </a:ext>
            </a:extLst>
          </p:cNvPr>
          <p:cNvCxnSpPr>
            <a:cxnSpLocks/>
            <a:stCxn id="129" idx="3"/>
            <a:endCxn id="137" idx="1"/>
          </p:cNvCxnSpPr>
          <p:nvPr/>
        </p:nvCxnSpPr>
        <p:spPr>
          <a:xfrm flipV="1">
            <a:off x="6283596" y="5083058"/>
            <a:ext cx="636572" cy="243822"/>
          </a:xfrm>
          <a:prstGeom prst="bentConnector3">
            <a:avLst>
              <a:gd name="adj1" fmla="val 50000"/>
            </a:avLst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연결선: 꺾임 31">
            <a:extLst>
              <a:ext uri="{FF2B5EF4-FFF2-40B4-BE49-F238E27FC236}">
                <a16:creationId xmlns:a16="http://schemas.microsoft.com/office/drawing/2014/main" id="{74313B10-D54B-CA6A-E3C4-81DABA10CE29}"/>
              </a:ext>
            </a:extLst>
          </p:cNvPr>
          <p:cNvCxnSpPr>
            <a:cxnSpLocks/>
            <a:stCxn id="129" idx="3"/>
            <a:endCxn id="138" idx="1"/>
          </p:cNvCxnSpPr>
          <p:nvPr/>
        </p:nvCxnSpPr>
        <p:spPr>
          <a:xfrm>
            <a:off x="6283596" y="5326880"/>
            <a:ext cx="636572" cy="243821"/>
          </a:xfrm>
          <a:prstGeom prst="bentConnector3">
            <a:avLst>
              <a:gd name="adj1" fmla="val 50000"/>
            </a:avLst>
          </a:prstGeom>
          <a:ln>
            <a:solidFill>
              <a:srgbClr val="25537D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직선 화살표 연결선 40">
            <a:extLst>
              <a:ext uri="{FF2B5EF4-FFF2-40B4-BE49-F238E27FC236}">
                <a16:creationId xmlns:a16="http://schemas.microsoft.com/office/drawing/2014/main" id="{9591FDEE-CADA-5015-086F-98571D04CF1E}"/>
              </a:ext>
            </a:extLst>
          </p:cNvPr>
          <p:cNvCxnSpPr>
            <a:stCxn id="76" idx="3"/>
            <a:endCxn id="77" idx="1"/>
          </p:cNvCxnSpPr>
          <p:nvPr/>
        </p:nvCxnSpPr>
        <p:spPr>
          <a:xfrm>
            <a:off x="1397470" y="3932421"/>
            <a:ext cx="391373" cy="912"/>
          </a:xfrm>
          <a:prstGeom prst="straightConnector1">
            <a:avLst/>
          </a:prstGeom>
          <a:ln w="12700">
            <a:solidFill>
              <a:srgbClr val="25537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>
            <a:extLst>
              <a:ext uri="{FF2B5EF4-FFF2-40B4-BE49-F238E27FC236}">
                <a16:creationId xmlns:a16="http://schemas.microsoft.com/office/drawing/2014/main" id="{BA43AC68-C40E-4E8E-17FA-3BF193860590}"/>
              </a:ext>
            </a:extLst>
          </p:cNvPr>
          <p:cNvCxnSpPr>
            <a:cxnSpLocks/>
            <a:stCxn id="77" idx="3"/>
            <a:endCxn id="78" idx="1"/>
          </p:cNvCxnSpPr>
          <p:nvPr/>
        </p:nvCxnSpPr>
        <p:spPr>
          <a:xfrm>
            <a:off x="3048843" y="3933333"/>
            <a:ext cx="451157" cy="0"/>
          </a:xfrm>
          <a:prstGeom prst="straightConnector1">
            <a:avLst/>
          </a:prstGeom>
          <a:ln w="12700">
            <a:solidFill>
              <a:srgbClr val="25537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화살표 연결선 48">
            <a:extLst>
              <a:ext uri="{FF2B5EF4-FFF2-40B4-BE49-F238E27FC236}">
                <a16:creationId xmlns:a16="http://schemas.microsoft.com/office/drawing/2014/main" id="{79BB9E4E-AAFA-9244-FE11-FD29BA95E713}"/>
              </a:ext>
            </a:extLst>
          </p:cNvPr>
          <p:cNvCxnSpPr>
            <a:cxnSpLocks/>
            <a:stCxn id="77" idx="2"/>
            <a:endCxn id="75" idx="0"/>
          </p:cNvCxnSpPr>
          <p:nvPr/>
        </p:nvCxnSpPr>
        <p:spPr>
          <a:xfrm>
            <a:off x="2418843" y="4293333"/>
            <a:ext cx="0" cy="193333"/>
          </a:xfrm>
          <a:prstGeom prst="straightConnector1">
            <a:avLst/>
          </a:prstGeom>
          <a:ln w="12700">
            <a:solidFill>
              <a:srgbClr val="25537D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3344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/>
          <p:cNvSpPr txBox="1"/>
          <p:nvPr/>
        </p:nvSpPr>
        <p:spPr>
          <a:xfrm>
            <a:off x="460821" y="314647"/>
            <a:ext cx="6552454" cy="384721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 anchorCtr="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</a:pP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>Appendix5. 질의응답 처리 흐름</a:t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en-US" altLang="ko-KR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  <a:r>
              <a:rPr lang="ko-KR" altLang="en-US" sz="1500" dirty="0">
                <a:ln>
                  <a:solidFill>
                    <a:schemeClr val="bg1">
                      <a:alpha val="0"/>
                    </a:schemeClr>
                  </a:solidFill>
                </a:ln>
                <a:latin typeface="HY헤드라인M" panose="02030600000101010101" pitchFamily="18" charset="-127"/>
                <a:ea typeface="HY헤드라인M" panose="02030600000101010101" pitchFamily="18" charset="-127"/>
              </a:rPr>
              <a:t/>
            </a:r>
          </a:p>
        </p:txBody>
      </p:sp>
      <p:sp>
        <p:nvSpPr>
          <p:cNvPr id="53" name="직사각형 52"/>
          <p:cNvSpPr/>
          <p:nvPr/>
        </p:nvSpPr>
        <p:spPr>
          <a:xfrm>
            <a:off x="460822" y="890580"/>
            <a:ext cx="8967849" cy="936639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>
                <a:lumMod val="65000"/>
                <a:lumOff val="3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80000" tIns="108000" rIns="180000" bIns="108000">
            <a:spAutoFit/>
          </a:bodyPr>
          <a:lstStyle/>
          <a:p>
            <a:pPr>
              <a:lnSpc>
                <a:spcPct val="150000"/>
              </a:lnSpc>
              <a:spcBef>
                <a:spcPts val="1000"/>
              </a:spcBef>
              <a:spcAft>
                <a:spcPts val="600"/>
              </a:spcAft>
            </a:pP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>질의응답 처리 흐름 : 정상 흐름과 인용 검증 실패 시의 예외 처리 절차를 코드로 명시적으로 분리</a:t>
            </a:r>
            <a:r>
              <a:rPr lang="en-US" altLang="ko-KR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r>
              <a:rPr lang="ko-KR" altLang="en-US" sz="1200" b="1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+mn-ea"/>
              </a:rPr>
              <a:t/>
            </a:r>
            <a:endParaRPr lang="en-US" altLang="ko-KR" sz="1200" b="1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+mn-ea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RBAC·시계열 검증은 검색 단계에서, 인용 검증은 답변 생성 후 단계에서 각각 독립적으로 수행</a:t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en-US" altLang="ko-KR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/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  <a:p>
            <a:pPr marL="171450" indent="-171450">
              <a:lnSpc>
                <a:spcPct val="125000"/>
              </a:lnSpc>
              <a:buFont typeface="Arial" panose="020B0604020202020204" pitchFamily="34" charset="0"/>
              <a:buChar char="•"/>
            </a:pPr>
            <a:r>
              <a:rPr lang="ko-KR" altLang="en-US" sz="1000" spc="-60" dirty="0">
                <a:ln>
                  <a:solidFill>
                    <a:schemeClr val="bg1">
                      <a:lumMod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</a:rPr>
              <a:t>예외 처리 절차(인용 실패)를 정식 경로로 수립·운영하여 "검증 없이 답하지 않는다"는 원칙이 희석되지 않도록 함</a:t>
            </a:r>
            <a:endParaRPr lang="en-US" altLang="ko-KR" sz="1000" spc="-60" dirty="0">
              <a:ln>
                <a:solidFill>
                  <a:schemeClr val="bg1">
                    <a:lumMod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  <p:grpSp>
        <p:nvGrpSpPr>
          <p:cNvPr id="44" name="그룹 43">
            <a:extLst>
              <a:ext uri="{FF2B5EF4-FFF2-40B4-BE49-F238E27FC236}">
                <a16:creationId xmlns:a16="http://schemas.microsoft.com/office/drawing/2014/main" id="{3D53B1E3-4011-4539-68CA-A7E5C5730DEB}"/>
              </a:ext>
            </a:extLst>
          </p:cNvPr>
          <p:cNvGrpSpPr/>
          <p:nvPr/>
        </p:nvGrpSpPr>
        <p:grpSpPr>
          <a:xfrm>
            <a:off x="497470" y="2212843"/>
            <a:ext cx="2603758" cy="252000"/>
            <a:chOff x="497470" y="2385423"/>
            <a:chExt cx="2603758" cy="224286"/>
          </a:xfrm>
        </p:grpSpPr>
        <p:sp>
          <p:nvSpPr>
            <p:cNvPr id="42" name="직사각형 41">
              <a:extLst>
                <a:ext uri="{FF2B5EF4-FFF2-40B4-BE49-F238E27FC236}">
                  <a16:creationId xmlns:a16="http://schemas.microsoft.com/office/drawing/2014/main" id="{EE73604F-385B-1141-EAB7-CCDEE2AD0CE4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D99E6605-E701-B4C7-4D34-36E1ECE1160D}"/>
                </a:ext>
              </a:extLst>
            </p:cNvPr>
            <p:cNvSpPr/>
            <p:nvPr/>
          </p:nvSpPr>
          <p:spPr>
            <a:xfrm>
              <a:off x="497470" y="2385423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정상 흐름 (검색 → 검증 → 답변)</a:t>
              </a:r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10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9" name="그룹 8">
            <a:extLst>
              <a:ext uri="{FF2B5EF4-FFF2-40B4-BE49-F238E27FC236}">
                <a16:creationId xmlns:a16="http://schemas.microsoft.com/office/drawing/2014/main" id="{DEA0DCEF-D3BD-B9FE-30E2-A68FF5B02CDA}"/>
              </a:ext>
            </a:extLst>
          </p:cNvPr>
          <p:cNvGrpSpPr/>
          <p:nvPr/>
        </p:nvGrpSpPr>
        <p:grpSpPr>
          <a:xfrm>
            <a:off x="596642" y="2528993"/>
            <a:ext cx="8832029" cy="1000110"/>
            <a:chOff x="596642" y="2582333"/>
            <a:chExt cx="8832029" cy="846667"/>
          </a:xfrm>
        </p:grpSpPr>
        <p:sp>
          <p:nvSpPr>
            <p:cNvPr id="2" name="직사각형 1">
              <a:extLst>
                <a:ext uri="{FF2B5EF4-FFF2-40B4-BE49-F238E27FC236}">
                  <a16:creationId xmlns:a16="http://schemas.microsoft.com/office/drawing/2014/main" id="{F71CD5A4-99CE-19F2-D6E9-0E4F926DCDCA}"/>
                </a:ext>
              </a:extLst>
            </p:cNvPr>
            <p:cNvSpPr/>
            <p:nvPr/>
          </p:nvSpPr>
          <p:spPr>
            <a:xfrm>
              <a:off x="596642" y="2582333"/>
              <a:ext cx="8832029" cy="846667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spc="-6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40823C7A-821C-2C84-8FCB-18FDE44474DD}"/>
                </a:ext>
              </a:extLst>
            </p:cNvPr>
            <p:cNvSpPr/>
            <p:nvPr/>
          </p:nvSpPr>
          <p:spPr>
            <a:xfrm>
              <a:off x="596643" y="2582333"/>
              <a:ext cx="771441" cy="846667"/>
            </a:xfrm>
            <a:prstGeom prst="rect">
              <a:avLst/>
            </a:prstGeom>
            <a:solidFill>
              <a:srgbClr val="25537D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>사용자 영역</a:t>
              </a:r>
              <a:endParaRPr lang="en-US" altLang="ko-KR" sz="1000" b="1" spc="-60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ko-KR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>(요청)</a:t>
              </a:r>
              <a:r>
                <a:rPr lang="ko-KR" altLang="en-US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/>
              </a:r>
              <a:r>
                <a:rPr lang="en-US" altLang="ko-KR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/>
              </a:r>
              <a:endParaRPr lang="ko-KR" altLang="en-US" sz="1000" b="1" spc="-6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grpSp>
        <p:nvGrpSpPr>
          <p:cNvPr id="8" name="그룹 7">
            <a:extLst>
              <a:ext uri="{FF2B5EF4-FFF2-40B4-BE49-F238E27FC236}">
                <a16:creationId xmlns:a16="http://schemas.microsoft.com/office/drawing/2014/main" id="{4E08714D-1CD3-DBCD-6A80-B3FC238AD4A1}"/>
              </a:ext>
            </a:extLst>
          </p:cNvPr>
          <p:cNvGrpSpPr/>
          <p:nvPr/>
        </p:nvGrpSpPr>
        <p:grpSpPr>
          <a:xfrm>
            <a:off x="596642" y="3611682"/>
            <a:ext cx="8832029" cy="1000111"/>
            <a:chOff x="596642" y="3546489"/>
            <a:chExt cx="8832029" cy="846668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9512DFC-58F9-1BD4-D03C-B41A8B135BC6}"/>
                </a:ext>
              </a:extLst>
            </p:cNvPr>
            <p:cNvSpPr/>
            <p:nvPr/>
          </p:nvSpPr>
          <p:spPr>
            <a:xfrm>
              <a:off x="596642" y="3546490"/>
              <a:ext cx="8832029" cy="84666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 spc="-6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1B33E9C-E32C-EA7C-EF36-150541D40AF0}"/>
                </a:ext>
              </a:extLst>
            </p:cNvPr>
            <p:cNvSpPr/>
            <p:nvPr/>
          </p:nvSpPr>
          <p:spPr>
            <a:xfrm>
              <a:off x="596642" y="3546489"/>
              <a:ext cx="774960" cy="846667"/>
            </a:xfrm>
            <a:prstGeom prst="rect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>에이전트 영역</a:t>
              </a:r>
              <a:endParaRPr lang="en-US" altLang="ko-KR" sz="1000" b="1" spc="-60" dirty="0">
                <a:solidFill>
                  <a:schemeClr val="bg1"/>
                </a:solidFill>
                <a:latin typeface="+mj-ea"/>
                <a:ea typeface="+mj-ea"/>
              </a:endParaRPr>
            </a:p>
            <a:p>
              <a:pPr algn="ctr"/>
              <a:r>
                <a:rPr lang="en-US" altLang="ko-KR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>(처리)</a:t>
              </a:r>
              <a:r>
                <a:rPr lang="ko-KR" altLang="en-US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/>
              </a:r>
              <a:r>
                <a:rPr lang="en-US" altLang="ko-KR" sz="1000" b="1" spc="-60" dirty="0">
                  <a:solidFill>
                    <a:schemeClr val="bg1"/>
                  </a:solidFill>
                  <a:latin typeface="+mj-ea"/>
                  <a:ea typeface="+mj-ea"/>
                </a:rPr>
                <a:t/>
              </a:r>
              <a:endParaRPr lang="ko-KR" altLang="en-US" sz="1000" b="1" spc="-60" dirty="0">
                <a:solidFill>
                  <a:schemeClr val="bg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7" name="Shape 607">
            <a:extLst>
              <a:ext uri="{FF2B5EF4-FFF2-40B4-BE49-F238E27FC236}">
                <a16:creationId xmlns:a16="http://schemas.microsoft.com/office/drawing/2014/main" id="{BE9C3B44-B755-2C2C-45FB-B841C692F384}"/>
              </a:ext>
            </a:extLst>
          </p:cNvPr>
          <p:cNvSpPr/>
          <p:nvPr/>
        </p:nvSpPr>
        <p:spPr>
          <a:xfrm>
            <a:off x="1490406" y="26383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질의 접수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>사용자</a:t>
            </a:r>
          </a:p>
        </p:txBody>
      </p:sp>
      <p:sp>
        <p:nvSpPr>
          <p:cNvPr id="10" name="Shape 607">
            <a:extLst>
              <a:ext uri="{FF2B5EF4-FFF2-40B4-BE49-F238E27FC236}">
                <a16:creationId xmlns:a16="http://schemas.microsoft.com/office/drawing/2014/main" id="{9B1B6F5D-0964-295D-2D83-28EC82FEB44A}"/>
              </a:ext>
            </a:extLst>
          </p:cNvPr>
          <p:cNvSpPr/>
          <p:nvPr/>
        </p:nvSpPr>
        <p:spPr>
          <a:xfrm>
            <a:off x="2573706" y="26383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tool_call 생성</a:t>
            </a:r>
          </a:p>
          <a:p>
            <a:pPr algn="ctr">
              <a:spcBef>
                <a:spcPts val="600"/>
              </a:spcBef>
            </a:pP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>LLM</a:t>
            </a: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br>
              <a:rPr lang="en-US" altLang="ko-KR" sz="800" spc="-60" dirty="0">
                <a:solidFill>
                  <a:srgbClr val="404040"/>
                </a:solidFill>
                <a:latin typeface="+mn-ea"/>
              </a:rPr>
            </a:b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endParaRPr lang="ko-KR" altLang="en-US" sz="800" spc="-60" dirty="0">
              <a:solidFill>
                <a:srgbClr val="404040"/>
              </a:solidFill>
              <a:latin typeface="+mn-ea"/>
              <a:ea typeface="+mn-ea"/>
            </a:endParaRPr>
          </a:p>
        </p:txBody>
      </p:sp>
      <p:sp>
        <p:nvSpPr>
          <p:cNvPr id="12" name="Shape 607">
            <a:extLst>
              <a:ext uri="{FF2B5EF4-FFF2-40B4-BE49-F238E27FC236}">
                <a16:creationId xmlns:a16="http://schemas.microsoft.com/office/drawing/2014/main" id="{2DB3FBBB-9EBD-05D7-AC81-F38EB76511EB}"/>
              </a:ext>
            </a:extLst>
          </p:cNvPr>
          <p:cNvSpPr/>
          <p:nvPr/>
        </p:nvSpPr>
        <p:spPr>
          <a:xfrm>
            <a:off x="3657006" y="26383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search_knowledge 실행</a:t>
            </a:r>
            <a:r>
              <a:rPr lang="en-US" altLang="ko-KR" sz="900" b="1" spc="-60" dirty="0">
                <a:solidFill>
                  <a:srgbClr val="25537D"/>
                </a:solidFill>
                <a:latin typeface="+mn-ea"/>
                <a:ea typeface="+mn-ea"/>
              </a:rPr>
              <a:t/>
            </a: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/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>ToolDispatcher</a:t>
            </a: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endParaRPr lang="ko-KR" altLang="en-US" sz="800" spc="-60" dirty="0">
              <a:solidFill>
                <a:srgbClr val="404040"/>
              </a:solidFill>
              <a:latin typeface="+mn-ea"/>
              <a:ea typeface="+mn-ea"/>
            </a:endParaRPr>
          </a:p>
        </p:txBody>
      </p:sp>
      <p:sp>
        <p:nvSpPr>
          <p:cNvPr id="14" name="Shape 610">
            <a:extLst>
              <a:ext uri="{FF2B5EF4-FFF2-40B4-BE49-F238E27FC236}">
                <a16:creationId xmlns:a16="http://schemas.microsoft.com/office/drawing/2014/main" id="{2F2E1DBC-2B60-1C02-6328-E695E5BCCA57}"/>
              </a:ext>
            </a:extLst>
          </p:cNvPr>
          <p:cNvSpPr/>
          <p:nvPr/>
        </p:nvSpPr>
        <p:spPr>
          <a:xfrm>
            <a:off x="4137496" y="37185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404040"/>
                </a:solidFill>
                <a:latin typeface="+mn-ea"/>
              </a:rPr>
              <a:t>RBAC 필터링</a:t>
            </a:r>
            <a:endParaRPr lang="ko-KR" altLang="en-US" sz="900" b="1" spc="-60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>
              <a:spcBef>
                <a:spcPts val="600"/>
              </a:spcBef>
            </a:pPr>
            <a:r>
              <a:rPr lang="en-US" altLang="ko-KR" sz="800" spc="-60" dirty="0">
                <a:solidFill>
                  <a:srgbClr val="595959"/>
                </a:solidFill>
                <a:latin typeface="+mn-ea"/>
              </a:rPr>
              <a:t>HybridRetriever</a:t>
            </a:r>
            <a:r>
              <a:rPr lang="ko-KR" altLang="en-US" sz="800" spc="-60" dirty="0">
                <a:solidFill>
                  <a:srgbClr val="595959"/>
                </a:solidFill>
                <a:latin typeface="+mn-ea"/>
              </a:rPr>
              <a:t/>
            </a:r>
            <a:br>
              <a:rPr lang="en-US" altLang="ko-KR" sz="800" spc="-60" dirty="0">
                <a:solidFill>
                  <a:srgbClr val="595959"/>
                </a:solidFill>
                <a:latin typeface="+mn-ea"/>
              </a:rPr>
            </a:br>
            <a:r>
              <a:rPr lang="en-US" altLang="ko-KR" sz="800" spc="-60" dirty="0">
                <a:solidFill>
                  <a:srgbClr val="595959"/>
                </a:solidFill>
                <a:latin typeface="+mn-ea"/>
              </a:rPr>
              <a:t/>
            </a:r>
            <a:r>
              <a:rPr lang="ko-KR" altLang="en-US" sz="800" spc="-60" dirty="0">
                <a:solidFill>
                  <a:srgbClr val="595959"/>
                </a:solidFill>
                <a:latin typeface="+mn-ea"/>
              </a:rPr>
              <a:t/>
            </a:r>
            <a:r>
              <a:rPr lang="en-US" altLang="ko-KR" sz="800" spc="-60" dirty="0">
                <a:solidFill>
                  <a:srgbClr val="595959"/>
                </a:solidFill>
                <a:latin typeface="+mn-ea"/>
              </a:rPr>
              <a:t/>
            </a:r>
            <a:endParaRPr lang="ko-KR" altLang="en-US" sz="800" spc="-60" dirty="0">
              <a:solidFill>
                <a:srgbClr val="595959"/>
              </a:solidFill>
              <a:latin typeface="+mn-ea"/>
              <a:ea typeface="+mn-ea"/>
            </a:endParaRPr>
          </a:p>
        </p:txBody>
      </p:sp>
      <p:sp>
        <p:nvSpPr>
          <p:cNvPr id="15" name="Shape 610">
            <a:extLst>
              <a:ext uri="{FF2B5EF4-FFF2-40B4-BE49-F238E27FC236}">
                <a16:creationId xmlns:a16="http://schemas.microsoft.com/office/drawing/2014/main" id="{F486511B-E2AB-77D2-89B2-5B7C922987A8}"/>
              </a:ext>
            </a:extLst>
          </p:cNvPr>
          <p:cNvSpPr/>
          <p:nvPr/>
        </p:nvSpPr>
        <p:spPr>
          <a:xfrm>
            <a:off x="5220796" y="37185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404040"/>
                </a:solidFill>
                <a:latin typeface="+mn-ea"/>
                <a:ea typeface="+mn-ea"/>
              </a:rPr>
              <a:t>그래프 교차검증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595959"/>
                </a:solidFill>
                <a:latin typeface="+mn-ea"/>
                <a:ea typeface="+mn-ea"/>
              </a:rPr>
              <a:t>GraphStore</a:t>
            </a:r>
          </a:p>
        </p:txBody>
      </p:sp>
      <p:sp>
        <p:nvSpPr>
          <p:cNvPr id="16" name="Shape 610">
            <a:extLst>
              <a:ext uri="{FF2B5EF4-FFF2-40B4-BE49-F238E27FC236}">
                <a16:creationId xmlns:a16="http://schemas.microsoft.com/office/drawing/2014/main" id="{03EEE26E-046C-34EE-C3CD-C9B688AFDAE1}"/>
              </a:ext>
            </a:extLst>
          </p:cNvPr>
          <p:cNvSpPr/>
          <p:nvPr/>
        </p:nvSpPr>
        <p:spPr>
          <a:xfrm>
            <a:off x="6304096" y="37185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404040"/>
                </a:solidFill>
                <a:latin typeface="+mn-ea"/>
                <a:ea typeface="+mn-ea"/>
              </a:rPr>
              <a:t>문서 반환</a:t>
            </a:r>
          </a:p>
          <a:p>
            <a:pPr algn="ctr">
              <a:spcBef>
                <a:spcPts val="600"/>
              </a:spcBef>
            </a:pPr>
            <a:r>
              <a:rPr lang="en-US" altLang="ko-KR" sz="800" spc="-60" dirty="0">
                <a:solidFill>
                  <a:srgbClr val="595959"/>
                </a:solidFill>
                <a:latin typeface="+mn-ea"/>
                <a:ea typeface="+mn-ea"/>
              </a:rPr>
              <a:t>VectorStore</a:t>
            </a:r>
            <a:r>
              <a:rPr lang="ko-KR" altLang="en-US" sz="800" spc="-60" dirty="0">
                <a:solidFill>
                  <a:srgbClr val="595959"/>
                </a:solidFill>
                <a:latin typeface="+mn-ea"/>
                <a:ea typeface="+mn-ea"/>
              </a:rPr>
              <a:t/>
            </a:r>
            <a:br>
              <a:rPr lang="en-US" altLang="ko-KR" sz="800" spc="-60" dirty="0">
                <a:solidFill>
                  <a:srgbClr val="595959"/>
                </a:solidFill>
                <a:latin typeface="+mn-ea"/>
                <a:ea typeface="+mn-ea"/>
              </a:rPr>
            </a:br>
            <a:r>
              <a:rPr lang="en-US" altLang="ko-KR" sz="800" spc="-60" dirty="0">
                <a:solidFill>
                  <a:srgbClr val="595959"/>
                </a:solidFill>
                <a:latin typeface="+mn-ea"/>
              </a:rPr>
              <a:t/>
            </a:r>
            <a:r>
              <a:rPr lang="ko-KR" altLang="en-US" sz="800" spc="-60" dirty="0">
                <a:solidFill>
                  <a:srgbClr val="595959"/>
                </a:solidFill>
                <a:latin typeface="+mn-ea"/>
              </a:rPr>
              <a:t/>
            </a:r>
            <a:r>
              <a:rPr lang="en-US" altLang="ko-KR" sz="800" spc="-60" dirty="0">
                <a:solidFill>
                  <a:srgbClr val="595959"/>
                </a:solidFill>
                <a:latin typeface="+mn-ea"/>
              </a:rPr>
              <a:t/>
            </a:r>
            <a:endParaRPr lang="ko-KR" altLang="en-US" sz="800" spc="-60" dirty="0">
              <a:solidFill>
                <a:srgbClr val="595959"/>
              </a:solidFill>
              <a:latin typeface="+mn-ea"/>
              <a:ea typeface="+mn-ea"/>
            </a:endParaRPr>
          </a:p>
        </p:txBody>
      </p:sp>
      <p:sp>
        <p:nvSpPr>
          <p:cNvPr id="22" name="Shape 607">
            <a:extLst>
              <a:ext uri="{FF2B5EF4-FFF2-40B4-BE49-F238E27FC236}">
                <a16:creationId xmlns:a16="http://schemas.microsoft.com/office/drawing/2014/main" id="{99D94D37-17DC-CD23-4481-BD6F7533FBF9}"/>
              </a:ext>
            </a:extLst>
          </p:cNvPr>
          <p:cNvSpPr/>
          <p:nvPr/>
        </p:nvSpPr>
        <p:spPr>
          <a:xfrm>
            <a:off x="6784586" y="26383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답변 생성</a:t>
            </a:r>
          </a:p>
          <a:p>
            <a:pPr algn="ctr">
              <a:spcBef>
                <a:spcPts val="600"/>
              </a:spcBef>
            </a:pP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>LLM</a:t>
            </a: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b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</a:b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endParaRPr lang="ko-KR" altLang="en-US" sz="800" spc="-60" dirty="0">
              <a:solidFill>
                <a:srgbClr val="404040"/>
              </a:solidFill>
              <a:latin typeface="+mn-ea"/>
              <a:ea typeface="+mn-ea"/>
            </a:endParaRPr>
          </a:p>
        </p:txBody>
      </p:sp>
      <p:sp>
        <p:nvSpPr>
          <p:cNvPr id="19" name="Shape 610">
            <a:extLst>
              <a:ext uri="{FF2B5EF4-FFF2-40B4-BE49-F238E27FC236}">
                <a16:creationId xmlns:a16="http://schemas.microsoft.com/office/drawing/2014/main" id="{DAD195A7-F04D-B502-3CAE-C76397FB38B4}"/>
              </a:ext>
            </a:extLst>
          </p:cNvPr>
          <p:cNvSpPr/>
          <p:nvPr/>
        </p:nvSpPr>
        <p:spPr>
          <a:xfrm>
            <a:off x="8348378" y="37185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808080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404040"/>
                </a:solidFill>
                <a:latin typeface="+mn-ea"/>
              </a:rPr>
              <a:t>인용 검증</a:t>
            </a:r>
            <a:endParaRPr lang="ko-KR" altLang="en-US" sz="900" b="1" spc="-60" dirty="0">
              <a:solidFill>
                <a:srgbClr val="404040"/>
              </a:solidFill>
              <a:latin typeface="+mn-ea"/>
              <a:ea typeface="+mn-ea"/>
            </a:endParaRP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595959"/>
                </a:solidFill>
                <a:latin typeface="+mn-ea"/>
                <a:ea typeface="+mn-ea"/>
              </a:rPr>
              <a:t>CitationGuard 앞</a:t>
            </a:r>
          </a:p>
        </p:txBody>
      </p:sp>
      <p:sp>
        <p:nvSpPr>
          <p:cNvPr id="23" name="Shape 607">
            <a:extLst>
              <a:ext uri="{FF2B5EF4-FFF2-40B4-BE49-F238E27FC236}">
                <a16:creationId xmlns:a16="http://schemas.microsoft.com/office/drawing/2014/main" id="{65F51522-69C1-EAA2-EA64-F5E39B40AE68}"/>
              </a:ext>
            </a:extLst>
          </p:cNvPr>
          <p:cNvSpPr/>
          <p:nvPr/>
        </p:nvSpPr>
        <p:spPr>
          <a:xfrm>
            <a:off x="7867888" y="2638360"/>
            <a:ext cx="960980" cy="8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감사 기록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>AuditLogger 앞</a:t>
            </a: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</a:p>
        </p:txBody>
      </p:sp>
      <p:cxnSp>
        <p:nvCxnSpPr>
          <p:cNvPr id="28" name="직선 화살표 연결선 27">
            <a:extLst>
              <a:ext uri="{FF2B5EF4-FFF2-40B4-BE49-F238E27FC236}">
                <a16:creationId xmlns:a16="http://schemas.microsoft.com/office/drawing/2014/main" id="{92E871AD-D75D-B988-147A-FADA2096B3FD}"/>
              </a:ext>
            </a:extLst>
          </p:cNvPr>
          <p:cNvCxnSpPr>
            <a:stCxn id="7" idx="3"/>
            <a:endCxn id="10" idx="1"/>
          </p:cNvCxnSpPr>
          <p:nvPr/>
        </p:nvCxnSpPr>
        <p:spPr>
          <a:xfrm>
            <a:off x="2451386" y="3038360"/>
            <a:ext cx="122320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직선 화살표 연결선 28">
            <a:extLst>
              <a:ext uri="{FF2B5EF4-FFF2-40B4-BE49-F238E27FC236}">
                <a16:creationId xmlns:a16="http://schemas.microsoft.com/office/drawing/2014/main" id="{D8011677-1BD3-E3D7-85DA-C93E8099A11E}"/>
              </a:ext>
            </a:extLst>
          </p:cNvPr>
          <p:cNvCxnSpPr>
            <a:cxnSpLocks/>
            <a:stCxn id="10" idx="3"/>
            <a:endCxn id="12" idx="1"/>
          </p:cNvCxnSpPr>
          <p:nvPr/>
        </p:nvCxnSpPr>
        <p:spPr>
          <a:xfrm>
            <a:off x="3534686" y="3038360"/>
            <a:ext cx="122320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645B4288-F45D-7C07-E7E8-E46BEB1E12AE}"/>
              </a:ext>
            </a:extLst>
          </p:cNvPr>
          <p:cNvCxnSpPr>
            <a:cxnSpLocks/>
            <a:stCxn id="14" idx="3"/>
            <a:endCxn id="15" idx="1"/>
          </p:cNvCxnSpPr>
          <p:nvPr/>
        </p:nvCxnSpPr>
        <p:spPr>
          <a:xfrm>
            <a:off x="5098476" y="4118560"/>
            <a:ext cx="122320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3C492FA1-AA53-F14F-3D30-6F7AD4242BB7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6181776" y="4118560"/>
            <a:ext cx="122320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8ED22672-0B44-D4F8-66C7-BEB1E70E5B58}"/>
              </a:ext>
            </a:extLst>
          </p:cNvPr>
          <p:cNvCxnSpPr>
            <a:cxnSpLocks/>
            <a:stCxn id="22" idx="3"/>
            <a:endCxn id="23" idx="1"/>
          </p:cNvCxnSpPr>
          <p:nvPr/>
        </p:nvCxnSpPr>
        <p:spPr>
          <a:xfrm>
            <a:off x="7745566" y="3038360"/>
            <a:ext cx="122322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5" name="그룹 54">
            <a:extLst>
              <a:ext uri="{FF2B5EF4-FFF2-40B4-BE49-F238E27FC236}">
                <a16:creationId xmlns:a16="http://schemas.microsoft.com/office/drawing/2014/main" id="{9CF12920-B3FE-CFC6-7481-BB352BD5C08B}"/>
              </a:ext>
            </a:extLst>
          </p:cNvPr>
          <p:cNvGrpSpPr/>
          <p:nvPr/>
        </p:nvGrpSpPr>
        <p:grpSpPr>
          <a:xfrm>
            <a:off x="497470" y="5110519"/>
            <a:ext cx="2603758" cy="252002"/>
            <a:chOff x="497470" y="2385423"/>
            <a:chExt cx="2603758" cy="224288"/>
          </a:xfrm>
        </p:grpSpPr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FE2A1AED-B3C5-B121-A5B5-2B2FFE65F80F}"/>
                </a:ext>
              </a:extLst>
            </p:cNvPr>
            <p:cNvSpPr/>
            <p:nvPr/>
          </p:nvSpPr>
          <p:spPr>
            <a:xfrm>
              <a:off x="497470" y="2385423"/>
              <a:ext cx="99172" cy="224286"/>
            </a:xfrm>
            <a:prstGeom prst="rect">
              <a:avLst/>
            </a:prstGeom>
            <a:solidFill>
              <a:srgbClr val="25537D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57" name="직사각형 56">
              <a:extLst>
                <a:ext uri="{FF2B5EF4-FFF2-40B4-BE49-F238E27FC236}">
                  <a16:creationId xmlns:a16="http://schemas.microsoft.com/office/drawing/2014/main" id="{699180A7-5207-5C31-3FC5-8A3B5755C742}"/>
                </a:ext>
              </a:extLst>
            </p:cNvPr>
            <p:cNvSpPr/>
            <p:nvPr/>
          </p:nvSpPr>
          <p:spPr>
            <a:xfrm>
              <a:off x="497470" y="2385425"/>
              <a:ext cx="2603758" cy="22428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180000" rtlCol="0" anchor="ctr"/>
            <a:lstStyle/>
            <a:p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>인용 검증 실패 시 처리 (예외 경로)</a:t>
              </a:r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ko-KR" altLang="en-US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r>
                <a:rPr lang="en-US" altLang="ko-KR" sz="1000" b="1" dirty="0">
                  <a:solidFill>
                    <a:schemeClr val="tx1"/>
                  </a:solidFill>
                  <a:latin typeface="+mj-ea"/>
                  <a:ea typeface="+mj-ea"/>
                </a:rPr>
                <a:t/>
              </a:r>
              <a:endParaRPr lang="ko-KR" altLang="en-US" sz="1000" b="1" dirty="0">
                <a:solidFill>
                  <a:schemeClr val="tx1"/>
                </a:solidFill>
                <a:latin typeface="+mj-ea"/>
                <a:ea typeface="+mj-ea"/>
              </a:endParaRPr>
            </a:p>
          </p:txBody>
        </p:sp>
      </p:grpSp>
      <p:sp>
        <p:nvSpPr>
          <p:cNvPr id="58" name="Shape 623">
            <a:extLst>
              <a:ext uri="{FF2B5EF4-FFF2-40B4-BE49-F238E27FC236}">
                <a16:creationId xmlns:a16="http://schemas.microsoft.com/office/drawing/2014/main" id="{72315180-EBBE-551E-8E2C-D8E8071FF993}"/>
              </a:ext>
            </a:extLst>
          </p:cNvPr>
          <p:cNvSpPr/>
          <p:nvPr/>
        </p:nvSpPr>
        <p:spPr>
          <a:xfrm>
            <a:off x="600746" y="5423820"/>
            <a:ext cx="1911800" cy="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[[CITE:id]] 발견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>검색되지 않은 id 참조</a:t>
            </a:r>
          </a:p>
        </p:txBody>
      </p:sp>
      <p:sp>
        <p:nvSpPr>
          <p:cNvPr id="59" name="Shape 624">
            <a:extLst>
              <a:ext uri="{FF2B5EF4-FFF2-40B4-BE49-F238E27FC236}">
                <a16:creationId xmlns:a16="http://schemas.microsoft.com/office/drawing/2014/main" id="{393C43CF-AB08-F0D0-55CF-1D9927797C51}"/>
              </a:ext>
            </a:extLst>
          </p:cNvPr>
          <p:cNvSpPr/>
          <p:nvPr/>
        </p:nvSpPr>
        <p:spPr>
          <a:xfrm>
            <a:off x="2906121" y="5423820"/>
            <a:ext cx="1911800" cy="700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9525">
            <a:solidFill>
              <a:srgbClr val="C55A11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843C0C"/>
                </a:solidFill>
                <a:latin typeface="+mn-ea"/>
                <a:ea typeface="+mn-ea"/>
              </a:rPr>
              <a:t>즉시 무효 처리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843C0C"/>
                </a:solidFill>
                <a:latin typeface="+mn-ea"/>
                <a:ea typeface="+mn-ea"/>
              </a:rPr>
              <a:t>retrieved_ids와 대조 후 판정</a:t>
            </a:r>
          </a:p>
        </p:txBody>
      </p:sp>
      <p:sp>
        <p:nvSpPr>
          <p:cNvPr id="60" name="Shape 625">
            <a:extLst>
              <a:ext uri="{FF2B5EF4-FFF2-40B4-BE49-F238E27FC236}">
                <a16:creationId xmlns:a16="http://schemas.microsoft.com/office/drawing/2014/main" id="{E95FCC95-1FB4-7CF3-0293-FA512E0F53E3}"/>
              </a:ext>
            </a:extLst>
          </p:cNvPr>
          <p:cNvSpPr/>
          <p:nvPr/>
        </p:nvSpPr>
        <p:spPr>
          <a:xfrm>
            <a:off x="5211496" y="5423820"/>
            <a:ext cx="1911800" cy="7000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9525">
            <a:solidFill>
              <a:srgbClr val="C55A11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843C0C"/>
                </a:solidFill>
                <a:latin typeface="+mn-ea"/>
                <a:ea typeface="+mn-ea"/>
              </a:rPr>
              <a:t>[출처 미확인]으로 치환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843C0C"/>
                </a:solidFill>
                <a:latin typeface="+mn-ea"/>
                <a:ea typeface="+mn-ea"/>
              </a:rPr>
              <a:t>삭제·묵인 대신 명시 표기</a:t>
            </a:r>
          </a:p>
        </p:txBody>
      </p:sp>
      <p:sp>
        <p:nvSpPr>
          <p:cNvPr id="61" name="Shape 623">
            <a:extLst>
              <a:ext uri="{FF2B5EF4-FFF2-40B4-BE49-F238E27FC236}">
                <a16:creationId xmlns:a16="http://schemas.microsoft.com/office/drawing/2014/main" id="{C0557574-5D0D-3708-0296-A49E9ABF2953}"/>
              </a:ext>
            </a:extLst>
          </p:cNvPr>
          <p:cNvSpPr/>
          <p:nvPr/>
        </p:nvSpPr>
        <p:spPr>
          <a:xfrm>
            <a:off x="7516871" y="5423820"/>
            <a:ext cx="1911800" cy="700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25537D"/>
            </a:solidFill>
          </a:ln>
        </p:spPr>
        <p:txBody>
          <a:bodyPr wrap="square" lIns="45000" tIns="27000" rIns="45000" bIns="27000" rtlCol="0" anchor="ctr"/>
          <a:lstStyle/>
          <a:p>
            <a:pPr algn="ctr">
              <a:spcBef>
                <a:spcPts val="600"/>
              </a:spcBef>
            </a:pPr>
            <a:r>
              <a:rPr lang="ko-KR" altLang="en-US" sz="900" b="1" spc="-60" dirty="0">
                <a:solidFill>
                  <a:srgbClr val="25537D"/>
                </a:solidFill>
                <a:latin typeface="+mn-ea"/>
                <a:ea typeface="+mn-ea"/>
              </a:rPr>
              <a:t>거부 이력 기록</a:t>
            </a:r>
          </a:p>
          <a:p>
            <a:pPr algn="ctr">
              <a:spcBef>
                <a:spcPts val="600"/>
              </a:spcBef>
            </a:pPr>
            <a:r>
              <a:rPr lang="ko-KR" altLang="en-US" sz="800" spc="-60" dirty="0">
                <a:solidFill>
                  <a:srgbClr val="404040"/>
                </a:solidFill>
                <a:latin typeface="+mn-ea"/>
                <a:ea typeface="+mn-ea"/>
              </a:rPr>
              <a:t>rejected_citations → 감사로그</a:t>
            </a:r>
            <a:r>
              <a:rPr lang="en-US" altLang="ko-KR" sz="800" spc="-60" dirty="0">
                <a:solidFill>
                  <a:srgbClr val="404040"/>
                </a:solidFill>
                <a:latin typeface="+mn-ea"/>
                <a:ea typeface="+mn-ea"/>
              </a:rPr>
              <a:t/>
            </a:r>
            <a:endParaRPr lang="ko-KR" altLang="en-US" sz="800" spc="-60" dirty="0">
              <a:solidFill>
                <a:srgbClr val="404040"/>
              </a:solidFill>
              <a:latin typeface="+mn-ea"/>
              <a:ea typeface="+mn-ea"/>
            </a:endParaRPr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667F3A51-FAD0-DD62-641D-E7C4811E1B4C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>
            <a:off x="2512546" y="5773820"/>
            <a:ext cx="393575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7E5EA2A7-FBA2-5E28-515A-3C94D36C8BBE}"/>
              </a:ext>
            </a:extLst>
          </p:cNvPr>
          <p:cNvCxnSpPr>
            <a:cxnSpLocks/>
            <a:stCxn id="59" idx="3"/>
            <a:endCxn id="60" idx="1"/>
          </p:cNvCxnSpPr>
          <p:nvPr/>
        </p:nvCxnSpPr>
        <p:spPr>
          <a:xfrm>
            <a:off x="4817921" y="5773820"/>
            <a:ext cx="393575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직선 화살표 연결선 67">
            <a:extLst>
              <a:ext uri="{FF2B5EF4-FFF2-40B4-BE49-F238E27FC236}">
                <a16:creationId xmlns:a16="http://schemas.microsoft.com/office/drawing/2014/main" id="{07F5EC45-0DDF-24FE-0235-9563ED1D6EF3}"/>
              </a:ext>
            </a:extLst>
          </p:cNvPr>
          <p:cNvCxnSpPr>
            <a:cxnSpLocks/>
            <a:stCxn id="60" idx="3"/>
            <a:endCxn id="61" idx="1"/>
          </p:cNvCxnSpPr>
          <p:nvPr/>
        </p:nvCxnSpPr>
        <p:spPr>
          <a:xfrm>
            <a:off x="7123296" y="5773820"/>
            <a:ext cx="393575" cy="0"/>
          </a:xfrm>
          <a:prstGeom prst="straightConnector1">
            <a:avLst/>
          </a:prstGeom>
          <a:ln w="12700">
            <a:solidFill>
              <a:srgbClr val="25537D"/>
            </a:solidFill>
            <a:headEnd w="med" len="med"/>
            <a:tailEnd type="triangle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extBox 620">
            <a:extLst>
              <a:ext uri="{FF2B5EF4-FFF2-40B4-BE49-F238E27FC236}">
                <a16:creationId xmlns:a16="http://schemas.microsoft.com/office/drawing/2014/main" id="{4956EA69-9D79-090D-9FF0-1BACA3BB71BE}"/>
              </a:ext>
            </a:extLst>
          </p:cNvPr>
          <p:cNvSpPr txBox="1"/>
          <p:nvPr/>
        </p:nvSpPr>
        <p:spPr>
          <a:xfrm>
            <a:off x="643476" y="4620567"/>
            <a:ext cx="8910000" cy="2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l">
              <a:spcBef>
                <a:spcPts val="300"/>
              </a:spcBef>
            </a:pP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>※ dept는 세션의 SessionContext에서만 파생되며 요청 전 구간에서 고정됨</a:t>
            </a:r>
            <a:r>
              <a:rPr lang="en-US" altLang="ko-KR" sz="800" spc="-40" dirty="0">
                <a:solidFill>
                  <a:srgbClr val="595959"/>
                </a:solidFill>
                <a:latin typeface="+mn-ea"/>
                <a:ea typeface="+mn-ea"/>
              </a:rPr>
              <a:t/>
            </a: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/>
            </a:r>
            <a:r>
              <a:rPr lang="ko-KR" altLang="en-US" sz="800" spc="-40" dirty="0">
                <a:solidFill>
                  <a:srgbClr val="595959"/>
                </a:solidFill>
                <a:latin typeface="+mn-ea"/>
              </a:rPr>
              <a:t/>
            </a: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/>
            </a:r>
            <a:endParaRPr lang="en-US" altLang="ko-KR" sz="800" spc="-40" dirty="0">
              <a:solidFill>
                <a:srgbClr val="595959"/>
              </a:solidFill>
              <a:latin typeface="+mn-ea"/>
            </a:endParaRPr>
          </a:p>
        </p:txBody>
      </p:sp>
      <p:cxnSp>
        <p:nvCxnSpPr>
          <p:cNvPr id="73" name="연결선: 꺾임 72">
            <a:extLst>
              <a:ext uri="{FF2B5EF4-FFF2-40B4-BE49-F238E27FC236}">
                <a16:creationId xmlns:a16="http://schemas.microsoft.com/office/drawing/2014/main" id="{F4BCD4EA-6454-0CE4-F1CD-813F4179D3E4}"/>
              </a:ext>
            </a:extLst>
          </p:cNvPr>
          <p:cNvCxnSpPr>
            <a:stCxn id="12" idx="2"/>
            <a:endCxn id="14" idx="0"/>
          </p:cNvCxnSpPr>
          <p:nvPr/>
        </p:nvCxnSpPr>
        <p:spPr>
          <a:xfrm rot="16200000" flipH="1">
            <a:off x="4237641" y="3338215"/>
            <a:ext cx="280200" cy="480490"/>
          </a:xfrm>
          <a:prstGeom prst="bentConnector3">
            <a:avLst/>
          </a:prstGeom>
          <a:ln w="12700">
            <a:solidFill>
              <a:srgbClr val="2553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연결선: 꺾임 73">
            <a:extLst>
              <a:ext uri="{FF2B5EF4-FFF2-40B4-BE49-F238E27FC236}">
                <a16:creationId xmlns:a16="http://schemas.microsoft.com/office/drawing/2014/main" id="{C3074057-45C6-6F8F-F5BC-5A0B24F418E2}"/>
              </a:ext>
            </a:extLst>
          </p:cNvPr>
          <p:cNvCxnSpPr>
            <a:cxnSpLocks/>
            <a:stCxn id="23" idx="2"/>
            <a:endCxn id="19" idx="0"/>
          </p:cNvCxnSpPr>
          <p:nvPr/>
        </p:nvCxnSpPr>
        <p:spPr>
          <a:xfrm rot="16200000" flipH="1">
            <a:off x="8448523" y="3338215"/>
            <a:ext cx="280200" cy="480490"/>
          </a:xfrm>
          <a:prstGeom prst="bentConnector3">
            <a:avLst>
              <a:gd name="adj1" fmla="val 50000"/>
            </a:avLst>
          </a:prstGeom>
          <a:ln w="12700">
            <a:solidFill>
              <a:srgbClr val="2553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연결선: 꺾임 77">
            <a:extLst>
              <a:ext uri="{FF2B5EF4-FFF2-40B4-BE49-F238E27FC236}">
                <a16:creationId xmlns:a16="http://schemas.microsoft.com/office/drawing/2014/main" id="{C6870B99-4C7C-50F1-1978-DC333DC384D1}"/>
              </a:ext>
            </a:extLst>
          </p:cNvPr>
          <p:cNvCxnSpPr>
            <a:cxnSpLocks/>
            <a:stCxn id="16" idx="0"/>
            <a:endCxn id="22" idx="2"/>
          </p:cNvCxnSpPr>
          <p:nvPr/>
        </p:nvCxnSpPr>
        <p:spPr>
          <a:xfrm rot="5400000" flipH="1" flipV="1">
            <a:off x="6884731" y="3338215"/>
            <a:ext cx="280200" cy="480490"/>
          </a:xfrm>
          <a:prstGeom prst="bentConnector3">
            <a:avLst>
              <a:gd name="adj1" fmla="val 50000"/>
            </a:avLst>
          </a:prstGeom>
          <a:ln w="12700">
            <a:solidFill>
              <a:srgbClr val="25537D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620">
            <a:extLst>
              <a:ext uri="{FF2B5EF4-FFF2-40B4-BE49-F238E27FC236}">
                <a16:creationId xmlns:a16="http://schemas.microsoft.com/office/drawing/2014/main" id="{C0A5CB9E-E147-5FAC-3E06-6F5C32028C3C}"/>
              </a:ext>
            </a:extLst>
          </p:cNvPr>
          <p:cNvSpPr txBox="1"/>
          <p:nvPr/>
        </p:nvSpPr>
        <p:spPr>
          <a:xfrm>
            <a:off x="4561395" y="3339787"/>
            <a:ext cx="906626" cy="364316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spcBef>
                <a:spcPts val="300"/>
              </a:spcBef>
            </a:pPr>
            <a:r>
              <a:rPr lang="en-US" altLang="ko-KR" sz="800" spc="-40" dirty="0">
                <a:solidFill>
                  <a:srgbClr val="595959"/>
                </a:solidFill>
                <a:latin typeface="+mn-ea"/>
                <a:ea typeface="+mn-ea"/>
              </a:rPr>
              <a:t>SessionContext 기반</a:t>
            </a:r>
            <a:r>
              <a:rPr lang="ko-KR" altLang="en-US" sz="800" spc="-40" dirty="0">
                <a:solidFill>
                  <a:srgbClr val="595959"/>
                </a:solidFill>
                <a:latin typeface="+mn-ea"/>
                <a:ea typeface="+mn-ea"/>
              </a:rPr>
              <a:t/>
            </a:r>
            <a:endParaRPr lang="en-US" altLang="ko-KR" sz="800" spc="-40" dirty="0">
              <a:solidFill>
                <a:srgbClr val="595959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49430716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IZE" val="Yes"/>
  <p:tag name="NAME" val="McK Disclaimer"/>
  <p:tag name="LLEFT" val=" 278.125"/>
  <p:tag name="LTOP" val=" 512"/>
</p:tagLst>
</file>

<file path=ppt/theme/theme1.xml><?xml version="1.0" encoding="utf-8"?>
<a:theme xmlns:a="http://schemas.openxmlformats.org/drawingml/2006/main" name="1_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163850</TotalTime>
  <Words>1858</Words>
  <Application>Microsoft Office PowerPoint</Application>
  <PresentationFormat>A4 용지(210x297mm)</PresentationFormat>
  <Paragraphs>353</Paragraphs>
  <Slides>11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9" baseType="lpstr">
      <vt:lpstr>HY견고딕</vt:lpstr>
      <vt:lpstr>HY헤드라인M</vt:lpstr>
      <vt:lpstr>맑은 고딕</vt:lpstr>
      <vt:lpstr>Arial</vt:lpstr>
      <vt:lpstr>Calibri</vt:lpstr>
      <vt:lpstr>Calibri Light</vt:lpstr>
      <vt:lpstr>Wingdings</vt:lpstr>
      <vt:lpstr>1_Office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1</dc:creator>
  <cp:lastModifiedBy>최승범/디지털혁신실/한국투자금융지주/인터넷</cp:lastModifiedBy>
  <cp:revision>6325</cp:revision>
  <cp:lastPrinted>2026-08-06T05:06:39Z</cp:lastPrinted>
  <dcterms:created xsi:type="dcterms:W3CDTF">2020-01-09T02:07:00Z</dcterms:created>
  <dcterms:modified xsi:type="dcterms:W3CDTF">2026-08-06T08:01:54Z</dcterms:modified>
</cp:coreProperties>
</file>