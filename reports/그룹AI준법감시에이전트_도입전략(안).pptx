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51" r:id="rId1"/>
  </p:sldMasterIdLst>
  <p:notesMasterIdLst>
    <p:notesMasterId r:id="rId13"/>
  </p:notesMasterIdLst>
  <p:sldIdLst>
    <p:sldId id="1001" r:id="rId2"/>
    <p:sldId id="1142" r:id="rId3"/>
    <p:sldId id="1144" r:id="rId4"/>
    <p:sldId id="1151" r:id="rId5"/>
    <p:sldId id="1140" r:id="rId6"/>
    <p:sldId id="1149" r:id="rId7"/>
    <p:sldId id="1145" r:id="rId8"/>
    <p:sldId id="1146" r:id="rId9"/>
    <p:sldId id="1147" r:id="rId10"/>
    <p:sldId id="1150" r:id="rId11"/>
    <p:sldId id="1148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14F7756-15C9-46F9-9BCF-52A6B0FFAB87}">
          <p14:sldIdLst>
            <p14:sldId id="1001"/>
            <p14:sldId id="1142"/>
            <p14:sldId id="1144"/>
            <p14:sldId id="1151"/>
            <p14:sldId id="1140"/>
            <p14:sldId id="1149"/>
            <p14:sldId id="1145"/>
            <p14:sldId id="1146"/>
            <p14:sldId id="1147"/>
            <p14:sldId id="1150"/>
            <p14:sldId id="11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4526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종훈선" initials="종" lastIdx="1" clrIdx="0">
    <p:extLst>
      <p:ext uri="{19B8F6BF-5375-455C-9EA6-DF929625EA0E}">
        <p15:presenceInfo xmlns:p15="http://schemas.microsoft.com/office/powerpoint/2012/main" userId="종훈선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6A99"/>
    <a:srgbClr val="91C2E3"/>
    <a:srgbClr val="4489C8"/>
    <a:srgbClr val="25537D"/>
    <a:srgbClr val="E5EEF7"/>
    <a:srgbClr val="D5E5F3"/>
    <a:srgbClr val="C7DCEF"/>
    <a:srgbClr val="8BB6DD"/>
    <a:srgbClr val="F9E0C2"/>
    <a:srgbClr val="FBC8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" autoAdjust="0"/>
    <p:restoredTop sz="96391" autoAdjust="0"/>
  </p:normalViewPr>
  <p:slideViewPr>
    <p:cSldViewPr snapToGrid="0">
      <p:cViewPr>
        <p:scale>
          <a:sx n="134" d="100"/>
          <a:sy n="134" d="100"/>
        </p:scale>
        <p:origin x="198" y="-288"/>
      </p:cViewPr>
      <p:guideLst>
        <p:guide orient="horz" pos="1344"/>
        <p:guide pos="4526"/>
        <p:guide orient="horz" pos="39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E0484850-282F-4E65-89EB-0E221750C5B1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821A4ED2-DCDA-4AEB-8065-F0D2AF71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71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677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478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538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420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533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683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506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645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445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157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94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13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19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27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3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49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04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373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26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84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113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.표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-1587" y="0"/>
            <a:ext cx="990758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00" y="504000"/>
            <a:ext cx="2222149" cy="266701"/>
          </a:xfrm>
          <a:prstGeom prst="rect">
            <a:avLst/>
          </a:prstGeom>
        </p:spPr>
      </p:pic>
      <p:sp>
        <p:nvSpPr>
          <p:cNvPr id="6" name="McK Disclaimer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1187295" y="6240953"/>
            <a:ext cx="6572288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l" defTabSz="1109663" latinLnBrk="0">
              <a:defRPr/>
            </a:pPr>
            <a:r>
              <a:rPr lang="ko-KR" altLang="en-US" sz="1000" b="1" dirty="0">
                <a:solidFill>
                  <a:schemeClr val="accent2"/>
                </a:solidFill>
                <a:latin typeface="+mn-ea"/>
                <a:ea typeface="+mn-ea"/>
              </a:rPr>
              <a:t>본 문서는 금융지주회사의 비공개 문서로 사전 승인 없이 외부에 일부 또는 전면 배포하는 것을 금합니다.</a:t>
            </a:r>
            <a:endParaRPr lang="en-US" altLang="ko-KR" sz="1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8322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.간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907587" cy="686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2726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48793" y="741728"/>
            <a:ext cx="9000000" cy="534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48793" y="6453807"/>
            <a:ext cx="9000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14488" y="6451483"/>
            <a:ext cx="518983" cy="307124"/>
          </a:xfrm>
          <a:prstGeom prst="rect">
            <a:avLst/>
          </a:prstGeom>
        </p:spPr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508800"/>
            <a:ext cx="1587249" cy="19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78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48793" y="741728"/>
            <a:ext cx="9000000" cy="534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48793" y="6453807"/>
            <a:ext cx="9000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14488" y="6451483"/>
            <a:ext cx="518983" cy="307124"/>
          </a:xfrm>
          <a:prstGeom prst="rect">
            <a:avLst/>
          </a:prstGeom>
        </p:spPr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508800"/>
            <a:ext cx="1587249" cy="19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5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113591" y="6502758"/>
            <a:ext cx="518983" cy="3071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1D058E-922D-4DA1-A710-208A4D86ABFE}" type="slidenum">
              <a:rPr lang="ko-KR" altLang="en-US" sz="1100" b="1" i="1" smtClean="0"/>
              <a:pPr/>
              <a:t>‹#›</a:t>
            </a:fld>
            <a:endParaRPr lang="ko-KR" altLang="en-US" sz="1100" b="1" i="1"/>
          </a:p>
        </p:txBody>
      </p:sp>
    </p:spTree>
    <p:extLst>
      <p:ext uri="{BB962C8B-B14F-4D97-AF65-F5344CB8AC3E}">
        <p14:creationId xmlns:p14="http://schemas.microsoft.com/office/powerpoint/2010/main" val="281012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  <p:sldLayoutId id="2147484059" r:id="rId8"/>
    <p:sldLayoutId id="2147484060" r:id="rId9"/>
    <p:sldLayoutId id="2147484061" r:id="rId10"/>
    <p:sldLayoutId id="2147484062" r:id="rId11"/>
    <p:sldLayoutId id="2147484094" r:id="rId12"/>
    <p:sldLayoutId id="2147484093" r:id="rId13"/>
    <p:sldLayoutId id="2147484064" r:id="rId14"/>
    <p:sldLayoutId id="2147484092" r:id="rId15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852807" y="1383178"/>
            <a:ext cx="542442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그룹 AI 준법감시 에이전트</a:t>
            </a:r>
            <a:endParaRPr lang="en-US" altLang="ko-KR" sz="2000" spc="-6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도입 전략</a:t>
            </a:r>
            <a:r>
              <a:rPr lang="ko-KR" altLang="en-US" sz="2000" spc="-60" dirty="0" err="1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/>
            </a:r>
            <a:r>
              <a:rPr lang="ko-KR" altLang="en-US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/>
            </a:r>
            <a:r>
              <a:rPr lang="en-US" altLang="ko-KR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안</a:t>
            </a:r>
            <a:r>
              <a:rPr lang="en-US" altLang="ko-KR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endParaRPr lang="en-US" altLang="ko-KR" sz="1200" spc="-6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cxnSp>
        <p:nvCxnSpPr>
          <p:cNvPr id="3" name="직선 연결선 2"/>
          <p:cNvCxnSpPr>
            <a:cxnSpLocks/>
          </p:cNvCxnSpPr>
          <p:nvPr/>
        </p:nvCxnSpPr>
        <p:spPr>
          <a:xfrm>
            <a:off x="822613" y="2284859"/>
            <a:ext cx="5454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Group 39">
            <a:extLst>
              <a:ext uri="{FF2B5EF4-FFF2-40B4-BE49-F238E27FC236}">
                <a16:creationId xmlns:a16="http://schemas.microsoft.com/office/drawing/2014/main" id="{83A37716-2CA7-4268-A046-3344E7042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770143"/>
              </p:ext>
            </p:extLst>
          </p:nvPr>
        </p:nvGraphicFramePr>
        <p:xfrm>
          <a:off x="6906986" y="5036656"/>
          <a:ext cx="2745341" cy="972000"/>
        </p:xfrm>
        <a:graphic>
          <a:graphicData uri="http://schemas.openxmlformats.org/drawingml/2006/table">
            <a:tbl>
              <a:tblPr/>
              <a:tblGrid>
                <a:gridCol w="729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보고일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08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보고자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14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CB8C5D42-4F98-71E4-2555-386E05B4C351}"/>
              </a:ext>
            </a:extLst>
          </p:cNvPr>
          <p:cNvSpPr/>
          <p:nvPr/>
        </p:nvSpPr>
        <p:spPr>
          <a:xfrm rot="16200000">
            <a:off x="560710" y="5560072"/>
            <a:ext cx="764341" cy="583125"/>
          </a:xfrm>
          <a:prstGeom prst="round2SameRect">
            <a:avLst/>
          </a:prstGeom>
          <a:solidFill>
            <a:srgbClr val="25537D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ko-KR" altLang="en-US" sz="1200" b="1" spc="-60" dirty="0">
                <a:solidFill>
                  <a:schemeClr val="bg1"/>
                </a:solidFill>
              </a:rPr>
              <a:t>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개요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그룹 AI 준법감시 에이전트 도입 검토 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책무구조도 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시행에 따른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 임원 개인책임 강화로</a:t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실효성 있는 통제 도구 도입 필요</a:t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2025년 대형 금융회사부터 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책무구조도가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본격 시행되어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대표이사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·임원이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내부통제 관리의무를 법적으로 부담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준법감시인력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부족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낮은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직급 배치 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등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기존 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내부통제 구조의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한계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가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지속 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지적되어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생산성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도구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도입이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시급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5D334CD-7A18-6212-7490-E8461FE27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924586"/>
              </p:ext>
            </p:extLst>
          </p:nvPr>
        </p:nvGraphicFramePr>
        <p:xfrm>
          <a:off x="1234442" y="5469467"/>
          <a:ext cx="8020239" cy="76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3413">
                  <a:extLst>
                    <a:ext uri="{9D8B030D-6E8A-4147-A177-3AD203B41FA5}">
                      <a16:colId xmlns:a16="http://schemas.microsoft.com/office/drawing/2014/main" val="2915935000"/>
                    </a:ext>
                  </a:extLst>
                </a:gridCol>
                <a:gridCol w="2673413">
                  <a:extLst>
                    <a:ext uri="{9D8B030D-6E8A-4147-A177-3AD203B41FA5}">
                      <a16:colId xmlns:a16="http://schemas.microsoft.com/office/drawing/2014/main" val="183763676"/>
                    </a:ext>
                  </a:extLst>
                </a:gridCol>
                <a:gridCol w="2673413">
                  <a:extLst>
                    <a:ext uri="{9D8B030D-6E8A-4147-A177-3AD203B41FA5}">
                      <a16:colId xmlns:a16="http://schemas.microsoft.com/office/drawing/2014/main" val="963088296"/>
                    </a:ext>
                  </a:extLst>
                </a:gridCol>
              </a:tblGrid>
              <a:tr h="76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임원 개인책임 리스크</a:t>
                      </a:r>
                      <a:endParaRPr lang="en-US" altLang="ko-KR" sz="1050" b="1" spc="-60" baseline="0" dirty="0">
                        <a:solidFill>
                          <a:srgbClr val="25537D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완화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준법감시 인력</a:t>
                      </a:r>
                      <a:endParaRPr lang="en-US" altLang="ko-KR" sz="1050" b="1" spc="-60" baseline="0" dirty="0">
                        <a:solidFill>
                          <a:srgbClr val="25537D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생산성 제고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규제기관</a:t>
                      </a:r>
                      <a:r>
                        <a:rPr lang="en-US" altLang="ko-KR" sz="1050" b="1" spc="-60" baseline="0" dirty="0">
                          <a:solidFill>
                            <a:srgbClr val="25537D"/>
                          </a:solidFill>
                        </a:rPr>
                        <a:t> </a:t>
                      </a:r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현장점검 등</a:t>
                      </a:r>
                      <a:endParaRPr lang="en-US" altLang="ko-KR" sz="1050" b="1" spc="-60" baseline="0" dirty="0">
                        <a:solidFill>
                          <a:srgbClr val="25537D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60" baseline="0" dirty="0" err="1">
                          <a:solidFill>
                            <a:srgbClr val="25537D"/>
                          </a:solidFill>
                        </a:rPr>
                        <a:t>대응력</a:t>
                      </a:r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 강화 및 </a:t>
                      </a:r>
                      <a:r>
                        <a:rPr lang="en-US" altLang="ko-KR" sz="1050" b="1" spc="-60" baseline="0" dirty="0">
                          <a:solidFill>
                            <a:srgbClr val="25537D"/>
                          </a:solidFill>
                        </a:rPr>
                        <a:t>Risk Zero</a:t>
                      </a:r>
                      <a:endParaRPr lang="ko-KR" altLang="en-US" sz="1050" b="1" spc="-60" baseline="0" dirty="0">
                        <a:solidFill>
                          <a:srgbClr val="25537D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13270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0BD8922B-96CC-970F-95F6-E28F858CF93D}"/>
              </a:ext>
            </a:extLst>
          </p:cNvPr>
          <p:cNvGrpSpPr/>
          <p:nvPr/>
        </p:nvGrpSpPr>
        <p:grpSpPr>
          <a:xfrm>
            <a:off x="497470" y="2212843"/>
            <a:ext cx="2603758" cy="252000"/>
            <a:chOff x="497470" y="2385423"/>
            <a:chExt cx="2603758" cy="22428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83C1703-5D03-C7C7-8A03-8A90AECC7A36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F9A6FB2-64B9-92D0-1D9A-988F54173E67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도입 배경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D41FAFF-D9B6-1C93-2EF2-F40970D94950}"/>
              </a:ext>
            </a:extLst>
          </p:cNvPr>
          <p:cNvGrpSpPr/>
          <p:nvPr/>
        </p:nvGrpSpPr>
        <p:grpSpPr>
          <a:xfrm>
            <a:off x="5179536" y="2212843"/>
            <a:ext cx="2603758" cy="252000"/>
            <a:chOff x="497470" y="2385423"/>
            <a:chExt cx="2603758" cy="22428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1FE016D-BCDF-3DAD-ACDB-3E064C4411A5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8267D91-64E5-4E60-A6E6-E494F24E1849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기존 </a:t>
              </a:r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>내부통제의 </a:t>
              </a:r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구조적 한계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837D65-99C5-67EC-EE36-7080304D472A}"/>
              </a:ext>
            </a:extLst>
          </p:cNvPr>
          <p:cNvSpPr/>
          <p:nvPr/>
        </p:nvSpPr>
        <p:spPr>
          <a:xfrm>
            <a:off x="596642" y="2625089"/>
            <a:ext cx="3844482" cy="735754"/>
          </a:xfrm>
          <a:prstGeom prst="roundRect">
            <a:avLst/>
          </a:prstGeom>
          <a:solidFill>
            <a:schemeClr val="bg1"/>
          </a:solidFill>
          <a:ln>
            <a:solidFill>
              <a:srgbClr val="25537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책무구조도 시행(2025)</a:t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   대표이사 총괄관리의무, 이사회 보고의무 등 위반 시 신분제재 대상</a:t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E301A41-492E-AF9A-7AC5-FAB4B13F68A8}"/>
              </a:ext>
            </a:extLst>
          </p:cNvPr>
          <p:cNvSpPr/>
          <p:nvPr/>
        </p:nvSpPr>
        <p:spPr>
          <a:xfrm>
            <a:off x="596642" y="3543461"/>
            <a:ext cx="3844482" cy="735754"/>
          </a:xfrm>
          <a:prstGeom prst="roundRect">
            <a:avLst/>
          </a:prstGeom>
          <a:solidFill>
            <a:schemeClr val="bg1"/>
          </a:solidFill>
          <a:ln>
            <a:solidFill>
              <a:srgbClr val="25537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준법감시 </a:t>
            </a:r>
            <a:r>
              <a:rPr lang="en-US" altLang="ko-KR" sz="1000" b="1" spc="-60" dirty="0">
                <a:solidFill>
                  <a:srgbClr val="25537D"/>
                </a:solidFill>
                <a:latin typeface="+mj-ea"/>
                <a:ea typeface="+mj-ea"/>
              </a:rPr>
              <a:t>인력구조 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한계</a:t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   인력 부족, </a:t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낮은 직급 배치로 </a:t>
            </a:r>
            <a:r>
              <a:rPr lang="ko-KR" altLang="en-US" sz="900" spc="-6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통제 실효성 저하</a:t>
            </a:r>
            <a:r>
              <a:rPr lang="en-US" altLang="ko-KR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B33E13-6064-B15C-6870-A1688EB54CBA}"/>
              </a:ext>
            </a:extLst>
          </p:cNvPr>
          <p:cNvSpPr/>
          <p:nvPr/>
        </p:nvSpPr>
        <p:spPr>
          <a:xfrm>
            <a:off x="596642" y="4461832"/>
            <a:ext cx="3844482" cy="735754"/>
          </a:xfrm>
          <a:prstGeom prst="roundRect">
            <a:avLst/>
          </a:prstGeom>
          <a:solidFill>
            <a:schemeClr val="bg1"/>
          </a:solidFill>
          <a:ln>
            <a:solidFill>
              <a:srgbClr val="25537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AI 활용 이미 확산 중</a:t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   신용평가·이상거래탐지(FDS)에 이어 </a:t>
            </a:r>
            <a:r>
              <a:rPr lang="ko-KR" altLang="en-US" sz="900" spc="-60" dirty="0" err="1">
                <a:solidFill>
                  <a:schemeClr val="tx1"/>
                </a:solidFill>
                <a:latin typeface="+mj-ea"/>
                <a:ea typeface="+mj-ea"/>
              </a:rPr>
              <a:t>준법감시까지 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AI 적용 확대</a:t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6EF8D66-CEDC-BD16-26F7-8A826D4FE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471283"/>
              </p:ext>
            </p:extLst>
          </p:nvPr>
        </p:nvGraphicFramePr>
        <p:xfrm>
          <a:off x="5278708" y="2625089"/>
          <a:ext cx="3975972" cy="25724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846">
                  <a:extLst>
                    <a:ext uri="{9D8B030D-6E8A-4147-A177-3AD203B41FA5}">
                      <a16:colId xmlns:a16="http://schemas.microsoft.com/office/drawing/2014/main" val="1267782827"/>
                    </a:ext>
                  </a:extLst>
                </a:gridCol>
                <a:gridCol w="992846">
                  <a:extLst>
                    <a:ext uri="{9D8B030D-6E8A-4147-A177-3AD203B41FA5}">
                      <a16:colId xmlns:a16="http://schemas.microsoft.com/office/drawing/2014/main" val="2352495377"/>
                    </a:ext>
                  </a:extLst>
                </a:gridCol>
                <a:gridCol w="1990280">
                  <a:extLst>
                    <a:ext uri="{9D8B030D-6E8A-4147-A177-3AD203B41FA5}">
                      <a16:colId xmlns:a16="http://schemas.microsoft.com/office/drawing/2014/main" val="3719155391"/>
                    </a:ext>
                  </a:extLst>
                </a:gridCol>
              </a:tblGrid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영역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현재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AI 에이전트 도입 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27972"/>
                  </a:ext>
                </a:extLst>
              </a:tr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법령 대조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담당자 수작업 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질의 즉시 근거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728910"/>
                  </a:ext>
                </a:extLst>
              </a:tr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최신성 확인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개정 여부 개별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>시행령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포함 </a:t>
                      </a:r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>시계열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 자동 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994729"/>
                  </a:ext>
                </a:extLst>
              </a:tr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근거 문서화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사후 재구성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자동 감사기록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91847"/>
                  </a:ext>
                </a:extLst>
              </a:tr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부서간 정보차단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규정 숙지에 의존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>시스템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강제(RBAC)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566308"/>
                  </a:ext>
                </a:extLst>
              </a:tr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검사 대응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자료 취합에 수 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>즉시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추적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463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002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검토 방안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AI 준법감시 도입 방안 3가지를 비교한 결과, 자체 AI 에이전트 구축을 최적안으로 검토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상용 솔루션은 국내 규제 미반영으로 커스터마이징 비용이 과도하고, 외부 위탁은 노하우가 사내에 축적되지 않음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라이선스 없이 오픈소스 기반으로 구축하고, 국내 규제에 특화된 지식을 자체 보유하여 비용 절감과 통제권 확보를 동시에 달성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D5D3BAA-6CDB-115A-F566-AD5386825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773849"/>
              </p:ext>
            </p:extLst>
          </p:nvPr>
        </p:nvGraphicFramePr>
        <p:xfrm>
          <a:off x="663387" y="2089275"/>
          <a:ext cx="8588190" cy="3289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813">
                  <a:extLst>
                    <a:ext uri="{9D8B030D-6E8A-4147-A177-3AD203B41FA5}">
                      <a16:colId xmlns:a16="http://schemas.microsoft.com/office/drawing/2014/main" val="3402925023"/>
                    </a:ext>
                  </a:extLst>
                </a:gridCol>
                <a:gridCol w="2677459">
                  <a:extLst>
                    <a:ext uri="{9D8B030D-6E8A-4147-A177-3AD203B41FA5}">
                      <a16:colId xmlns:a16="http://schemas.microsoft.com/office/drawing/2014/main" val="3883543502"/>
                    </a:ext>
                  </a:extLst>
                </a:gridCol>
                <a:gridCol w="2677459">
                  <a:extLst>
                    <a:ext uri="{9D8B030D-6E8A-4147-A177-3AD203B41FA5}">
                      <a16:colId xmlns:a16="http://schemas.microsoft.com/office/drawing/2014/main" val="1307646088"/>
                    </a:ext>
                  </a:extLst>
                </a:gridCol>
                <a:gridCol w="2677459">
                  <a:extLst>
                    <a:ext uri="{9D8B030D-6E8A-4147-A177-3AD203B41FA5}">
                      <a16:colId xmlns:a16="http://schemas.microsoft.com/office/drawing/2014/main" val="40118162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상용 GRC 솔루션 도입</a:t>
                      </a:r>
                      <a:r>
                        <a:rPr lang="en-US" altLang="ko-KR" sz="1100" b="1" spc="-6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1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kern="1200" spc="-60" baseline="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외부 컨설팅·아웃소싱</a:t>
                      </a:r>
                      <a:r>
                        <a:rPr lang="en-US" altLang="ko-KR" sz="1100" b="1" spc="-6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endParaRPr lang="ko-KR" altLang="en-US" sz="11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en-US" altLang="ko-KR" sz="11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자체 AI 에이전트 구축</a:t>
                      </a:r>
                      <a:r>
                        <a:rPr lang="ko-KR" altLang="en-US" sz="1100" b="1" spc="-60" baseline="0" dirty="0" err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11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137543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spc="-60" baseline="0" dirty="0">
                          <a:latin typeface="+mj-ea"/>
                          <a:ea typeface="+mj-ea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해외·국내 RegTech 벤더의 기성 솔루션 라이선스 도입</a:t>
                      </a:r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준법감시 업무 전체를 외부 전문기관에 위탁</a:t>
                      </a:r>
                      <a:r>
                        <a:rPr lang="ko-KR" altLang="en-US" sz="1000" kern="1200" spc="-6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r>
                        <a:rPr lang="ko-KR" altLang="en-US" sz="1000" kern="1200" spc="-6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그래프+벡터 하이브리드 RAG</a:t>
                      </a:r>
                      <a:endParaRPr lang="en-US" altLang="ko-KR" sz="1000" kern="1200" spc="-6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71450" indent="-8255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맑은 고딕" panose="020B0503020000020004" pitchFamily="50" charset="-127"/>
                        <a:buChar char="–"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오픈소스 임베디드 스택 (무료)</a:t>
                      </a:r>
                      <a:r>
                        <a:rPr lang="en-US" altLang="ko-KR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endParaRPr lang="en-US" altLang="ko-KR" sz="1000" kern="1200" spc="-6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71450" indent="-8255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맑은 고딕" panose="020B0503020000020004" pitchFamily="50" charset="-127"/>
                        <a:buChar char="–"/>
                      </a:pPr>
                      <a:r>
                        <a:rPr lang="en-US" altLang="ko-KR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국내 규제 지식그래프 직접 보유</a:t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528579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spc="-60" baseline="0" dirty="0">
                          <a:latin typeface="+mj-ea"/>
                          <a:ea typeface="+mj-ea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검증된 솔루션, 빠른 도입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전문 인력의 즉시 투입</a:t>
                      </a:r>
                      <a:endParaRPr lang="en-US" altLang="ko-KR" sz="1000" kern="1200" spc="-6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초기 구축 부담 적음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라이선스 비용 없음</a:t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국내 규제 커스터마이징, 외부유출 리스크 없음</a:t>
                      </a:r>
                      <a:br>
                        <a:rPr lang="en-US" altLang="ko-KR" sz="1000" spc="-60" baseline="0" dirty="0">
                          <a:latin typeface="+mj-ea"/>
                          <a:ea typeface="+mj-ea"/>
                        </a:rPr>
                      </a:b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917456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spc="-60" baseline="0" dirty="0">
                          <a:latin typeface="+mj-ea"/>
                          <a:ea typeface="+mj-ea"/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연 라이선스 비용 $150K~$300K+ 수준으로 지속 발생</a:t>
                      </a:r>
                      <a:r>
                        <a:rPr lang="ko-KR" altLang="en-US" sz="1000" kern="1200" spc="-6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+mn-ea"/>
                        </a:rPr>
                        <a:t>국내 규제 미반영 시 커스터마이징 비용 추가 발생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endParaRPr lang="ko-KR" altLang="en-US" sz="1000" kern="1200" spc="-6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높은 인건비 지속 발생</a:t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노하우 사내 미축적</a:t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8255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맑은 고딕" panose="020B0503020000020004" pitchFamily="50" charset="-127"/>
                        <a:buChar char="–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응답 속도 상대적으로 느림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초기 개발 리소스 필요</a:t>
                      </a: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사내 유지보수 역량 확보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75381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2DDC559-3B97-AD78-BC57-ED6965D24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833617"/>
              </p:ext>
            </p:extLst>
          </p:nvPr>
        </p:nvGraphicFramePr>
        <p:xfrm>
          <a:off x="663388" y="5477436"/>
          <a:ext cx="8588190" cy="756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8190">
                  <a:extLst>
                    <a:ext uri="{9D8B030D-6E8A-4147-A177-3AD203B41FA5}">
                      <a16:colId xmlns:a16="http://schemas.microsoft.com/office/drawing/2014/main" val="2915935000"/>
                    </a:ext>
                  </a:extLst>
                </a:gridCol>
              </a:tblGrid>
              <a:tr h="7563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b="0" spc="-60" baseline="0" dirty="0">
                          <a:solidFill>
                            <a:srgbClr val="25537D"/>
                          </a:solidFill>
                        </a:rPr>
                        <a:t>라이선스 비용 없이 국내 규제에 특화된 자체 AI 에이전트 구축이</a:t>
                      </a:r>
                      <a:r>
                        <a:rPr lang="en-US" altLang="ko-KR" sz="1100" b="0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ko-KR" altLang="en-US" sz="1100" b="0" spc="-60" baseline="0" dirty="0" err="1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ko-KR" altLang="en-US" sz="1100" b="0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en-US" altLang="ko-KR" sz="1100" b="0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ko-KR" altLang="en-US" sz="1100" b="0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endParaRPr lang="en-US" altLang="ko-KR" sz="1100" b="0" spc="-60" baseline="0" dirty="0">
                        <a:solidFill>
                          <a:srgbClr val="25537D"/>
                        </a:solidFill>
                      </a:endParaRPr>
                    </a:p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400" b="1" u="sng" spc="-60" baseline="0" dirty="0">
                          <a:solidFill>
                            <a:srgbClr val="25537D"/>
                          </a:solidFill>
                        </a:rPr>
                        <a:t>① 비용 효율, ② 데이터 주권, ③ 신속한 규제 대응을 달성하기 위한 최적의 방안</a:t>
                      </a:r>
                      <a:r>
                        <a:rPr lang="en-US" altLang="ko-KR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ko-KR" altLang="en-US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en-US" altLang="ko-KR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ko-KR" altLang="en-US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en-US" altLang="ko-KR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ko-KR" altLang="en-US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en-US" altLang="ko-KR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ko-KR" altLang="en-US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en-US" altLang="ko-KR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ko-KR" altLang="en-US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en-US" altLang="ko-KR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ko-KR" altLang="en-US" sz="1400" b="1" u="sng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13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13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AI 준법감시 에이전트 도입 시급성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ko-KR" altLang="en-US" sz="15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도입 시급성 : 2025년 책무구조도 시행으로 임원 개인책임이 법제화되어 실효성 있는 통제 도구 도입이 시급</a:t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대형 금융회사는 이미 책무구조도 제출을 완료했고, 금융감독원이 내부통제 체계 운영 실태에 대한 현장·서면 점검을 진행 중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도입 지연 시 임원 신분제재, 감독당국 지적, 준법감시 업무 과부하 등 리스크가 누적됨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0ABAE26-C806-571B-080F-510F85267EAF}"/>
              </a:ext>
            </a:extLst>
          </p:cNvPr>
          <p:cNvGrpSpPr/>
          <p:nvPr/>
        </p:nvGrpSpPr>
        <p:grpSpPr>
          <a:xfrm>
            <a:off x="497470" y="2212843"/>
            <a:ext cx="2603758" cy="252000"/>
            <a:chOff x="497470" y="2385423"/>
            <a:chExt cx="2603758" cy="22428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6185018-CBEA-B62B-64F7-16656B4C6BFC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2AA250-B91A-4F08-B262-841CE590C3D3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도입 시급성 판단 경로</a:t>
              </a:r>
            </a:p>
          </p:txBody>
        </p:sp>
      </p:grpSp>
      <p:sp>
        <p:nvSpPr>
          <p:cNvPr id="18" name="Shape 903">
            <a:extLst>
              <a:ext uri="{FF2B5EF4-FFF2-40B4-BE49-F238E27FC236}">
                <a16:creationId xmlns:a16="http://schemas.microsoft.com/office/drawing/2014/main" id="{7C1832BF-5D5A-03E5-4DC7-AEB8A7B2FF74}"/>
              </a:ext>
            </a:extLst>
          </p:cNvPr>
          <p:cNvSpPr/>
          <p:nvPr/>
        </p:nvSpPr>
        <p:spPr>
          <a:xfrm>
            <a:off x="763734" y="3480731"/>
            <a:ext cx="1700000" cy="680000"/>
          </a:xfrm>
          <a:prstGeom prst="roundRect">
            <a:avLst>
              <a:gd name="adj" fmla="val 12000"/>
            </a:avLst>
          </a:prstGeom>
          <a:solidFill>
            <a:srgbClr val="25537D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chemeClr val="bg1"/>
                </a:solidFill>
                <a:latin typeface="+mn-ea"/>
                <a:ea typeface="+mn-ea"/>
              </a:rPr>
              <a:t>책무구조도 시행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chemeClr val="bg1"/>
                </a:solidFill>
                <a:latin typeface="+mn-ea"/>
                <a:ea typeface="+mn-ea"/>
              </a:rPr>
              <a:t>2025년 대형사부터 본격 시행</a:t>
            </a:r>
          </a:p>
        </p:txBody>
      </p:sp>
      <p:sp>
        <p:nvSpPr>
          <p:cNvPr id="21" name="Shape 903">
            <a:extLst>
              <a:ext uri="{FF2B5EF4-FFF2-40B4-BE49-F238E27FC236}">
                <a16:creationId xmlns:a16="http://schemas.microsoft.com/office/drawing/2014/main" id="{FD7C24D3-EA65-87AD-6B71-8EC96B64DEF7}"/>
              </a:ext>
            </a:extLst>
          </p:cNvPr>
          <p:cNvSpPr/>
          <p:nvPr/>
        </p:nvSpPr>
        <p:spPr>
          <a:xfrm>
            <a:off x="763734" y="2626197"/>
            <a:ext cx="1700000" cy="680000"/>
          </a:xfrm>
          <a:prstGeom prst="roundRect">
            <a:avLst>
              <a:gd name="adj" fmla="val 12000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FFFFFF"/>
                </a:solidFill>
                <a:latin typeface="+mn-ea"/>
                <a:ea typeface="+mn-ea"/>
              </a:rPr>
              <a:t>타 업권 규제 동향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chemeClr val="bg1"/>
                </a:solidFill>
                <a:latin typeface="+mn-ea"/>
                <a:ea typeface="+mn-ea"/>
              </a:rPr>
              <a:t>RegTech 활용 확산 중</a:t>
            </a:r>
          </a:p>
        </p:txBody>
      </p:sp>
      <p:sp>
        <p:nvSpPr>
          <p:cNvPr id="22" name="Shape 903">
            <a:extLst>
              <a:ext uri="{FF2B5EF4-FFF2-40B4-BE49-F238E27FC236}">
                <a16:creationId xmlns:a16="http://schemas.microsoft.com/office/drawing/2014/main" id="{989C7D17-B4EA-1EF6-FE2A-4F671CD7E956}"/>
              </a:ext>
            </a:extLst>
          </p:cNvPr>
          <p:cNvSpPr/>
          <p:nvPr/>
        </p:nvSpPr>
        <p:spPr>
          <a:xfrm>
            <a:off x="2905035" y="2626197"/>
            <a:ext cx="2895930" cy="6800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chemeClr val="bg1">
                <a:lumMod val="50000"/>
              </a:schemeClr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latin typeface="+mn-ea"/>
                <a:ea typeface="+mn-ea"/>
              </a:rPr>
              <a:t>준법감시 인력 구조</a:t>
            </a:r>
            <a:endParaRPr lang="en-US" altLang="ko-KR" sz="1000" b="1" spc="-60" dirty="0">
              <a:latin typeface="+mn-ea"/>
              <a:ea typeface="+mn-ea"/>
            </a:endParaRPr>
          </a:p>
          <a:p>
            <a:pPr algn="ctr">
              <a:lnSpc>
                <a:spcPct val="125000"/>
              </a:lnSpc>
            </a:pPr>
            <a:r>
              <a:rPr lang="en-US" altLang="ko-KR" sz="900" spc="-60" dirty="0">
                <a:latin typeface="+mn-ea"/>
                <a:ea typeface="+mn-ea"/>
              </a:rPr>
              <a:t>인력 부족, 낮은 직급 배치</a:t>
            </a:r>
            <a:r>
              <a:rPr lang="ko-KR" altLang="en-US" sz="900" spc="-60" dirty="0">
                <a:latin typeface="+mn-ea"/>
                <a:ea typeface="+mn-ea"/>
              </a:rPr>
              <a:t/>
            </a:r>
          </a:p>
        </p:txBody>
      </p:sp>
      <p:sp>
        <p:nvSpPr>
          <p:cNvPr id="25" name="Shape 906">
            <a:extLst>
              <a:ext uri="{FF2B5EF4-FFF2-40B4-BE49-F238E27FC236}">
                <a16:creationId xmlns:a16="http://schemas.microsoft.com/office/drawing/2014/main" id="{888C0DDA-5C4D-296D-7207-57294B980190}"/>
              </a:ext>
            </a:extLst>
          </p:cNvPr>
          <p:cNvSpPr/>
          <p:nvPr/>
        </p:nvSpPr>
        <p:spPr>
          <a:xfrm>
            <a:off x="6242266" y="3480731"/>
            <a:ext cx="2900000" cy="6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en-US" altLang="ko-KR" sz="1000" b="1" spc="-60" dirty="0">
                <a:solidFill>
                  <a:srgbClr val="25537D"/>
                </a:solidFill>
                <a:latin typeface="+mn-ea"/>
                <a:ea typeface="+mn-ea"/>
              </a:rPr>
              <a:t>즉시 도입 검토 필요</a:t>
            </a:r>
            <a:r>
              <a:rPr lang="ko-KR" altLang="en-US" sz="1000" b="1" spc="-60" dirty="0" err="1">
                <a:solidFill>
                  <a:srgbClr val="25537D"/>
                </a:solidFill>
                <a:latin typeface="+mn-ea"/>
                <a:ea typeface="+mn-ea"/>
              </a:rPr>
              <a:t/>
            </a: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/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감독 대응 체계 시급 확보</a:t>
            </a:r>
            <a:r>
              <a:rPr lang="en-US" altLang="ko-KR" sz="9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</a:p>
        </p:txBody>
      </p:sp>
      <p:sp>
        <p:nvSpPr>
          <p:cNvPr id="26" name="Shape 903">
            <a:extLst>
              <a:ext uri="{FF2B5EF4-FFF2-40B4-BE49-F238E27FC236}">
                <a16:creationId xmlns:a16="http://schemas.microsoft.com/office/drawing/2014/main" id="{DB5CD1A4-C5B6-AF05-FACB-4FBBADCBAF82}"/>
              </a:ext>
            </a:extLst>
          </p:cNvPr>
          <p:cNvSpPr/>
          <p:nvPr/>
        </p:nvSpPr>
        <p:spPr>
          <a:xfrm>
            <a:off x="6242266" y="2626197"/>
            <a:ext cx="2895930" cy="6800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chemeClr val="bg1">
                <a:lumMod val="50000"/>
              </a:schemeClr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latin typeface="+mn-ea"/>
              </a:rPr>
              <a:t>감독원 현장점검 진행</a:t>
            </a:r>
            <a:endParaRPr lang="en-US" altLang="ko-KR" sz="1000" b="1" spc="-60" dirty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latin typeface="+mn-ea"/>
                <a:ea typeface="+mn-ea"/>
              </a:rPr>
              <a:t>실효성 있는 증빙 요구</a:t>
            </a:r>
          </a:p>
        </p:txBody>
      </p:sp>
      <p:sp>
        <p:nvSpPr>
          <p:cNvPr id="27" name="Shape 906">
            <a:extLst>
              <a:ext uri="{FF2B5EF4-FFF2-40B4-BE49-F238E27FC236}">
                <a16:creationId xmlns:a16="http://schemas.microsoft.com/office/drawing/2014/main" id="{F7D5FDFC-8ABF-424C-A4B6-D13235E854C9}"/>
              </a:ext>
            </a:extLst>
          </p:cNvPr>
          <p:cNvSpPr/>
          <p:nvPr/>
        </p:nvSpPr>
        <p:spPr>
          <a:xfrm>
            <a:off x="2903000" y="3480731"/>
            <a:ext cx="2900000" cy="6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임원 개인책임 부과 (본건)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위반 시 신분제재 대상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B5F29C9-586C-FE93-AD56-D41A0BC66FFF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2463734" y="2966197"/>
            <a:ext cx="44130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073DDE6-E054-7300-CC7D-175AC7384517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5800965" y="2966197"/>
            <a:ext cx="44130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19E0F21-9FE0-DE97-A1B5-EB1EA7C15BB1}"/>
              </a:ext>
            </a:extLst>
          </p:cNvPr>
          <p:cNvCxnSpPr>
            <a:cxnSpLocks/>
            <a:stCxn id="18" idx="3"/>
            <a:endCxn id="27" idx="1"/>
          </p:cNvCxnSpPr>
          <p:nvPr/>
        </p:nvCxnSpPr>
        <p:spPr>
          <a:xfrm>
            <a:off x="2463734" y="3820731"/>
            <a:ext cx="439266" cy="0"/>
          </a:xfrm>
          <a:prstGeom prst="straightConnector1">
            <a:avLst/>
          </a:prstGeom>
          <a:ln w="12700">
            <a:solidFill>
              <a:srgbClr val="2553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C0595DE-361D-3177-2CDA-7ED836367B76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5803000" y="3820731"/>
            <a:ext cx="439266" cy="0"/>
          </a:xfrm>
          <a:prstGeom prst="straightConnector1">
            <a:avLst/>
          </a:prstGeom>
          <a:ln w="12700">
            <a:solidFill>
              <a:srgbClr val="2553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D27558-1AA2-F6F0-9FFD-15B2BBD91CDB}"/>
              </a:ext>
            </a:extLst>
          </p:cNvPr>
          <p:cNvGrpSpPr/>
          <p:nvPr/>
        </p:nvGrpSpPr>
        <p:grpSpPr>
          <a:xfrm>
            <a:off x="497470" y="4544762"/>
            <a:ext cx="2603758" cy="252000"/>
            <a:chOff x="497470" y="2385423"/>
            <a:chExt cx="2603758" cy="224286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484750E-0152-8BD8-9DDC-B761812591C6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8298562-0481-C9E2-56DB-9A404C46F776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도입 지연 시 발생 리스크</a:t>
              </a:r>
              <a:r>
                <a:rPr lang="ko-KR" altLang="en-US" sz="1000" b="1" dirty="0" err="1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sp>
        <p:nvSpPr>
          <p:cNvPr id="46" name="Shape 914">
            <a:extLst>
              <a:ext uri="{FF2B5EF4-FFF2-40B4-BE49-F238E27FC236}">
                <a16:creationId xmlns:a16="http://schemas.microsoft.com/office/drawing/2014/main" id="{4D736F24-D5DA-807E-63FC-C294A82F1DC0}"/>
              </a:ext>
            </a:extLst>
          </p:cNvPr>
          <p:cNvSpPr/>
          <p:nvPr/>
        </p:nvSpPr>
        <p:spPr>
          <a:xfrm>
            <a:off x="763734" y="4990857"/>
            <a:ext cx="1580024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임원 제재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신분제재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책무구조도 위반 시 개인책임</a:t>
            </a:r>
          </a:p>
        </p:txBody>
      </p:sp>
      <p:sp>
        <p:nvSpPr>
          <p:cNvPr id="47" name="Shape 915">
            <a:extLst>
              <a:ext uri="{FF2B5EF4-FFF2-40B4-BE49-F238E27FC236}">
                <a16:creationId xmlns:a16="http://schemas.microsoft.com/office/drawing/2014/main" id="{6F0D4DAE-91F4-8165-8F6C-1700542FDCCB}"/>
              </a:ext>
            </a:extLst>
          </p:cNvPr>
          <p:cNvSpPr/>
          <p:nvPr/>
        </p:nvSpPr>
        <p:spPr>
          <a:xfrm>
            <a:off x="2462344" y="4990857"/>
            <a:ext cx="1580024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감독 지적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현장점검 시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실효성 있는 증빙 부재 지적</a:t>
            </a:r>
          </a:p>
        </p:txBody>
      </p:sp>
      <p:sp>
        <p:nvSpPr>
          <p:cNvPr id="48" name="Shape 916">
            <a:extLst>
              <a:ext uri="{FF2B5EF4-FFF2-40B4-BE49-F238E27FC236}">
                <a16:creationId xmlns:a16="http://schemas.microsoft.com/office/drawing/2014/main" id="{03EB2177-0AC8-12CF-3E22-534277C93F9E}"/>
              </a:ext>
            </a:extLst>
          </p:cNvPr>
          <p:cNvSpPr/>
          <p:nvPr/>
        </p:nvSpPr>
        <p:spPr>
          <a:xfrm>
            <a:off x="4160954" y="4990857"/>
            <a:ext cx="1580024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업무 과부하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인력 부족 상태에서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수작업 검토 부담 가중</a:t>
            </a:r>
          </a:p>
        </p:txBody>
      </p:sp>
      <p:sp>
        <p:nvSpPr>
          <p:cNvPr id="49" name="Shape 917">
            <a:extLst>
              <a:ext uri="{FF2B5EF4-FFF2-40B4-BE49-F238E27FC236}">
                <a16:creationId xmlns:a16="http://schemas.microsoft.com/office/drawing/2014/main" id="{CD85F50D-D615-4B61-6BFB-8198D34D277D}"/>
              </a:ext>
            </a:extLst>
          </p:cNvPr>
          <p:cNvSpPr/>
          <p:nvPr/>
        </p:nvSpPr>
        <p:spPr>
          <a:xfrm>
            <a:off x="5859563" y="4990857"/>
            <a:ext cx="1580024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대응 지연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규제 변경 시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즉시 반영 체계 부재</a:t>
            </a:r>
          </a:p>
        </p:txBody>
      </p:sp>
      <p:sp>
        <p:nvSpPr>
          <p:cNvPr id="50" name="Shape 918">
            <a:extLst>
              <a:ext uri="{FF2B5EF4-FFF2-40B4-BE49-F238E27FC236}">
                <a16:creationId xmlns:a16="http://schemas.microsoft.com/office/drawing/2014/main" id="{A311297A-9D51-843F-C353-E58A955F999B}"/>
              </a:ext>
            </a:extLst>
          </p:cNvPr>
          <p:cNvSpPr/>
          <p:nvPr/>
        </p:nvSpPr>
        <p:spPr>
          <a:xfrm>
            <a:off x="7558172" y="4990857"/>
            <a:ext cx="1580024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경쟁 열위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선도 금융사 대비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AI 활용도 뒤처짐</a:t>
            </a:r>
          </a:p>
        </p:txBody>
      </p:sp>
    </p:spTree>
    <p:extLst>
      <p:ext uri="{BB962C8B-B14F-4D97-AF65-F5344CB8AC3E}">
        <p14:creationId xmlns:p14="http://schemas.microsoft.com/office/powerpoint/2010/main" val="213802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AI 준법감시 에이전트 도입 로드맵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45939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POC → 베타테스트 → 내부통제업무담당자 배포 → 전그룹 확산 단계로 구분하여 단계별 검증 기준과 확산 범위 설계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화살표: 오각형 6">
            <a:extLst>
              <a:ext uri="{FF2B5EF4-FFF2-40B4-BE49-F238E27FC236}">
                <a16:creationId xmlns:a16="http://schemas.microsoft.com/office/drawing/2014/main" id="{ABD63C6E-9039-C1C5-7A4B-DE822F30E13B}"/>
              </a:ext>
            </a:extLst>
          </p:cNvPr>
          <p:cNvSpPr/>
          <p:nvPr/>
        </p:nvSpPr>
        <p:spPr>
          <a:xfrm>
            <a:off x="632271" y="2251452"/>
            <a:ext cx="2880000" cy="622364"/>
          </a:xfrm>
          <a:prstGeom prst="homePlate">
            <a:avLst>
              <a:gd name="adj" fmla="val 19391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altLang="ko-KR" sz="900" b="1" spc="-60" dirty="0">
                <a:solidFill>
                  <a:schemeClr val="tx1"/>
                </a:solidFill>
                <a:latin typeface="+mj-ea"/>
                <a:ea typeface="+mj-ea"/>
              </a:rPr>
              <a:t>P H A S E ①</a:t>
            </a:r>
            <a:r>
              <a:rPr lang="ko-KR" altLang="en-US" sz="900" b="1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b="1" spc="-6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POC + 베타테스트</a:t>
            </a:r>
            <a:r>
              <a:rPr lang="en-US" altLang="ko-KR" sz="1100" b="1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1100" b="1" spc="-60" dirty="0" err="1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924FD2FA-F80D-A81A-78CA-AC29AA28B8F9}"/>
              </a:ext>
            </a:extLst>
          </p:cNvPr>
          <p:cNvSpPr/>
          <p:nvPr/>
        </p:nvSpPr>
        <p:spPr>
          <a:xfrm>
            <a:off x="3513001" y="2251452"/>
            <a:ext cx="2880000" cy="622364"/>
          </a:xfrm>
          <a:prstGeom prst="chevron">
            <a:avLst>
              <a:gd name="adj" fmla="val 17860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altLang="ko-KR" sz="900" b="1" spc="-60" dirty="0">
                <a:solidFill>
                  <a:schemeClr val="tx1"/>
                </a:solidFill>
                <a:latin typeface="+mj-ea"/>
                <a:ea typeface="+mj-ea"/>
              </a:rPr>
              <a:t>P H A S E ②</a:t>
            </a:r>
            <a:r>
              <a:rPr lang="ko-KR" altLang="en-US" sz="900" b="1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b="1" spc="-6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내부통제업무담당자 배포</a:t>
            </a:r>
            <a:r>
              <a:rPr lang="ko-KR" altLang="en-US" sz="1100" b="1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ko-KR" altLang="en-US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926BCCAC-B644-00B4-BE39-49B2E58E3564}"/>
              </a:ext>
            </a:extLst>
          </p:cNvPr>
          <p:cNvSpPr/>
          <p:nvPr/>
        </p:nvSpPr>
        <p:spPr>
          <a:xfrm>
            <a:off x="6393731" y="2251452"/>
            <a:ext cx="2880000" cy="622364"/>
          </a:xfrm>
          <a:prstGeom prst="chevron">
            <a:avLst>
              <a:gd name="adj" fmla="val 20921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altLang="ko-KR" sz="900" b="1" spc="-60" dirty="0">
                <a:solidFill>
                  <a:schemeClr val="tx1"/>
                </a:solidFill>
                <a:latin typeface="+mj-ea"/>
                <a:ea typeface="+mj-ea"/>
              </a:rPr>
              <a:t>P H A S E ③</a:t>
            </a:r>
            <a:r>
              <a:rPr lang="ko-KR" altLang="en-US" sz="900" b="1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b="1" spc="-6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전그룹 확산</a:t>
            </a:r>
            <a:r>
              <a:rPr lang="en-US" altLang="ko-KR" sz="1100" b="1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b="1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b="1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ko-KR" altLang="en-US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8354BA8-ADC8-D8A0-F42F-E7C42124AFC4}"/>
              </a:ext>
            </a:extLst>
          </p:cNvPr>
          <p:cNvCxnSpPr>
            <a:cxnSpLocks/>
          </p:cNvCxnSpPr>
          <p:nvPr/>
        </p:nvCxnSpPr>
        <p:spPr>
          <a:xfrm>
            <a:off x="3501242" y="3013935"/>
            <a:ext cx="0" cy="251338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C2F932F-2634-3E6D-DD07-EA9567ACA0E6}"/>
              </a:ext>
            </a:extLst>
          </p:cNvPr>
          <p:cNvCxnSpPr>
            <a:cxnSpLocks/>
          </p:cNvCxnSpPr>
          <p:nvPr/>
        </p:nvCxnSpPr>
        <p:spPr>
          <a:xfrm>
            <a:off x="6383476" y="3013935"/>
            <a:ext cx="0" cy="251338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1CFB422-FD3A-D8D2-31F6-B9910FFCF90A}"/>
              </a:ext>
            </a:extLst>
          </p:cNvPr>
          <p:cNvSpPr/>
          <p:nvPr/>
        </p:nvSpPr>
        <p:spPr>
          <a:xfrm>
            <a:off x="632271" y="3108628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ㆍPOC 범위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고위험 시나리오 1~2건 선정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고령투자자 보호, 신규상품 검토 등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8B119B9-0A76-7E50-ED4B-4389CBAE07BA}"/>
              </a:ext>
            </a:extLst>
          </p:cNvPr>
          <p:cNvSpPr/>
          <p:nvPr/>
        </p:nvSpPr>
        <p:spPr>
          <a:xfrm>
            <a:off x="3513001" y="3108628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ㆍ정식 도구화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r>
              <a:rPr lang="ko-KR" altLang="en-US" sz="1000" b="1" spc="-60" dirty="0">
                <a:solidFill>
                  <a:srgbClr val="2553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준법감시부 업무 프로세스에 편입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일상 업무 도구로 배포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159855C-FBFF-8788-2BDE-16B11ED4F845}"/>
              </a:ext>
            </a:extLst>
          </p:cNvPr>
          <p:cNvSpPr/>
          <p:nvPr/>
        </p:nvSpPr>
        <p:spPr>
          <a:xfrm>
            <a:off x="6393001" y="3108628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ㆍ계열사 확산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그룹 내 타 계열사로 순차 확대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계열사별 규제 특성 반영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DFFB7DD-E723-52BF-2041-DA55426FD55B}"/>
              </a:ext>
            </a:extLst>
          </p:cNvPr>
          <p:cNvSpPr/>
          <p:nvPr/>
        </p:nvSpPr>
        <p:spPr>
          <a:xfrm>
            <a:off x="632271" y="3954552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ㆍ베타테스트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준법감시부 소수 인원 대상 확대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실제 질의응답 시나리오로 정확도 검증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401F823-4D90-9A18-30AC-80AC30093DDF}"/>
              </a:ext>
            </a:extLst>
          </p:cNvPr>
          <p:cNvSpPr/>
          <p:nvPr/>
        </p:nvSpPr>
        <p:spPr>
          <a:xfrm>
            <a:off x="3513001" y="3954552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ㆍ교육·매뉴얼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사용법·한계·주의사항 교육 실시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오남용 방지 가이드 배포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7C6DB81-0839-7B8F-0774-60A867033FE1}"/>
              </a:ext>
            </a:extLst>
          </p:cNvPr>
          <p:cNvSpPr/>
          <p:nvPr/>
        </p:nvSpPr>
        <p:spPr>
          <a:xfrm>
            <a:off x="6393001" y="3954552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ㆍ거버넌스 정착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운영 규정·책임 체계 공식화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 err="1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0F184A3-B34D-BE3D-A727-87118689BFA9}"/>
              </a:ext>
            </a:extLst>
          </p:cNvPr>
          <p:cNvSpPr/>
          <p:nvPr/>
        </p:nvSpPr>
        <p:spPr>
          <a:xfrm>
            <a:off x="632271" y="4800476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ㆍ성공 기준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인용 정확도, 응답 시간 목표치 설정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기준 미달 시 Phase 연장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67D464C-F223-6480-C6FC-08F99A5DEF06}"/>
              </a:ext>
            </a:extLst>
          </p:cNvPr>
          <p:cNvSpPr/>
          <p:nvPr/>
        </p:nvSpPr>
        <p:spPr>
          <a:xfrm>
            <a:off x="3513001" y="4800476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ㆍ성과 지표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업무 처리시간 단축률 측정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정기 만족도 조사 실시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7CDD029-38AB-1A3D-E251-7C6E247C6B6D}"/>
              </a:ext>
            </a:extLst>
          </p:cNvPr>
          <p:cNvSpPr/>
          <p:nvPr/>
        </p:nvSpPr>
        <p:spPr>
          <a:xfrm>
            <a:off x="6393001" y="4800476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ㆍ고도화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의미 기반 검색엔진 고도화로 정확도 개선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법령·유권해석 등 전체 소스 자동 연동 완료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1314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WBS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AF81C43-6B3F-EF14-924D-17B70EA1D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876790"/>
              </p:ext>
            </p:extLst>
          </p:nvPr>
        </p:nvGraphicFramePr>
        <p:xfrm>
          <a:off x="494786" y="1281576"/>
          <a:ext cx="8916426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656866359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6472988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651274720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2462824143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2414230294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3272755482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1084729954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3161595190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‘26.08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09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12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‘27.01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841455"/>
                  </a:ext>
                </a:extLst>
              </a:tr>
              <a:tr h="3600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POC</a:t>
                      </a:r>
                      <a:r>
                        <a:rPr lang="ko-KR" altLang="en-US" sz="1000" b="1" spc="-60" baseline="0" dirty="0" err="1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/>
                      </a:r>
                      <a:endParaRPr lang="ko-KR" altLang="en-US" sz="1000" b="1" spc="-60" baseline="0" dirty="0">
                        <a:solidFill>
                          <a:srgbClr val="25537D"/>
                        </a:solidFill>
                        <a:latin typeface="+mj-ea"/>
                        <a:ea typeface="+mj-ea"/>
                      </a:endParaRPr>
                    </a:p>
                    <a:p>
                      <a:pPr algn="ctr" latinLnBrk="1"/>
                      <a:endParaRPr lang="ko-KR" altLang="en-US" sz="1000" b="1" spc="-60" baseline="0" dirty="0">
                        <a:solidFill>
                          <a:srgbClr val="25537D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시나리오 설계 (고위험 업무 1~2건)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/>
                      </a:r>
                      <a:endParaRPr lang="en-US" altLang="ko-KR" sz="1000" b="1" spc="-6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4865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파일럿 구축 · 검증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707576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POC 결과 보고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677769"/>
                  </a:ext>
                </a:extLst>
              </a:tr>
              <a:tr h="3600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베타테스트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베타 테스트 환경 구축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96422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베타 배포 및 피드백 수집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22707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대상 부서 선정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567943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rgbClr val="25537D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개선사항 반영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574342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내부통제담당자 배포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준법감시부 정식 배포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00406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rgbClr val="25537D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교육 · 매뉴얼 배포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368975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전그룹 확산</a:t>
                      </a:r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고도화 로드맵 수립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72634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spc="-60" baseline="0" dirty="0">
                        <a:solidFill>
                          <a:srgbClr val="25537D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계열사 순차 확산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847649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D8B3986-61FD-D415-0844-BDA3BFC0B0C2}"/>
              </a:ext>
            </a:extLst>
          </p:cNvPr>
          <p:cNvSpPr/>
          <p:nvPr/>
        </p:nvSpPr>
        <p:spPr>
          <a:xfrm>
            <a:off x="4154426" y="1720803"/>
            <a:ext cx="1656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88ED757-A33E-7B39-7B5E-062A5D08E2D8}"/>
              </a:ext>
            </a:extLst>
          </p:cNvPr>
          <p:cNvSpPr/>
          <p:nvPr/>
        </p:nvSpPr>
        <p:spPr>
          <a:xfrm>
            <a:off x="6822981" y="4607459"/>
            <a:ext cx="1656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A792BD6-D5CA-83F4-D3B6-585AFBEB3B28}"/>
              </a:ext>
            </a:extLst>
          </p:cNvPr>
          <p:cNvSpPr/>
          <p:nvPr/>
        </p:nvSpPr>
        <p:spPr>
          <a:xfrm>
            <a:off x="5038260" y="4246627"/>
            <a:ext cx="2542248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1A301FE-754F-E88B-F8B7-8EED11DB5D99}"/>
              </a:ext>
            </a:extLst>
          </p:cNvPr>
          <p:cNvSpPr/>
          <p:nvPr/>
        </p:nvSpPr>
        <p:spPr>
          <a:xfrm>
            <a:off x="8086725" y="3885795"/>
            <a:ext cx="1299086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>이후 계속 →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77A8AA6-2E87-A8B1-F88C-C7D4B30AE8BB}"/>
              </a:ext>
            </a:extLst>
          </p:cNvPr>
          <p:cNvSpPr/>
          <p:nvPr/>
        </p:nvSpPr>
        <p:spPr>
          <a:xfrm>
            <a:off x="5038260" y="3524963"/>
            <a:ext cx="1656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C6603B0-CEBB-238F-0FE7-5B49A0914121}"/>
              </a:ext>
            </a:extLst>
          </p:cNvPr>
          <p:cNvSpPr/>
          <p:nvPr/>
        </p:nvSpPr>
        <p:spPr>
          <a:xfrm>
            <a:off x="5038260" y="2803299"/>
            <a:ext cx="1656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0F7DC8B-A360-8677-8AAE-ECAA1EC9F623}"/>
              </a:ext>
            </a:extLst>
          </p:cNvPr>
          <p:cNvSpPr/>
          <p:nvPr/>
        </p:nvSpPr>
        <p:spPr>
          <a:xfrm>
            <a:off x="6338508" y="2442467"/>
            <a:ext cx="828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B6A69D0-6967-F663-702D-C515E732E60D}"/>
              </a:ext>
            </a:extLst>
          </p:cNvPr>
          <p:cNvSpPr/>
          <p:nvPr/>
        </p:nvSpPr>
        <p:spPr>
          <a:xfrm>
            <a:off x="5451238" y="2081635"/>
            <a:ext cx="1243022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99A585F-7686-93A0-E4A4-602D75FFEEE7}"/>
              </a:ext>
            </a:extLst>
          </p:cNvPr>
          <p:cNvSpPr/>
          <p:nvPr/>
        </p:nvSpPr>
        <p:spPr>
          <a:xfrm>
            <a:off x="4154426" y="4968291"/>
            <a:ext cx="2539834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E0DAB27-93DB-E045-8AA6-2FD8D9D02875}"/>
              </a:ext>
            </a:extLst>
          </p:cNvPr>
          <p:cNvSpPr/>
          <p:nvPr/>
        </p:nvSpPr>
        <p:spPr>
          <a:xfrm>
            <a:off x="8557812" y="5329124"/>
            <a:ext cx="828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93E9621-5D2F-AD01-CEF0-8BCA80E2BE1A}"/>
              </a:ext>
            </a:extLst>
          </p:cNvPr>
          <p:cNvSpPr/>
          <p:nvPr/>
        </p:nvSpPr>
        <p:spPr>
          <a:xfrm>
            <a:off x="6822981" y="3164131"/>
            <a:ext cx="1656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9273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0832"/>
            <a:ext cx="6552454" cy="392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Appendix1. GRC·RegTech 시장 현황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19E715B-37C0-794C-7C2F-80F4EDF596E6}"/>
              </a:ext>
            </a:extLst>
          </p:cNvPr>
          <p:cNvSpPr/>
          <p:nvPr/>
        </p:nvSpPr>
        <p:spPr>
          <a:xfrm>
            <a:off x="524921" y="2400734"/>
            <a:ext cx="7517318" cy="9261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endParaRPr lang="ko-KR" altLang="en-US" sz="1000" spc="-60">
              <a:latin typeface="+mj-ea"/>
              <a:ea typeface="+mj-ea"/>
            </a:endParaRP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E5B442E0-2196-01FB-84B1-F1A482A70348}"/>
              </a:ext>
            </a:extLst>
          </p:cNvPr>
          <p:cNvSpPr/>
          <p:nvPr/>
        </p:nvSpPr>
        <p:spPr>
          <a:xfrm rot="16200000">
            <a:off x="556365" y="2369292"/>
            <a:ext cx="926105" cy="98898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SMB</a:t>
            </a:r>
            <a:endParaRPr lang="en-US" altLang="ko-KR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11AB2D0-6A95-3C73-B86F-C386E9FEA002}"/>
              </a:ext>
            </a:extLst>
          </p:cNvPr>
          <p:cNvSpPr/>
          <p:nvPr/>
        </p:nvSpPr>
        <p:spPr>
          <a:xfrm>
            <a:off x="524920" y="3387746"/>
            <a:ext cx="7517318" cy="92610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endParaRPr lang="ko-KR" altLang="en-US" sz="1000" spc="-60">
              <a:latin typeface="+mj-ea"/>
              <a:ea typeface="+mj-ea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230DFFC1-EF99-337A-8D5A-CC8FF6685437}"/>
              </a:ext>
            </a:extLst>
          </p:cNvPr>
          <p:cNvSpPr/>
          <p:nvPr/>
        </p:nvSpPr>
        <p:spPr>
          <a:xfrm rot="16200000">
            <a:off x="556364" y="3356302"/>
            <a:ext cx="926105" cy="988988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중견기업</a:t>
            </a:r>
            <a:endParaRPr lang="en-US" altLang="ko-KR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6935F64-D6EA-95F2-2BD7-CC8B6AE9C16E}"/>
              </a:ext>
            </a:extLst>
          </p:cNvPr>
          <p:cNvSpPr/>
          <p:nvPr/>
        </p:nvSpPr>
        <p:spPr>
          <a:xfrm>
            <a:off x="524921" y="4374858"/>
            <a:ext cx="7517318" cy="92610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endParaRPr lang="ko-KR" altLang="en-US" sz="1000" spc="-60">
              <a:latin typeface="+mj-ea"/>
              <a:ea typeface="+mj-ea"/>
            </a:endParaRPr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9CDDEA14-5E5D-38A3-92F5-FD87D932FFF7}"/>
              </a:ext>
            </a:extLst>
          </p:cNvPr>
          <p:cNvSpPr/>
          <p:nvPr/>
        </p:nvSpPr>
        <p:spPr>
          <a:xfrm rot="16200000">
            <a:off x="556364" y="4343414"/>
            <a:ext cx="926105" cy="988990"/>
          </a:xfrm>
          <a:prstGeom prst="round2SameRect">
            <a:avLst/>
          </a:prstGeom>
          <a:solidFill>
            <a:srgbClr val="F9E0C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엔터프라이즈</a:t>
            </a:r>
            <a:endParaRPr lang="en-US" altLang="ko-KR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2AED938-47DE-5E20-3343-8BB9E888003C}"/>
              </a:ext>
            </a:extLst>
          </p:cNvPr>
          <p:cNvSpPr/>
          <p:nvPr/>
        </p:nvSpPr>
        <p:spPr>
          <a:xfrm>
            <a:off x="524921" y="5361920"/>
            <a:ext cx="7517318" cy="926106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endParaRPr lang="ko-KR" altLang="en-US" sz="1000" spc="-60">
              <a:latin typeface="+mj-ea"/>
              <a:ea typeface="+mj-ea"/>
            </a:endParaRPr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ADE2A642-5188-088B-3493-F9A9E63898D9}"/>
              </a:ext>
            </a:extLst>
          </p:cNvPr>
          <p:cNvSpPr/>
          <p:nvPr/>
        </p:nvSpPr>
        <p:spPr>
          <a:xfrm rot="16200000">
            <a:off x="556363" y="5330475"/>
            <a:ext cx="926105" cy="988991"/>
          </a:xfrm>
          <a:prstGeom prst="round2SameRect">
            <a:avLst/>
          </a:prstGeom>
          <a:solidFill>
            <a:srgbClr val="F9E0C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완전 커스텀</a:t>
            </a:r>
            <a:endParaRPr lang="en-US" altLang="ko-KR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BFD39C-3848-81EF-11D0-043A7EF8D7CA}"/>
              </a:ext>
            </a:extLst>
          </p:cNvPr>
          <p:cNvGrpSpPr/>
          <p:nvPr/>
        </p:nvGrpSpPr>
        <p:grpSpPr>
          <a:xfrm>
            <a:off x="1597623" y="2101188"/>
            <a:ext cx="4401625" cy="238591"/>
            <a:chOff x="1495423" y="1355517"/>
            <a:chExt cx="4401625" cy="238591"/>
          </a:xfrm>
        </p:grpSpPr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E1E2518A-1101-083F-4665-A2572B3E41A4}"/>
                </a:ext>
              </a:extLst>
            </p:cNvPr>
            <p:cNvSpPr/>
            <p:nvPr/>
          </p:nvSpPr>
          <p:spPr>
            <a:xfrm>
              <a:off x="1495423" y="1355517"/>
              <a:ext cx="2160000" cy="238591"/>
            </a:xfrm>
            <a:prstGeom prst="round2SameRect">
              <a:avLst/>
            </a:prstGeom>
            <a:solidFill>
              <a:srgbClr val="25537D"/>
            </a:solidFill>
            <a:ln w="19050">
              <a:solidFill>
                <a:srgbClr val="2553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70" dirty="0">
                  <a:solidFill>
                    <a:schemeClr val="bg1"/>
                  </a:solidFill>
                </a:rPr>
                <a:t>구분</a:t>
              </a: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F1870EB7-5C36-0571-91AB-7B1B4FEED6A6}"/>
                </a:ext>
              </a:extLst>
            </p:cNvPr>
            <p:cNvSpPr/>
            <p:nvPr/>
          </p:nvSpPr>
          <p:spPr>
            <a:xfrm>
              <a:off x="3737048" y="1355517"/>
              <a:ext cx="2160000" cy="238591"/>
            </a:xfrm>
            <a:prstGeom prst="round2SameRect">
              <a:avLst/>
            </a:prstGeom>
            <a:solidFill>
              <a:srgbClr val="25537D"/>
            </a:solidFill>
            <a:ln w="19050">
              <a:solidFill>
                <a:srgbClr val="2553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70" dirty="0">
                  <a:solidFill>
                    <a:schemeClr val="bg1"/>
                  </a:solidFill>
                </a:rPr>
                <a:t>특징</a:t>
              </a: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C67509B-057F-3670-CC08-D9DBD1A34F8C}"/>
              </a:ext>
            </a:extLst>
          </p:cNvPr>
          <p:cNvCxnSpPr>
            <a:cxnSpLocks/>
          </p:cNvCxnSpPr>
          <p:nvPr/>
        </p:nvCxnSpPr>
        <p:spPr>
          <a:xfrm>
            <a:off x="3789446" y="2472871"/>
            <a:ext cx="0" cy="374015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FB0B35AC-49D2-A243-B0C0-EE267B5F53A0}"/>
              </a:ext>
            </a:extLst>
          </p:cNvPr>
          <p:cNvGrpSpPr/>
          <p:nvPr/>
        </p:nvGrpSpPr>
        <p:grpSpPr>
          <a:xfrm>
            <a:off x="2555750" y="2486786"/>
            <a:ext cx="729915" cy="753998"/>
            <a:chOff x="2253904" y="1711960"/>
            <a:chExt cx="729915" cy="753998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E640F80-35B8-29CC-412E-B66C0AA68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8862" y="1711960"/>
              <a:ext cx="540000" cy="540000"/>
            </a:xfrm>
            <a:prstGeom prst="rect">
              <a:avLst/>
            </a:prstGeom>
          </p:spPr>
        </p:pic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C329BAA-6A66-FA7C-8CB9-120339A3C4EB}"/>
                </a:ext>
              </a:extLst>
            </p:cNvPr>
            <p:cNvSpPr/>
            <p:nvPr/>
          </p:nvSpPr>
          <p:spPr>
            <a:xfrm>
              <a:off x="2253904" y="2249060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$7K~25K</a:t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9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73952A7-C401-CBB3-F7B1-684E164D2D9F}"/>
              </a:ext>
            </a:extLst>
          </p:cNvPr>
          <p:cNvGrpSpPr/>
          <p:nvPr/>
        </p:nvGrpSpPr>
        <p:grpSpPr>
          <a:xfrm>
            <a:off x="2555750" y="3554432"/>
            <a:ext cx="729915" cy="694805"/>
            <a:chOff x="2242291" y="2712559"/>
            <a:chExt cx="729915" cy="694805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E3352C47-F59F-A6BF-0657-C709516B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7249" y="2712559"/>
              <a:ext cx="540000" cy="540000"/>
            </a:xfrm>
            <a:prstGeom prst="rect">
              <a:avLst/>
            </a:prstGeom>
          </p:spPr>
        </p:pic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7DD8A218-AF59-0D39-E0F7-7989B2A6143A}"/>
                </a:ext>
              </a:extLst>
            </p:cNvPr>
            <p:cNvSpPr/>
            <p:nvPr/>
          </p:nvSpPr>
          <p:spPr>
            <a:xfrm>
              <a:off x="2242291" y="3190466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$20K~60K+</a:t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9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1039A69-D078-E88C-93F7-59E18FB4D0C9}"/>
              </a:ext>
            </a:extLst>
          </p:cNvPr>
          <p:cNvGrpSpPr/>
          <p:nvPr/>
        </p:nvGrpSpPr>
        <p:grpSpPr>
          <a:xfrm>
            <a:off x="2519254" y="5504335"/>
            <a:ext cx="802907" cy="695971"/>
            <a:chOff x="2205795" y="4677921"/>
            <a:chExt cx="802907" cy="695971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A1A5E69-8EB7-F683-0250-FF6DDEF4F54D}"/>
                </a:ext>
              </a:extLst>
            </p:cNvPr>
            <p:cNvSpPr/>
            <p:nvPr/>
          </p:nvSpPr>
          <p:spPr>
            <a:xfrm>
              <a:off x="2205795" y="5156994"/>
              <a:ext cx="802907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>$300K+</a:t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9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16F4617F-2BDA-24EF-D1C6-1FC415F1B275}"/>
                </a:ext>
              </a:extLst>
            </p:cNvPr>
            <p:cNvGrpSpPr/>
            <p:nvPr/>
          </p:nvGrpSpPr>
          <p:grpSpPr>
            <a:xfrm>
              <a:off x="2337249" y="4677921"/>
              <a:ext cx="540000" cy="540000"/>
              <a:chOff x="2337249" y="4677921"/>
              <a:chExt cx="540000" cy="540000"/>
            </a:xfrm>
          </p:grpSpPr>
          <p:pic>
            <p:nvPicPr>
              <p:cNvPr id="54" name="그림 53">
                <a:extLst>
                  <a:ext uri="{FF2B5EF4-FFF2-40B4-BE49-F238E27FC236}">
                    <a16:creationId xmlns:a16="http://schemas.microsoft.com/office/drawing/2014/main" id="{7E7024FE-E3A7-343E-9319-E929AFC130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37249" y="4677921"/>
                <a:ext cx="540000" cy="540000"/>
              </a:xfrm>
              <a:prstGeom prst="rect">
                <a:avLst/>
              </a:prstGeom>
            </p:spPr>
          </p:pic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55801B57-FEC8-92E5-E9BA-AC01EB347885}"/>
                  </a:ext>
                </a:extLst>
              </p:cNvPr>
              <p:cNvSpPr/>
              <p:nvPr/>
            </p:nvSpPr>
            <p:spPr>
              <a:xfrm>
                <a:off x="2379228" y="4785021"/>
                <a:ext cx="453219" cy="2168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/>
                </a:r>
              </a:p>
            </p:txBody>
          </p: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FF4DB050-9D1C-03B0-A5C7-5E7D8FEA2DCF}"/>
              </a:ext>
            </a:extLst>
          </p:cNvPr>
          <p:cNvGrpSpPr/>
          <p:nvPr/>
        </p:nvGrpSpPr>
        <p:grpSpPr>
          <a:xfrm>
            <a:off x="2519254" y="4532778"/>
            <a:ext cx="802907" cy="697980"/>
            <a:chOff x="2205795" y="3695240"/>
            <a:chExt cx="802907" cy="697980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D49EB09-60C3-B184-B57B-E57887290E92}"/>
                </a:ext>
              </a:extLst>
            </p:cNvPr>
            <p:cNvSpPr/>
            <p:nvPr/>
          </p:nvSpPr>
          <p:spPr>
            <a:xfrm>
              <a:off x="2205795" y="4176322"/>
              <a:ext cx="802907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>$150K~180K+</a:t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9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2FF0969F-B811-A742-2FE7-A46BA1556B82}"/>
                </a:ext>
              </a:extLst>
            </p:cNvPr>
            <p:cNvGrpSpPr/>
            <p:nvPr/>
          </p:nvGrpSpPr>
          <p:grpSpPr>
            <a:xfrm>
              <a:off x="2337249" y="3695240"/>
              <a:ext cx="540000" cy="540000"/>
              <a:chOff x="2337249" y="3695240"/>
              <a:chExt cx="540000" cy="540000"/>
            </a:xfrm>
          </p:grpSpPr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7F8FE3C4-17CF-F0B7-29CD-74AD08633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37249" y="3695240"/>
                <a:ext cx="540000" cy="540000"/>
              </a:xfrm>
              <a:prstGeom prst="rect">
                <a:avLst/>
              </a:prstGeom>
            </p:spPr>
          </p:pic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AA25288C-A1C1-8393-2BE8-979CAEFA3895}"/>
                  </a:ext>
                </a:extLst>
              </p:cNvPr>
              <p:cNvSpPr/>
              <p:nvPr/>
            </p:nvSpPr>
            <p:spPr>
              <a:xfrm>
                <a:off x="2379228" y="3794087"/>
                <a:ext cx="453219" cy="2168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/>
                </a:r>
              </a:p>
            </p:txBody>
          </p:sp>
        </p:grpSp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8F735E2D-B39B-5CA0-949A-F15B0EBB0F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925" y="3154826"/>
            <a:ext cx="432000" cy="4320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24EB2D9-EB97-668B-E3B3-6A72D8BB01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925" y="5129665"/>
            <a:ext cx="432000" cy="43200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722C3B61-AEC5-B7B0-5FCF-D2F52AB898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925" y="4146015"/>
            <a:ext cx="432000" cy="432000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1D35A5C9-45E4-7646-59F9-B50F21402C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148" y="2714115"/>
            <a:ext cx="288000" cy="28800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B46173F9-3ECD-8C0E-9879-D46DA4B885B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148" y="3701145"/>
            <a:ext cx="288000" cy="288000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D21E0BAD-1848-AC36-A97E-97260D467AF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148" y="4661597"/>
            <a:ext cx="288000" cy="288000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C0C03966-6D60-753B-9D47-5D50C6679C7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148" y="5680970"/>
            <a:ext cx="288000" cy="288000"/>
          </a:xfrm>
          <a:prstGeom prst="rect">
            <a:avLst/>
          </a:prstGeom>
        </p:spPr>
      </p:pic>
      <p:grpSp>
        <p:nvGrpSpPr>
          <p:cNvPr id="92" name="그룹 91">
            <a:extLst>
              <a:ext uri="{FF2B5EF4-FFF2-40B4-BE49-F238E27FC236}">
                <a16:creationId xmlns:a16="http://schemas.microsoft.com/office/drawing/2014/main" id="{DB0816C9-00F2-454A-D66E-8B0844A43A06}"/>
              </a:ext>
            </a:extLst>
          </p:cNvPr>
          <p:cNvGrpSpPr/>
          <p:nvPr/>
        </p:nvGrpSpPr>
        <p:grpSpPr>
          <a:xfrm>
            <a:off x="4268985" y="5473920"/>
            <a:ext cx="1293091" cy="760449"/>
            <a:chOff x="4204885" y="4728249"/>
            <a:chExt cx="1293091" cy="760449"/>
          </a:xfrm>
        </p:grpSpPr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55C4ED60-FD1A-D732-84CB-45D8FE447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430" y="4728249"/>
              <a:ext cx="540003" cy="540000"/>
            </a:xfrm>
            <a:prstGeom prst="rect">
              <a:avLst/>
            </a:prstGeom>
          </p:spPr>
        </p:pic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FA96B1B5-4331-6326-39C8-9DEEE0565E8A}"/>
                </a:ext>
              </a:extLst>
            </p:cNvPr>
            <p:cNvSpPr/>
            <p:nvPr/>
          </p:nvSpPr>
          <p:spPr>
            <a:xfrm>
              <a:off x="4204885" y="5271800"/>
              <a:ext cx="1293091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구축 6개월+</a:t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20D5CD28-CFA0-5116-8BA1-8E72B3ACAB82}"/>
              </a:ext>
            </a:extLst>
          </p:cNvPr>
          <p:cNvGrpSpPr/>
          <p:nvPr/>
        </p:nvGrpSpPr>
        <p:grpSpPr>
          <a:xfrm>
            <a:off x="4514077" y="4495823"/>
            <a:ext cx="802907" cy="760449"/>
            <a:chOff x="4449977" y="3750152"/>
            <a:chExt cx="802907" cy="760449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F2177B5C-245D-E229-A9E2-E5C6B0203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430" y="3750152"/>
              <a:ext cx="540003" cy="540000"/>
            </a:xfrm>
            <a:prstGeom prst="rect">
              <a:avLst/>
            </a:prstGeom>
          </p:spPr>
        </p:pic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B698CC46-352C-725C-055F-5BC6903892CA}"/>
                </a:ext>
              </a:extLst>
            </p:cNvPr>
            <p:cNvSpPr/>
            <p:nvPr/>
          </p:nvSpPr>
          <p:spPr>
            <a:xfrm>
              <a:off x="4449977" y="4293703"/>
              <a:ext cx="802907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유지보수 별도</a:t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794F5979-C56E-4BF4-5C46-AAD3788654B0}"/>
              </a:ext>
            </a:extLst>
          </p:cNvPr>
          <p:cNvCxnSpPr>
            <a:cxnSpLocks/>
          </p:cNvCxnSpPr>
          <p:nvPr/>
        </p:nvCxnSpPr>
        <p:spPr>
          <a:xfrm>
            <a:off x="3322161" y="4837909"/>
            <a:ext cx="1252979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15468E91-5E54-D083-3C29-28F2F5AE256C}"/>
              </a:ext>
            </a:extLst>
          </p:cNvPr>
          <p:cNvCxnSpPr>
            <a:cxnSpLocks/>
          </p:cNvCxnSpPr>
          <p:nvPr/>
        </p:nvCxnSpPr>
        <p:spPr>
          <a:xfrm>
            <a:off x="3322161" y="3886372"/>
            <a:ext cx="1252979" cy="81674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E9B63961-F1B6-FA30-87A3-A220155BAA46}"/>
              </a:ext>
            </a:extLst>
          </p:cNvPr>
          <p:cNvCxnSpPr>
            <a:cxnSpLocks/>
          </p:cNvCxnSpPr>
          <p:nvPr/>
        </p:nvCxnSpPr>
        <p:spPr>
          <a:xfrm>
            <a:off x="3322161" y="5852321"/>
            <a:ext cx="1252979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19B89C6-BE6D-206D-8EAB-005107F61E8B}"/>
              </a:ext>
            </a:extLst>
          </p:cNvPr>
          <p:cNvSpPr/>
          <p:nvPr/>
        </p:nvSpPr>
        <p:spPr>
          <a:xfrm>
            <a:off x="3905836" y="3998808"/>
            <a:ext cx="802907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연 15~20%</a:t>
            </a: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2E47E7DC-17AC-00A9-BAAA-363E34972FE8}"/>
              </a:ext>
            </a:extLst>
          </p:cNvPr>
          <p:cNvGrpSpPr/>
          <p:nvPr/>
        </p:nvGrpSpPr>
        <p:grpSpPr>
          <a:xfrm>
            <a:off x="1770057" y="2492939"/>
            <a:ext cx="729915" cy="755855"/>
            <a:chOff x="1705957" y="1753618"/>
            <a:chExt cx="729915" cy="755855"/>
          </a:xfrm>
        </p:grpSpPr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C0D6D0D0-A345-C309-CAE0-E73503000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0914" y="1753618"/>
              <a:ext cx="540000" cy="540000"/>
            </a:xfrm>
            <a:prstGeom prst="rect">
              <a:avLst/>
            </a:prstGeom>
          </p:spPr>
        </p:pic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03210B96-059B-1E4C-2392-A29421BAEE5D}"/>
                </a:ext>
              </a:extLst>
            </p:cNvPr>
            <p:cNvSpPr/>
            <p:nvPr/>
          </p:nvSpPr>
          <p:spPr>
            <a:xfrm>
              <a:off x="1705957" y="2292575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소규모 조직</a:t>
              </a: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62302169-CC1C-1657-DA0B-773DD8DC7D62}"/>
              </a:ext>
            </a:extLst>
          </p:cNvPr>
          <p:cNvGrpSpPr/>
          <p:nvPr/>
        </p:nvGrpSpPr>
        <p:grpSpPr>
          <a:xfrm>
            <a:off x="1770057" y="3497951"/>
            <a:ext cx="729915" cy="755855"/>
            <a:chOff x="1705957" y="1753618"/>
            <a:chExt cx="729915" cy="755855"/>
          </a:xfrm>
        </p:grpSpPr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82942713-6112-1CBE-DC89-07E5D4C3D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0914" y="1753618"/>
              <a:ext cx="540000" cy="540000"/>
            </a:xfrm>
            <a:prstGeom prst="rect">
              <a:avLst/>
            </a:prstGeom>
          </p:spPr>
        </p:pic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C37CC53-45CC-7998-012F-A8B6347464FA}"/>
                </a:ext>
              </a:extLst>
            </p:cNvPr>
            <p:cNvSpPr/>
            <p:nvPr/>
          </p:nvSpPr>
          <p:spPr>
            <a:xfrm>
              <a:off x="1705957" y="2292575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중견 규모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AD2C18F0-D775-393A-5878-21E283188984}"/>
              </a:ext>
            </a:extLst>
          </p:cNvPr>
          <p:cNvGrpSpPr/>
          <p:nvPr/>
        </p:nvGrpSpPr>
        <p:grpSpPr>
          <a:xfrm>
            <a:off x="1770057" y="4476048"/>
            <a:ext cx="729915" cy="755855"/>
            <a:chOff x="1705957" y="1753618"/>
            <a:chExt cx="729915" cy="755855"/>
          </a:xfrm>
        </p:grpSpPr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7E80E533-BBF3-7FBB-FD80-304677999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0914" y="1753618"/>
              <a:ext cx="540000" cy="540000"/>
            </a:xfrm>
            <a:prstGeom prst="rect">
              <a:avLst/>
            </a:prstGeom>
          </p:spPr>
        </p:pic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13AE8432-BDDA-94EC-DD23-75883A9E1484}"/>
                </a:ext>
              </a:extLst>
            </p:cNvPr>
            <p:cNvSpPr/>
            <p:nvPr/>
          </p:nvSpPr>
          <p:spPr>
            <a:xfrm>
              <a:off x="1705957" y="2292575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>대기업</a:t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61172DDC-A3AF-6F33-BBE8-2CCD5D392ACC}"/>
              </a:ext>
            </a:extLst>
          </p:cNvPr>
          <p:cNvGrpSpPr/>
          <p:nvPr/>
        </p:nvGrpSpPr>
        <p:grpSpPr>
          <a:xfrm>
            <a:off x="1770057" y="5452136"/>
            <a:ext cx="729915" cy="755855"/>
            <a:chOff x="1705957" y="1753618"/>
            <a:chExt cx="729915" cy="755855"/>
          </a:xfrm>
        </p:grpSpPr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22923C9A-F465-C02D-CA53-5C9E58EF1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0914" y="1753618"/>
              <a:ext cx="540000" cy="540000"/>
            </a:xfrm>
            <a:prstGeom prst="rect">
              <a:avLst/>
            </a:prstGeom>
          </p:spPr>
        </p:pic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1877F7A2-3275-F7C2-EE5E-98BA52FB8884}"/>
                </a:ext>
              </a:extLst>
            </p:cNvPr>
            <p:cNvSpPr/>
            <p:nvPr/>
          </p:nvSpPr>
          <p:spPr>
            <a:xfrm>
              <a:off x="1705957" y="2292575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>초대형·특수요구</a:t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AAF1C3F9-2F8E-4724-EF68-A9004B59023A}"/>
              </a:ext>
            </a:extLst>
          </p:cNvPr>
          <p:cNvSpPr/>
          <p:nvPr/>
        </p:nvSpPr>
        <p:spPr>
          <a:xfrm>
            <a:off x="1975393" y="5770860"/>
            <a:ext cx="309555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  <a:endParaRPr lang="ko-KR" altLang="en-US" sz="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10BC22A1-EFAD-B611-7B2F-F31F57444E8A}"/>
              </a:ext>
            </a:extLst>
          </p:cNvPr>
          <p:cNvSpPr/>
          <p:nvPr/>
        </p:nvSpPr>
        <p:spPr>
          <a:xfrm>
            <a:off x="1975393" y="4810584"/>
            <a:ext cx="309555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  <a:endParaRPr lang="ko-KR" altLang="en-US" sz="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7B31D552-D146-56DB-6A20-89DCDD8778AD}"/>
              </a:ext>
            </a:extLst>
          </p:cNvPr>
          <p:cNvSpPr/>
          <p:nvPr/>
        </p:nvSpPr>
        <p:spPr>
          <a:xfrm>
            <a:off x="6081082" y="2652400"/>
            <a:ext cx="1945521" cy="422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기본 기능 중심,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커스터마이징 제한적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82031311-75C0-77DB-B715-FDCD9E1EEF0F}"/>
              </a:ext>
            </a:extLst>
          </p:cNvPr>
          <p:cNvSpPr/>
          <p:nvPr/>
        </p:nvSpPr>
        <p:spPr>
          <a:xfrm>
            <a:off x="6081082" y="3639478"/>
            <a:ext cx="1945521" cy="422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일부 커스터마이징 지원,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산업별 템플릿 제공</a:t>
            </a:r>
            <a:r>
              <a:rPr lang="ko-KR" altLang="en-US" sz="900" b="1" dirty="0" err="1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C33DE679-9C19-A84F-E899-EF8CA822DEBC}"/>
              </a:ext>
            </a:extLst>
          </p:cNvPr>
          <p:cNvSpPr/>
          <p:nvPr/>
        </p:nvSpPr>
        <p:spPr>
          <a:xfrm>
            <a:off x="6081082" y="4626556"/>
            <a:ext cx="1945521" cy="422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확장 기능·통합 지원,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전담 CS 인력 배정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0F472400-DBA4-89A6-773B-85330DD360AA}"/>
              </a:ext>
            </a:extLst>
          </p:cNvPr>
          <p:cNvSpPr/>
          <p:nvPr/>
        </p:nvSpPr>
        <p:spPr>
          <a:xfrm>
            <a:off x="6081082" y="5613633"/>
            <a:ext cx="1945521" cy="422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완전 맞춤형 개발,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긴 구축 기간 소요</a:t>
            </a:r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0A3D30B0-F862-4762-E9CF-94D000043583}"/>
              </a:ext>
            </a:extLst>
          </p:cNvPr>
          <p:cNvCxnSpPr>
            <a:cxnSpLocks/>
          </p:cNvCxnSpPr>
          <p:nvPr/>
        </p:nvCxnSpPr>
        <p:spPr>
          <a:xfrm>
            <a:off x="3322161" y="2894810"/>
            <a:ext cx="1863372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그림 127">
            <a:extLst>
              <a:ext uri="{FF2B5EF4-FFF2-40B4-BE49-F238E27FC236}">
                <a16:creationId xmlns:a16="http://schemas.microsoft.com/office/drawing/2014/main" id="{1EA48243-EFD7-3C9D-D4C3-C06B0DCEAF0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425" y="2498115"/>
            <a:ext cx="540000" cy="540000"/>
          </a:xfrm>
          <a:prstGeom prst="rect">
            <a:avLst/>
          </a:prstGeom>
        </p:spPr>
      </p:pic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3B0608F-99A4-7C02-B6C9-DBB50C96EE56}"/>
              </a:ext>
            </a:extLst>
          </p:cNvPr>
          <p:cNvSpPr/>
          <p:nvPr/>
        </p:nvSpPr>
        <p:spPr>
          <a:xfrm>
            <a:off x="5200215" y="3014168"/>
            <a:ext cx="802907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클라우드 SaaS형</a:t>
            </a:r>
          </a:p>
        </p:txBody>
      </p: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B245A2F5-83AA-A369-6C8B-DEFC0BBCC8C0}"/>
              </a:ext>
            </a:extLst>
          </p:cNvPr>
          <p:cNvCxnSpPr/>
          <p:nvPr/>
        </p:nvCxnSpPr>
        <p:spPr>
          <a:xfrm>
            <a:off x="6015576" y="2472871"/>
            <a:ext cx="0" cy="75819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D233C860-4EBA-F663-C517-53C5B2FD1811}"/>
              </a:ext>
            </a:extLst>
          </p:cNvPr>
          <p:cNvCxnSpPr/>
          <p:nvPr/>
        </p:nvCxnSpPr>
        <p:spPr>
          <a:xfrm>
            <a:off x="6015576" y="3466047"/>
            <a:ext cx="0" cy="75819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2D358219-4556-76C7-A3EB-A05C7D01EC66}"/>
              </a:ext>
            </a:extLst>
          </p:cNvPr>
          <p:cNvCxnSpPr/>
          <p:nvPr/>
        </p:nvCxnSpPr>
        <p:spPr>
          <a:xfrm>
            <a:off x="6015576" y="4476048"/>
            <a:ext cx="0" cy="75819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63E0FAC6-31FD-EB7D-7BA1-20DAAD8FC748}"/>
              </a:ext>
            </a:extLst>
          </p:cNvPr>
          <p:cNvCxnSpPr/>
          <p:nvPr/>
        </p:nvCxnSpPr>
        <p:spPr>
          <a:xfrm>
            <a:off x="6015576" y="5441597"/>
            <a:ext cx="0" cy="75819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오른쪽 중괄호 141">
            <a:extLst>
              <a:ext uri="{FF2B5EF4-FFF2-40B4-BE49-F238E27FC236}">
                <a16:creationId xmlns:a16="http://schemas.microsoft.com/office/drawing/2014/main" id="{4F8A3675-5909-D815-AF6A-7F8A41AB306F}"/>
              </a:ext>
            </a:extLst>
          </p:cNvPr>
          <p:cNvSpPr/>
          <p:nvPr/>
        </p:nvSpPr>
        <p:spPr>
          <a:xfrm>
            <a:off x="8043868" y="4374759"/>
            <a:ext cx="166482" cy="1913264"/>
          </a:xfrm>
          <a:prstGeom prst="righ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462546B-581A-43AB-818B-E04FEAE15FF0}"/>
              </a:ext>
            </a:extLst>
          </p:cNvPr>
          <p:cNvSpPr/>
          <p:nvPr/>
        </p:nvSpPr>
        <p:spPr>
          <a:xfrm>
            <a:off x="8139635" y="5013860"/>
            <a:ext cx="1461698" cy="61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상용 솔루션은</a:t>
            </a:r>
            <a:endParaRPr lang="en-US" altLang="ko-KR" sz="9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j-ea"/>
                <a:ea typeface="+mj-ea"/>
              </a:rPr>
              <a:t>국내 규제 미반영 시</a:t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등급 불문</a:t>
            </a:r>
            <a:endParaRPr lang="en-US" altLang="ko-KR" sz="9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>커스터마이징 비용 추가</a:t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DAC2B83-1AE0-CCF1-C806-A17B4AC98E9D}"/>
              </a:ext>
            </a:extLst>
          </p:cNvPr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GRC·RegTech 솔루션 시장은 조직 규모에 따라 4단계 가격대로 세분화, 엔터프라이즈 GRC 시장은 2026년 236억불→2031년 421억불로 성장 전망(공개 자료 기준 추정)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대부분 사용자수 기반 라이선스(Per-seat) 모델을 채택하여 조직·기능이 확장될수록 비용이 비례해 증가하는 구조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국내 규제(자본시장법 등) 미반영 시 등급과 무관하게 별도 커스터마이징·컨설팅 비용이 추가 발생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430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Appendix2. 비용 구조 비교 상세</a:t>
            </a:r>
            <a:r>
              <a:rPr lang="ko-KR" altLang="en-US" sz="15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상용 GRC 솔루션의 비용 구조 : ① SMB~중견 구간, ② 엔터프라이즈 구간, ③ 완전 커스텀 구간 3단계 대비 자체 AI 에이전트 구축 비교</a:t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가격 정보는 공개된 시장 조사 자료 기준 추정치이며, 실제 벤더 견적과는 차이가 있을 수 있음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자체 구축은 초기 개발 리소스(인건비) 투입 후에는 인프라 비용만 발생하며, 라이선스 갱신·사용자 추가 비용이 없음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2C6E41-C704-7A4D-C93E-2D29A090CF54}"/>
              </a:ext>
            </a:extLst>
          </p:cNvPr>
          <p:cNvSpPr/>
          <p:nvPr/>
        </p:nvSpPr>
        <p:spPr>
          <a:xfrm>
            <a:off x="497470" y="2400497"/>
            <a:ext cx="2197358" cy="1184939"/>
          </a:xfrm>
          <a:prstGeom prst="rect">
            <a:avLst/>
          </a:prstGeom>
          <a:solidFill>
            <a:srgbClr val="E5EEF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9263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SMB~중견 구간</a:t>
            </a:r>
            <a:r>
              <a:rPr lang="ko-KR" altLang="en-US" sz="1000" b="1" spc="-60" dirty="0">
                <a:solidFill>
                  <a:srgbClr val="2553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 indent="449263">
              <a:lnSpc>
                <a:spcPct val="125000"/>
              </a:lnSpc>
            </a:pPr>
            <a:r>
              <a:rPr lang="ko-KR" altLang="en-US" sz="800" spc="-60" dirty="0">
                <a:solidFill>
                  <a:schemeClr val="tx1"/>
                </a:solidFill>
                <a:latin typeface="+mj-ea"/>
                <a:ea typeface="+mj-ea"/>
              </a:rPr>
              <a:t>$7K~60K+ 연간, 사용자 수 비례 증가</a:t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Shape 903">
            <a:extLst>
              <a:ext uri="{FF2B5EF4-FFF2-40B4-BE49-F238E27FC236}">
                <a16:creationId xmlns:a16="http://schemas.microsoft.com/office/drawing/2014/main" id="{205A2089-9797-6955-DD0D-883127D495AA}"/>
              </a:ext>
            </a:extLst>
          </p:cNvPr>
          <p:cNvSpPr/>
          <p:nvPr/>
        </p:nvSpPr>
        <p:spPr>
          <a:xfrm>
            <a:off x="612237" y="2840000"/>
            <a:ext cx="340000" cy="340000"/>
          </a:xfrm>
          <a:prstGeom prst="rect">
            <a:avLst/>
          </a:prstGeom>
          <a:solidFill>
            <a:srgbClr val="25537D"/>
          </a:solidFill>
          <a:ln>
            <a:noFill/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b="1" spc="-40" dirty="0">
                <a:solidFill>
                  <a:srgbClr val="FFFFFF"/>
                </a:solidFill>
                <a:latin typeface="+mn-ea"/>
                <a:ea typeface="+mn-ea"/>
              </a:rPr>
              <a:t>01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E2927A-006C-1BFD-6F6A-CAEF8E03B956}"/>
              </a:ext>
            </a:extLst>
          </p:cNvPr>
          <p:cNvSpPr/>
          <p:nvPr/>
        </p:nvSpPr>
        <p:spPr>
          <a:xfrm>
            <a:off x="497470" y="3678001"/>
            <a:ext cx="2197358" cy="1184939"/>
          </a:xfrm>
          <a:prstGeom prst="rect">
            <a:avLst/>
          </a:prstGeom>
          <a:solidFill>
            <a:srgbClr val="E5EEF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9263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엔터프라이즈 구간</a:t>
            </a:r>
            <a:r>
              <a:rPr lang="ko-KR" altLang="en-US" sz="1000" b="1" spc="-60" dirty="0">
                <a:solidFill>
                  <a:srgbClr val="2553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 indent="449263">
              <a:lnSpc>
                <a:spcPct val="125000"/>
              </a:lnSpc>
            </a:pPr>
            <a:r>
              <a:rPr lang="ko-KR" altLang="en-US" sz="800" spc="-60" dirty="0">
                <a:solidFill>
                  <a:schemeClr val="tx1"/>
                </a:solidFill>
                <a:latin typeface="+mj-ea"/>
                <a:ea typeface="+mj-ea"/>
              </a:rPr>
              <a:t>$150K~180K+ 연간, 유지보수 별도</a:t>
            </a:r>
            <a:r>
              <a:rPr lang="ko-KR" altLang="en-US" sz="8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Shape 903">
            <a:extLst>
              <a:ext uri="{FF2B5EF4-FFF2-40B4-BE49-F238E27FC236}">
                <a16:creationId xmlns:a16="http://schemas.microsoft.com/office/drawing/2014/main" id="{FED129D8-C9DA-BF77-72A3-7F3E1C76DFDE}"/>
              </a:ext>
            </a:extLst>
          </p:cNvPr>
          <p:cNvSpPr/>
          <p:nvPr/>
        </p:nvSpPr>
        <p:spPr>
          <a:xfrm>
            <a:off x="612237" y="4117504"/>
            <a:ext cx="340000" cy="340000"/>
          </a:xfrm>
          <a:prstGeom prst="rect">
            <a:avLst/>
          </a:prstGeom>
          <a:solidFill>
            <a:srgbClr val="25537D"/>
          </a:solidFill>
          <a:ln>
            <a:noFill/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b="1" spc="-40" dirty="0">
                <a:solidFill>
                  <a:srgbClr val="FFFFFF"/>
                </a:solidFill>
                <a:latin typeface="+mn-ea"/>
                <a:ea typeface="+mn-ea"/>
              </a:rPr>
              <a:t>0</a:t>
            </a:r>
            <a:r>
              <a:rPr lang="en-US" altLang="ko-KR" sz="1000" b="1" spc="-4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1000" b="1" spc="-4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DF9404C-597E-E7E2-44EC-BA0E1E68D01A}"/>
              </a:ext>
            </a:extLst>
          </p:cNvPr>
          <p:cNvSpPr/>
          <p:nvPr/>
        </p:nvSpPr>
        <p:spPr>
          <a:xfrm>
            <a:off x="497470" y="4955505"/>
            <a:ext cx="2197358" cy="1184939"/>
          </a:xfrm>
          <a:prstGeom prst="rect">
            <a:avLst/>
          </a:prstGeom>
          <a:solidFill>
            <a:srgbClr val="E5EEF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9263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완전 커스텀 구간</a:t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 indent="449263">
              <a:lnSpc>
                <a:spcPct val="125000"/>
              </a:lnSpc>
            </a:pPr>
            <a:r>
              <a:rPr lang="ko-KR" altLang="en-US" sz="800" spc="-60" dirty="0">
                <a:solidFill>
                  <a:schemeClr val="tx1"/>
                </a:solidFill>
                <a:latin typeface="+mj-ea"/>
                <a:ea typeface="+mj-ea"/>
              </a:rPr>
              <a:t>$300K+ 연간, 구축기간 6개월 이상</a:t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4" name="Shape 903">
            <a:extLst>
              <a:ext uri="{FF2B5EF4-FFF2-40B4-BE49-F238E27FC236}">
                <a16:creationId xmlns:a16="http://schemas.microsoft.com/office/drawing/2014/main" id="{E532B416-5B4A-338E-01E4-E34DFE67F10B}"/>
              </a:ext>
            </a:extLst>
          </p:cNvPr>
          <p:cNvSpPr/>
          <p:nvPr/>
        </p:nvSpPr>
        <p:spPr>
          <a:xfrm>
            <a:off x="612237" y="5395008"/>
            <a:ext cx="340000" cy="340000"/>
          </a:xfrm>
          <a:prstGeom prst="rect">
            <a:avLst/>
          </a:prstGeom>
          <a:solidFill>
            <a:srgbClr val="25537D"/>
          </a:solidFill>
          <a:ln>
            <a:noFill/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b="1" spc="-40" dirty="0">
                <a:solidFill>
                  <a:srgbClr val="FFFFFF"/>
                </a:solidFill>
                <a:latin typeface="+mn-ea"/>
                <a:ea typeface="+mn-ea"/>
              </a:rPr>
              <a:t>0</a:t>
            </a:r>
            <a:r>
              <a:rPr lang="en-US" altLang="ko-KR" sz="1000" b="1" spc="-4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endParaRPr lang="ko-KR" altLang="en-US" sz="1000" b="1" spc="-4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cxnSp>
        <p:nvCxnSpPr>
          <p:cNvPr id="25" name="Connector 902">
            <a:extLst>
              <a:ext uri="{FF2B5EF4-FFF2-40B4-BE49-F238E27FC236}">
                <a16:creationId xmlns:a16="http://schemas.microsoft.com/office/drawing/2014/main" id="{33A261BE-ADBF-5855-D5EE-837CC070A96A}"/>
              </a:ext>
            </a:extLst>
          </p:cNvPr>
          <p:cNvCxnSpPr/>
          <p:nvPr/>
        </p:nvCxnSpPr>
        <p:spPr>
          <a:xfrm>
            <a:off x="497470" y="2401541"/>
            <a:ext cx="8910000" cy="0"/>
          </a:xfrm>
          <a:prstGeom prst="straightConnector1">
            <a:avLst/>
          </a:prstGeom>
          <a:ln w="12700"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902">
            <a:extLst>
              <a:ext uri="{FF2B5EF4-FFF2-40B4-BE49-F238E27FC236}">
                <a16:creationId xmlns:a16="http://schemas.microsoft.com/office/drawing/2014/main" id="{113F010E-A73E-496C-67CB-9FEEC6266530}"/>
              </a:ext>
            </a:extLst>
          </p:cNvPr>
          <p:cNvCxnSpPr/>
          <p:nvPr/>
        </p:nvCxnSpPr>
        <p:spPr>
          <a:xfrm>
            <a:off x="497470" y="3678001"/>
            <a:ext cx="8910000" cy="0"/>
          </a:xfrm>
          <a:prstGeom prst="straightConnector1">
            <a:avLst/>
          </a:prstGeom>
          <a:ln w="12700"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902">
            <a:extLst>
              <a:ext uri="{FF2B5EF4-FFF2-40B4-BE49-F238E27FC236}">
                <a16:creationId xmlns:a16="http://schemas.microsoft.com/office/drawing/2014/main" id="{C07AB2C6-EF16-1A19-B607-7B65F8693AE6}"/>
              </a:ext>
            </a:extLst>
          </p:cNvPr>
          <p:cNvCxnSpPr/>
          <p:nvPr/>
        </p:nvCxnSpPr>
        <p:spPr>
          <a:xfrm>
            <a:off x="497470" y="4958973"/>
            <a:ext cx="8910000" cy="0"/>
          </a:xfrm>
          <a:prstGeom prst="straightConnector1">
            <a:avLst/>
          </a:prstGeom>
          <a:ln w="12700"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E012B48D-33F6-2433-DABA-CFC63CD7E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870184"/>
              </p:ext>
            </p:extLst>
          </p:nvPr>
        </p:nvGraphicFramePr>
        <p:xfrm>
          <a:off x="2689764" y="2400497"/>
          <a:ext cx="6738906" cy="38076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9453">
                  <a:extLst>
                    <a:ext uri="{9D8B030D-6E8A-4147-A177-3AD203B41FA5}">
                      <a16:colId xmlns:a16="http://schemas.microsoft.com/office/drawing/2014/main" val="696561983"/>
                    </a:ext>
                  </a:extLst>
                </a:gridCol>
                <a:gridCol w="3369453">
                  <a:extLst>
                    <a:ext uri="{9D8B030D-6E8A-4147-A177-3AD203B41FA5}">
                      <a16:colId xmlns:a16="http://schemas.microsoft.com/office/drawing/2014/main" val="4221699609"/>
                    </a:ext>
                  </a:extLst>
                </a:gridCol>
              </a:tblGrid>
              <a:tr h="1265570"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초기 셋업비 + 연 구독료 구조</a:t>
                      </a: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사용자 추가 시 비용 비례 증가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국내 규제 미반영 시 별도 컨설팅 비용 발생</a:t>
                      </a: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자체구축은 초기 개발 후 인프라 비용만 발생</a:t>
                      </a: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라이선스 갱신 부담 없음</a:t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31104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전담 CS·SLA 포함 요금제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 유지보수 비용 15~20% 별도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자체구축은 오픈소스 스택으로 유지보수 인건비만 발생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국내 규제 100% 반영 가능</a:t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395906"/>
                  </a:ext>
                </a:extLst>
              </a:tr>
              <a:tr h="1246648"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>시장가 대비 고가 계약 시 부당지원행위 이슈 소지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원가 산정 근거자료 확보 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>자체구축은 데이터 사내 보유로 원가·거래정당성 이슈 자체가 발생하지 않음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br>
                        <a:rPr lang="en-US" altLang="ko-KR" sz="1000" spc="-60" baseline="0" dirty="0">
                          <a:latin typeface="+mj-ea"/>
                          <a:ea typeface="+mj-ea"/>
                        </a:rPr>
                      </a:b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995831"/>
                  </a:ext>
                </a:extLst>
              </a:tr>
            </a:tbl>
          </a:graphicData>
        </a:graphic>
      </p:graphicFrame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3D6BCBD-4523-45DE-54A9-C820F9A7F019}"/>
              </a:ext>
            </a:extLst>
          </p:cNvPr>
          <p:cNvCxnSpPr>
            <a:cxnSpLocks/>
          </p:cNvCxnSpPr>
          <p:nvPr/>
        </p:nvCxnSpPr>
        <p:spPr>
          <a:xfrm>
            <a:off x="6049708" y="2539802"/>
            <a:ext cx="0" cy="1045634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EC2D16B-FE80-8799-3109-770350E8759F}"/>
              </a:ext>
            </a:extLst>
          </p:cNvPr>
          <p:cNvCxnSpPr>
            <a:cxnSpLocks/>
          </p:cNvCxnSpPr>
          <p:nvPr/>
        </p:nvCxnSpPr>
        <p:spPr>
          <a:xfrm>
            <a:off x="6049708" y="3817306"/>
            <a:ext cx="0" cy="1045634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8A7DDAC-15F7-FB94-C2F3-8D66CDB2D7D7}"/>
              </a:ext>
            </a:extLst>
          </p:cNvPr>
          <p:cNvCxnSpPr>
            <a:cxnSpLocks/>
          </p:cNvCxnSpPr>
          <p:nvPr/>
        </p:nvCxnSpPr>
        <p:spPr>
          <a:xfrm>
            <a:off x="6049708" y="5061907"/>
            <a:ext cx="0" cy="1045634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902">
            <a:extLst>
              <a:ext uri="{FF2B5EF4-FFF2-40B4-BE49-F238E27FC236}">
                <a16:creationId xmlns:a16="http://schemas.microsoft.com/office/drawing/2014/main" id="{F30CD6DB-A92C-0961-3707-A948DF06443C}"/>
              </a:ext>
            </a:extLst>
          </p:cNvPr>
          <p:cNvCxnSpPr/>
          <p:nvPr/>
        </p:nvCxnSpPr>
        <p:spPr>
          <a:xfrm>
            <a:off x="497470" y="6144148"/>
            <a:ext cx="8910000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360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Appendix3. 데이터 주권 비교 (자체구축 vs 외부 SaaS)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데이터 처리 방식 : 준법감시 질의·검토 문서에는 민감정보가 포함되므로 데이터가 어디에 저장·처리되는지가 핵심 판단 기준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자체구축은 질의·문서가 사내 인프라를 벗어나지 않으며, 접근 이력 전체가 사내 감사로그로 보관됨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외부 SaaS는 질의와 문서가 벤더(주로 해외) 서버로 전송되므로 개인정보보호법 등 해외이전 관련 별도 검토 필요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D53B1E3-4011-4539-68CA-A7E5C5730DEB}"/>
              </a:ext>
            </a:extLst>
          </p:cNvPr>
          <p:cNvGrpSpPr/>
          <p:nvPr/>
        </p:nvGrpSpPr>
        <p:grpSpPr>
          <a:xfrm>
            <a:off x="497468" y="2225906"/>
            <a:ext cx="7614367" cy="252000"/>
            <a:chOff x="497468" y="2385423"/>
            <a:chExt cx="7614367" cy="22428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E73604F-385B-1141-EAB7-CCDEE2AD0CE4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6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99E6605-E701-B4C7-4D34-36E1ECE1160D}"/>
                </a:ext>
              </a:extLst>
            </p:cNvPr>
            <p:cNvSpPr/>
            <p:nvPr/>
          </p:nvSpPr>
          <p:spPr>
            <a:xfrm>
              <a:off x="497468" y="2385423"/>
              <a:ext cx="7614367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>자체구축과 외부 SaaS의 구분 : 상용 SaaS는 계약서상 "국내 데이터센터 이용"을 명시해도 실제 처리 경로 확인이 필요하므로 주의</a:t>
              </a:r>
              <a:r>
                <a:rPr lang="en-US" altLang="ko-KR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EADA419-D6B3-82E9-3AD4-91F237F97FDE}"/>
              </a:ext>
            </a:extLst>
          </p:cNvPr>
          <p:cNvSpPr/>
          <p:nvPr/>
        </p:nvSpPr>
        <p:spPr>
          <a:xfrm>
            <a:off x="767443" y="2566851"/>
            <a:ext cx="3889224" cy="124399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자체 AI 에이전트 구축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363A0A-A0C5-EE8F-093D-6B6E1A5D7BEE}"/>
              </a:ext>
            </a:extLst>
          </p:cNvPr>
          <p:cNvSpPr/>
          <p:nvPr/>
        </p:nvSpPr>
        <p:spPr>
          <a:xfrm>
            <a:off x="916392" y="2938780"/>
            <a:ext cx="986612" cy="278758"/>
          </a:xfrm>
          <a:prstGeom prst="roundRect">
            <a:avLst/>
          </a:prstGeom>
          <a:solidFill>
            <a:srgbClr val="2553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bg1"/>
                </a:solidFill>
              </a:rPr>
              <a:t>질의자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2159E5F-D15F-2308-F323-DDBB7EF8D3AF}"/>
              </a:ext>
            </a:extLst>
          </p:cNvPr>
          <p:cNvSpPr/>
          <p:nvPr/>
        </p:nvSpPr>
        <p:spPr>
          <a:xfrm>
            <a:off x="916392" y="3398436"/>
            <a:ext cx="986612" cy="278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사내 인프라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85CE6E5-D92E-F2C3-F394-1B53A690DBB5}"/>
              </a:ext>
            </a:extLst>
          </p:cNvPr>
          <p:cNvSpPr/>
          <p:nvPr/>
        </p:nvSpPr>
        <p:spPr>
          <a:xfrm>
            <a:off x="2228726" y="3398436"/>
            <a:ext cx="986612" cy="278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자체 서버</a:t>
            </a:r>
            <a:r>
              <a:rPr lang="en-US" altLang="ko-KR" sz="1000" b="1" spc="-60" dirty="0">
                <a:solidFill>
                  <a:schemeClr val="tx1"/>
                </a:solidFill>
              </a:rPr>
              <a:t/>
            </a:r>
            <a:endParaRPr lang="ko-KR" altLang="en-US" sz="1000" b="1" spc="-60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5F0B78D-8C3D-25A1-786B-54B4C1576F35}"/>
              </a:ext>
            </a:extLst>
          </p:cNvPr>
          <p:cNvSpPr/>
          <p:nvPr/>
        </p:nvSpPr>
        <p:spPr>
          <a:xfrm>
            <a:off x="3541060" y="3398436"/>
            <a:ext cx="986612" cy="278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그래프·벡터 DB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132D33F-6840-DC01-9E83-5296B86CD728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1409698" y="3217538"/>
            <a:ext cx="0" cy="1808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BE4451A-BDC0-F6A0-8811-3BD903A191A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903004" y="3537815"/>
            <a:ext cx="32572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571A981-70F9-1F49-26F0-9DF0BC184F7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215338" y="3537815"/>
            <a:ext cx="32572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FB503D1-F673-3849-C94E-D14E0673B664}"/>
              </a:ext>
            </a:extLst>
          </p:cNvPr>
          <p:cNvCxnSpPr>
            <a:endCxn id="6" idx="0"/>
          </p:cNvCxnSpPr>
          <p:nvPr/>
        </p:nvCxnSpPr>
        <p:spPr>
          <a:xfrm>
            <a:off x="1903004" y="3064193"/>
            <a:ext cx="819028" cy="334243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92AD3227-629C-F9BA-9A3B-CFDED56ADCE4}"/>
              </a:ext>
            </a:extLst>
          </p:cNvPr>
          <p:cNvCxnSpPr>
            <a:stCxn id="4" idx="3"/>
            <a:endCxn id="7" idx="0"/>
          </p:cNvCxnSpPr>
          <p:nvPr/>
        </p:nvCxnSpPr>
        <p:spPr>
          <a:xfrm>
            <a:off x="1903004" y="3078159"/>
            <a:ext cx="2131362" cy="320277"/>
          </a:xfrm>
          <a:prstGeom prst="bentConnector2">
            <a:avLst/>
          </a:prstGeom>
          <a:ln w="12700">
            <a:solidFill>
              <a:schemeClr val="accent2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829AEC6-D850-11AC-3F17-0F87F9741D24}"/>
              </a:ext>
            </a:extLst>
          </p:cNvPr>
          <p:cNvSpPr/>
          <p:nvPr/>
        </p:nvSpPr>
        <p:spPr>
          <a:xfrm>
            <a:off x="2413603" y="3169658"/>
            <a:ext cx="971518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질의 전달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CC81CC-79D5-F1E7-2AED-ED3CF9A8B1EC}"/>
              </a:ext>
            </a:extLst>
          </p:cNvPr>
          <p:cNvSpPr/>
          <p:nvPr/>
        </p:nvSpPr>
        <p:spPr>
          <a:xfrm>
            <a:off x="3095385" y="2845099"/>
            <a:ext cx="971518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데이터 외부반출 없음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3EE7B01-8D7B-5F6A-81B4-DA17A9B9E00D}"/>
              </a:ext>
            </a:extLst>
          </p:cNvPr>
          <p:cNvSpPr/>
          <p:nvPr/>
        </p:nvSpPr>
        <p:spPr>
          <a:xfrm>
            <a:off x="5338219" y="2566851"/>
            <a:ext cx="3889224" cy="124399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b="1" spc="-60">
                <a:solidFill>
                  <a:schemeClr val="tx1"/>
                </a:solidFill>
              </a:rPr>
              <a:t>상용 SaaS 솔루션</a:t>
            </a:r>
            <a:r>
              <a:rPr lang="ko-KR" altLang="en-US" sz="1000" b="1" spc="-60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A8AB3FD-2ED0-8930-B8A8-AC79383C4042}"/>
              </a:ext>
            </a:extLst>
          </p:cNvPr>
          <p:cNvSpPr/>
          <p:nvPr/>
        </p:nvSpPr>
        <p:spPr>
          <a:xfrm>
            <a:off x="5487168" y="2938780"/>
            <a:ext cx="986612" cy="278758"/>
          </a:xfrm>
          <a:prstGeom prst="roundRect">
            <a:avLst/>
          </a:prstGeom>
          <a:solidFill>
            <a:srgbClr val="2553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bg1"/>
                </a:solidFill>
              </a:rPr>
              <a:t>질의자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A693462-E1CF-6F4A-4926-91DBBD614BF7}"/>
              </a:ext>
            </a:extLst>
          </p:cNvPr>
          <p:cNvSpPr/>
          <p:nvPr/>
        </p:nvSpPr>
        <p:spPr>
          <a:xfrm>
            <a:off x="5487168" y="3398436"/>
            <a:ext cx="986612" cy="278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벤더 서버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05511A0-EFBA-6C63-17A4-29BB289D68EA}"/>
              </a:ext>
            </a:extLst>
          </p:cNvPr>
          <p:cNvSpPr/>
          <p:nvPr/>
        </p:nvSpPr>
        <p:spPr>
          <a:xfrm>
            <a:off x="8111836" y="3398436"/>
            <a:ext cx="986612" cy="278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벤더 인프라 저장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F678890-B549-C0F6-84B2-89B5940CED5F}"/>
              </a:ext>
            </a:extLst>
          </p:cNvPr>
          <p:cNvCxnSpPr>
            <a:stCxn id="27" idx="0"/>
            <a:endCxn id="26" idx="2"/>
          </p:cNvCxnSpPr>
          <p:nvPr/>
        </p:nvCxnSpPr>
        <p:spPr>
          <a:xfrm flipV="1">
            <a:off x="5980474" y="3217538"/>
            <a:ext cx="0" cy="1808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81B196F-1B79-50D1-772E-791F2320221C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6473780" y="3537815"/>
            <a:ext cx="163805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8EB461-59D3-7AA4-820D-5669B9766F40}"/>
              </a:ext>
            </a:extLst>
          </p:cNvPr>
          <p:cNvSpPr/>
          <p:nvPr/>
        </p:nvSpPr>
        <p:spPr>
          <a:xfrm>
            <a:off x="7934825" y="2870123"/>
            <a:ext cx="802907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질의+문서 전송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CC9B5CA-5917-E395-5C25-691D5A94C9B1}"/>
              </a:ext>
            </a:extLst>
          </p:cNvPr>
          <p:cNvSpPr/>
          <p:nvPr/>
        </p:nvSpPr>
        <p:spPr>
          <a:xfrm>
            <a:off x="6967085" y="3566358"/>
            <a:ext cx="802907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데이터 통제권 상실</a:t>
            </a: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47044271-8C54-A8D2-6C08-B71DA6F38466}"/>
              </a:ext>
            </a:extLst>
          </p:cNvPr>
          <p:cNvCxnSpPr>
            <a:stCxn id="26" idx="3"/>
            <a:endCxn id="29" idx="0"/>
          </p:cNvCxnSpPr>
          <p:nvPr/>
        </p:nvCxnSpPr>
        <p:spPr>
          <a:xfrm>
            <a:off x="6473780" y="3078159"/>
            <a:ext cx="2131362" cy="320277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C0DE9BC-4A62-0370-BBB5-4E94B4E86D78}"/>
              </a:ext>
            </a:extLst>
          </p:cNvPr>
          <p:cNvGrpSpPr/>
          <p:nvPr/>
        </p:nvGrpSpPr>
        <p:grpSpPr>
          <a:xfrm>
            <a:off x="497468" y="4104021"/>
            <a:ext cx="4455532" cy="252000"/>
            <a:chOff x="497468" y="2385423"/>
            <a:chExt cx="4455532" cy="224286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5B3D3A4-A5FF-3A6B-C694-0E84DEC8FC87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6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AB3C923-0C10-10F2-2398-60C4D72F7D9C}"/>
                </a:ext>
              </a:extLst>
            </p:cNvPr>
            <p:cNvSpPr/>
            <p:nvPr/>
          </p:nvSpPr>
          <p:spPr>
            <a:xfrm>
              <a:off x="497468" y="2385423"/>
              <a:ext cx="4455532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>데이터 주권 확보 기준 : 계약서 조항이 아닌 실제 데이터 저장·처리 위치로 판단</a:t>
              </a:r>
              <a:r>
                <a:rPr lang="en-US" altLang="ko-KR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6A816D5B-F77C-2C42-D01C-C37840307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864235"/>
              </p:ext>
            </p:extLst>
          </p:nvPr>
        </p:nvGraphicFramePr>
        <p:xfrm>
          <a:off x="767443" y="4414516"/>
          <a:ext cx="8460000" cy="18338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361312432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43298149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774969107"/>
                    </a:ext>
                  </a:extLst>
                </a:gridCol>
              </a:tblGrid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구분 기준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외부 SaaS 도입 시 리스크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자체구축 시 대응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471060"/>
                  </a:ext>
                </a:extLst>
              </a:tr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저장 위치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질의·검토문서가 벤더(주로 해외) 서버로 전송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데이터가 사내 인프라를 벗어나지 않음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230179"/>
                  </a:ext>
                </a:extLst>
              </a:tr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접근 이력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벤더의 접근로그를 사내에서 직접 확인 어려움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감사로그 시스템으로 전체 접근이력 사내 보관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169296"/>
                  </a:ext>
                </a:extLst>
              </a:tr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규제 대응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국내 규제 변경 시 벤더 반영 일정에 종속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규제 변경 시 즉시 자체 반영 가능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36750"/>
                  </a:ext>
                </a:extLst>
              </a:tr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망 분리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SaaS 접속을 위한 외부망 노출 필요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사내망 내 폐쇄형 운영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747518"/>
                  </a:ext>
                </a:extLst>
              </a:tr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개인정보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해외 이전 시 개인정보보호법 별도 검토 필요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국내 저장으로 별도 해외이전 이슈 없음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629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067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Appendix4. 거버넌스 조직 및 운영 규정 체계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7442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AI 준법감시 에이전트 거버넌스 : 경영진 심의라인과 실무 운영라인의 이원 구조로 책무구조도 요건 충족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준법감시인(CCO) → AI운영협의체 → 실무담당자 지휘라인과 별도로, 이사회 산하 내부통제위원회를 심의기구로 운영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D53B1E3-4011-4539-68CA-A7E5C5730DEB}"/>
              </a:ext>
            </a:extLst>
          </p:cNvPr>
          <p:cNvGrpSpPr/>
          <p:nvPr/>
        </p:nvGrpSpPr>
        <p:grpSpPr>
          <a:xfrm>
            <a:off x="497470" y="2212843"/>
            <a:ext cx="2603758" cy="252000"/>
            <a:chOff x="497470" y="2385423"/>
            <a:chExt cx="2603758" cy="22428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E73604F-385B-1141-EAB7-CCDEE2AD0CE4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99E6605-E701-B4C7-4D34-36E1ECE1160D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거버넌스 조직 구조</a:t>
              </a:r>
            </a:p>
          </p:txBody>
        </p:sp>
      </p:grpSp>
      <p:sp>
        <p:nvSpPr>
          <p:cNvPr id="74" name="Shape 903">
            <a:extLst>
              <a:ext uri="{FF2B5EF4-FFF2-40B4-BE49-F238E27FC236}">
                <a16:creationId xmlns:a16="http://schemas.microsoft.com/office/drawing/2014/main" id="{14EA131E-98E6-45B3-C8AC-FA47F234D405}"/>
              </a:ext>
            </a:extLst>
          </p:cNvPr>
          <p:cNvSpPr/>
          <p:nvPr/>
        </p:nvSpPr>
        <p:spPr>
          <a:xfrm>
            <a:off x="1788843" y="5400000"/>
            <a:ext cx="1260000" cy="72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>내부통제위원회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이사회 산하 심의기구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위원장 준법감시인</a:t>
            </a:r>
            <a:endParaRPr lang="en-US" altLang="ko-KR" sz="800" spc="-40" dirty="0">
              <a:solidFill>
                <a:srgbClr val="D6E2EF"/>
              </a:solidFill>
              <a:latin typeface="+mn-ea"/>
              <a:ea typeface="+mn-ea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위원 CIO·CISO</a:t>
            </a:r>
          </a:p>
        </p:txBody>
      </p:sp>
      <p:sp>
        <p:nvSpPr>
          <p:cNvPr id="75" name="Shape 904">
            <a:extLst>
              <a:ext uri="{FF2B5EF4-FFF2-40B4-BE49-F238E27FC236}">
                <a16:creationId xmlns:a16="http://schemas.microsoft.com/office/drawing/2014/main" id="{0D2B82C8-EDA1-2AA2-E47A-BA93FCC783A5}"/>
              </a:ext>
            </a:extLst>
          </p:cNvPr>
          <p:cNvSpPr/>
          <p:nvPr/>
        </p:nvSpPr>
        <p:spPr>
          <a:xfrm>
            <a:off x="1788843" y="4486666"/>
            <a:ext cx="1260000" cy="7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25537D"/>
                </a:solidFill>
                <a:latin typeface="+mn-ea"/>
                <a:ea typeface="+mn-ea"/>
              </a:rPr>
              <a:t>AI 시스템 담당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404040"/>
                </a:solidFill>
                <a:latin typeface="+mn-ea"/>
                <a:ea typeface="+mn-ea"/>
              </a:rPr>
              <a:t>IT부서 소속</a:t>
            </a:r>
            <a:endParaRPr lang="en-US" altLang="ko-KR" sz="800" spc="-40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404040"/>
                </a:solidFill>
                <a:latin typeface="+mn-ea"/>
              </a:rPr>
              <a:t>기술 검증 승인권</a:t>
            </a:r>
            <a:r>
              <a:rPr lang="ko-KR" altLang="en-US" sz="800" spc="-40" dirty="0">
                <a:solidFill>
                  <a:srgbClr val="404040"/>
                </a:solidFill>
                <a:latin typeface="+mn-ea"/>
                <a:ea typeface="+mn-ea"/>
              </a:rPr>
              <a:t/>
            </a:r>
          </a:p>
        </p:txBody>
      </p:sp>
      <p:sp>
        <p:nvSpPr>
          <p:cNvPr id="76" name="Shape 905">
            <a:extLst>
              <a:ext uri="{FF2B5EF4-FFF2-40B4-BE49-F238E27FC236}">
                <a16:creationId xmlns:a16="http://schemas.microsoft.com/office/drawing/2014/main" id="{0A8C949C-A15F-66AF-B561-E69C868EDCC6}"/>
              </a:ext>
            </a:extLst>
          </p:cNvPr>
          <p:cNvSpPr/>
          <p:nvPr/>
        </p:nvSpPr>
        <p:spPr>
          <a:xfrm>
            <a:off x="497470" y="3572421"/>
            <a:ext cx="900000" cy="720000"/>
          </a:xfrm>
          <a:prstGeom prst="roundRect">
            <a:avLst>
              <a:gd name="adj" fmla="val 12000"/>
            </a:avLst>
          </a:prstGeom>
          <a:solidFill>
            <a:srgbClr val="25537D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>이사회</a:t>
            </a:r>
            <a:endParaRPr lang="en-US" altLang="ko-KR" sz="900" b="1" spc="-40" dirty="0">
              <a:solidFill>
                <a:srgbClr val="FFFFFF"/>
              </a:solidFill>
              <a:latin typeface="+mn-ea"/>
            </a:endParaRPr>
          </a:p>
          <a:p>
            <a:pPr algn="ctr">
              <a:lnSpc>
                <a:spcPct val="105000"/>
              </a:lnSpc>
            </a:pPr>
            <a:r>
              <a:rPr lang="en-US" altLang="ko-KR" sz="900" b="1" spc="-40" dirty="0">
                <a:solidFill>
                  <a:srgbClr val="FFFFFF"/>
                </a:solidFill>
                <a:latin typeface="+mn-ea"/>
                <a:ea typeface="+mn-ea"/>
              </a:rPr>
              <a:t>&amp;</a:t>
            </a:r>
          </a:p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</a:rPr>
              <a:t>대표이사</a:t>
            </a:r>
            <a:endParaRPr lang="ko-KR" altLang="en-US" sz="900" b="1" spc="-4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77" name="Shape 906">
            <a:extLst>
              <a:ext uri="{FF2B5EF4-FFF2-40B4-BE49-F238E27FC236}">
                <a16:creationId xmlns:a16="http://schemas.microsoft.com/office/drawing/2014/main" id="{8D9B5631-4EF2-3103-811C-C3F142B37F0F}"/>
              </a:ext>
            </a:extLst>
          </p:cNvPr>
          <p:cNvSpPr/>
          <p:nvPr/>
        </p:nvSpPr>
        <p:spPr>
          <a:xfrm>
            <a:off x="1788843" y="3573333"/>
            <a:ext cx="1260000" cy="72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>준법감시인(CCO)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AI 에이전트 총괄</a:t>
            </a:r>
            <a:endParaRPr lang="en-US" altLang="ko-KR" sz="800" spc="-40" dirty="0">
              <a:solidFill>
                <a:srgbClr val="D6E2EF"/>
              </a:solidFill>
              <a:latin typeface="+mn-ea"/>
              <a:ea typeface="+mn-ea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최종 승인권</a:t>
            </a:r>
            <a:r>
              <a:rPr lang="ko-KR" altLang="en-US" sz="800" spc="-40" dirty="0">
                <a:solidFill>
                  <a:srgbClr val="D6E2EF"/>
                </a:solidFill>
                <a:latin typeface="+mn-ea"/>
              </a:rPr>
              <a:t/>
            </a:r>
            <a:endParaRPr lang="ko-KR" altLang="en-US" sz="800" spc="-40" dirty="0">
              <a:solidFill>
                <a:srgbClr val="D6E2EF"/>
              </a:solidFill>
              <a:latin typeface="+mn-ea"/>
              <a:ea typeface="+mn-ea"/>
            </a:endParaRPr>
          </a:p>
        </p:txBody>
      </p:sp>
      <p:sp>
        <p:nvSpPr>
          <p:cNvPr id="78" name="Shape 907">
            <a:extLst>
              <a:ext uri="{FF2B5EF4-FFF2-40B4-BE49-F238E27FC236}">
                <a16:creationId xmlns:a16="http://schemas.microsoft.com/office/drawing/2014/main" id="{732144DC-08CA-ACDD-FF0C-DFB1E7B51C4C}"/>
              </a:ext>
            </a:extLst>
          </p:cNvPr>
          <p:cNvSpPr/>
          <p:nvPr/>
        </p:nvSpPr>
        <p:spPr>
          <a:xfrm>
            <a:off x="3500000" y="3573333"/>
            <a:ext cx="1260000" cy="7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25537D"/>
                </a:solidFill>
                <a:latin typeface="+mn-ea"/>
                <a:ea typeface="+mn-ea"/>
              </a:rPr>
              <a:t>실무 담당자</a:t>
            </a:r>
            <a:r>
              <a:rPr lang="ko-KR" altLang="en-US" sz="900" b="1" spc="-40" dirty="0">
                <a:solidFill>
                  <a:srgbClr val="25537D"/>
                </a:solidFill>
                <a:latin typeface="+mn-ea"/>
              </a:rPr>
              <a:t/>
            </a:r>
            <a:endParaRPr lang="ko-KR" altLang="en-US" sz="900" b="1" spc="-40" dirty="0">
              <a:solidFill>
                <a:srgbClr val="25537D"/>
              </a:solidFill>
              <a:latin typeface="+mn-ea"/>
              <a:ea typeface="+mn-ea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404040"/>
                </a:solidFill>
                <a:latin typeface="+mn-ea"/>
                <a:ea typeface="+mn-ea"/>
              </a:rPr>
              <a:t>준법감시부 소속</a:t>
            </a:r>
            <a:endParaRPr lang="en-US" altLang="ko-KR" sz="800" spc="-40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404040"/>
                </a:solidFill>
                <a:latin typeface="+mn-ea"/>
                <a:ea typeface="+mn-ea"/>
              </a:rPr>
              <a:t>질의·검토·보고</a:t>
            </a:r>
          </a:p>
        </p:txBody>
      </p:sp>
      <p:sp>
        <p:nvSpPr>
          <p:cNvPr id="79" name="Shape 908">
            <a:extLst>
              <a:ext uri="{FF2B5EF4-FFF2-40B4-BE49-F238E27FC236}">
                <a16:creationId xmlns:a16="http://schemas.microsoft.com/office/drawing/2014/main" id="{6F39B56A-F434-245B-6CB0-1B196C0E0B20}"/>
              </a:ext>
            </a:extLst>
          </p:cNvPr>
          <p:cNvSpPr/>
          <p:nvPr/>
        </p:nvSpPr>
        <p:spPr>
          <a:xfrm>
            <a:off x="1788843" y="2660000"/>
            <a:ext cx="1260000" cy="72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>AI운영협의체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CCO 주관</a:t>
            </a:r>
          </a:p>
        </p:txBody>
      </p:sp>
      <p:sp>
        <p:nvSpPr>
          <p:cNvPr id="80" name="Shape 909">
            <a:extLst>
              <a:ext uri="{FF2B5EF4-FFF2-40B4-BE49-F238E27FC236}">
                <a16:creationId xmlns:a16="http://schemas.microsoft.com/office/drawing/2014/main" id="{E639521B-DEA2-1124-AE20-A437A889EDDF}"/>
              </a:ext>
            </a:extLst>
          </p:cNvPr>
          <p:cNvSpPr/>
          <p:nvPr/>
        </p:nvSpPr>
        <p:spPr>
          <a:xfrm>
            <a:off x="3500000" y="2660000"/>
            <a:ext cx="1260000" cy="7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9525">
            <a:solidFill>
              <a:srgbClr val="595959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404040"/>
                </a:solidFill>
                <a:latin typeface="+mn-ea"/>
                <a:ea typeface="+mn-ea"/>
              </a:rPr>
              <a:t>IT부서 담당자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기술 유지보수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협의체 참여·의결권 없음</a:t>
            </a:r>
          </a:p>
        </p:txBody>
      </p:sp>
      <p:sp>
        <p:nvSpPr>
          <p:cNvPr id="84" name="TextBox 913">
            <a:extLst>
              <a:ext uri="{FF2B5EF4-FFF2-40B4-BE49-F238E27FC236}">
                <a16:creationId xmlns:a16="http://schemas.microsoft.com/office/drawing/2014/main" id="{2D88E9BE-2205-6C4D-2161-C04C393C8137}"/>
              </a:ext>
            </a:extLst>
          </p:cNvPr>
          <p:cNvSpPr txBox="1"/>
          <p:nvPr/>
        </p:nvSpPr>
        <p:spPr>
          <a:xfrm>
            <a:off x="2551980" y="4309999"/>
            <a:ext cx="74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심의 안건 상정</a:t>
            </a:r>
          </a:p>
        </p:txBody>
      </p:sp>
      <p:sp>
        <p:nvSpPr>
          <p:cNvPr id="90" name="TextBox 919">
            <a:extLst>
              <a:ext uri="{FF2B5EF4-FFF2-40B4-BE49-F238E27FC236}">
                <a16:creationId xmlns:a16="http://schemas.microsoft.com/office/drawing/2014/main" id="{860DAAE5-A643-9E1E-BB37-DA7DF921CAF3}"/>
              </a:ext>
            </a:extLst>
          </p:cNvPr>
          <p:cNvSpPr txBox="1"/>
          <p:nvPr/>
        </p:nvSpPr>
        <p:spPr>
          <a:xfrm>
            <a:off x="998735" y="5577549"/>
            <a:ext cx="6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보고·부의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441F91D7-76B8-C99E-D868-5382722A0F1F}"/>
              </a:ext>
            </a:extLst>
          </p:cNvPr>
          <p:cNvCxnSpPr>
            <a:stCxn id="79" idx="2"/>
            <a:endCxn id="77" idx="0"/>
          </p:cNvCxnSpPr>
          <p:nvPr/>
        </p:nvCxnSpPr>
        <p:spPr>
          <a:xfrm>
            <a:off x="2418843" y="3380000"/>
            <a:ext cx="0" cy="193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9C4565F2-4F28-DFA1-988B-218581FD10AA}"/>
              </a:ext>
            </a:extLst>
          </p:cNvPr>
          <p:cNvCxnSpPr>
            <a:cxnSpLocks/>
            <a:stCxn id="79" idx="3"/>
            <a:endCxn id="80" idx="1"/>
          </p:cNvCxnSpPr>
          <p:nvPr/>
        </p:nvCxnSpPr>
        <p:spPr>
          <a:xfrm>
            <a:off x="3048843" y="3020000"/>
            <a:ext cx="45115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03676A11-D903-6C7E-B5C5-0102C44361B0}"/>
              </a:ext>
            </a:extLst>
          </p:cNvPr>
          <p:cNvCxnSpPr>
            <a:cxnSpLocks/>
            <a:stCxn id="74" idx="0"/>
            <a:endCxn id="75" idx="2"/>
          </p:cNvCxnSpPr>
          <p:nvPr/>
        </p:nvCxnSpPr>
        <p:spPr>
          <a:xfrm flipV="1">
            <a:off x="2418843" y="5206666"/>
            <a:ext cx="0" cy="1933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2463E3F6-7B0C-7A53-21B5-7CF29312739F}"/>
              </a:ext>
            </a:extLst>
          </p:cNvPr>
          <p:cNvCxnSpPr>
            <a:cxnSpLocks/>
            <a:stCxn id="80" idx="2"/>
            <a:endCxn id="78" idx="0"/>
          </p:cNvCxnSpPr>
          <p:nvPr/>
        </p:nvCxnSpPr>
        <p:spPr>
          <a:xfrm>
            <a:off x="4130000" y="3380000"/>
            <a:ext cx="0" cy="193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29B1593D-894E-F4FB-BC16-406583A512A6}"/>
              </a:ext>
            </a:extLst>
          </p:cNvPr>
          <p:cNvCxnSpPr>
            <a:stCxn id="74" idx="1"/>
            <a:endCxn id="76" idx="2"/>
          </p:cNvCxnSpPr>
          <p:nvPr/>
        </p:nvCxnSpPr>
        <p:spPr>
          <a:xfrm rot="10800000">
            <a:off x="947471" y="4292422"/>
            <a:ext cx="841373" cy="1467579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FF395516-6B06-3EBF-A137-6801CC76D57B}"/>
              </a:ext>
            </a:extLst>
          </p:cNvPr>
          <p:cNvCxnSpPr>
            <a:cxnSpLocks/>
            <a:stCxn id="78" idx="2"/>
            <a:endCxn id="75" idx="3"/>
          </p:cNvCxnSpPr>
          <p:nvPr/>
        </p:nvCxnSpPr>
        <p:spPr>
          <a:xfrm rot="5400000">
            <a:off x="3312756" y="4029421"/>
            <a:ext cx="553333" cy="1081157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913">
            <a:extLst>
              <a:ext uri="{FF2B5EF4-FFF2-40B4-BE49-F238E27FC236}">
                <a16:creationId xmlns:a16="http://schemas.microsoft.com/office/drawing/2014/main" id="{A56D07CC-9AE9-5C35-F783-9D4A9B18D667}"/>
              </a:ext>
            </a:extLst>
          </p:cNvPr>
          <p:cNvSpPr txBox="1"/>
          <p:nvPr/>
        </p:nvSpPr>
        <p:spPr>
          <a:xfrm>
            <a:off x="3492320" y="4866211"/>
            <a:ext cx="8954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심의 요청</a:t>
            </a: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DBB9C852-9BDC-844B-49BF-6E5CB0BEC6AA}"/>
              </a:ext>
            </a:extLst>
          </p:cNvPr>
          <p:cNvGrpSpPr/>
          <p:nvPr/>
        </p:nvGrpSpPr>
        <p:grpSpPr>
          <a:xfrm>
            <a:off x="5191390" y="2212843"/>
            <a:ext cx="2603758" cy="252000"/>
            <a:chOff x="497470" y="2385423"/>
            <a:chExt cx="2603758" cy="224286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6FFF064F-23EA-7D0F-F9B1-0E8ADD21E18E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BB026138-0827-F793-4408-2899F1EBA66D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>AI 에이전트 운영 규정 체계(안)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endParaRPr lang="ko-KR" altLang="en-US" sz="10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6" name="Shape 905">
            <a:extLst>
              <a:ext uri="{FF2B5EF4-FFF2-40B4-BE49-F238E27FC236}">
                <a16:creationId xmlns:a16="http://schemas.microsoft.com/office/drawing/2014/main" id="{69B6791F-846A-106E-531C-3297227BF963}"/>
              </a:ext>
            </a:extLst>
          </p:cNvPr>
          <p:cNvSpPr/>
          <p:nvPr/>
        </p:nvSpPr>
        <p:spPr>
          <a:xfrm>
            <a:off x="5385756" y="2952485"/>
            <a:ext cx="900000" cy="847643"/>
          </a:xfrm>
          <a:prstGeom prst="roundRect">
            <a:avLst>
              <a:gd name="adj" fmla="val 12000"/>
            </a:avLst>
          </a:prstGeom>
          <a:solidFill>
            <a:srgbClr val="25537D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900" b="1" spc="-40" dirty="0">
                <a:solidFill>
                  <a:srgbClr val="FFFFFF"/>
                </a:solidFill>
                <a:latin typeface="+mn-ea"/>
                <a:ea typeface="+mn-ea"/>
              </a:rPr>
              <a:t>운영 규정</a:t>
            </a: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/>
            </a:r>
          </a:p>
        </p:txBody>
      </p:sp>
      <p:sp>
        <p:nvSpPr>
          <p:cNvPr id="129" name="Shape 905">
            <a:extLst>
              <a:ext uri="{FF2B5EF4-FFF2-40B4-BE49-F238E27FC236}">
                <a16:creationId xmlns:a16="http://schemas.microsoft.com/office/drawing/2014/main" id="{A57BFE52-A9BE-66F4-CBF4-1060336E3435}"/>
              </a:ext>
            </a:extLst>
          </p:cNvPr>
          <p:cNvSpPr/>
          <p:nvPr/>
        </p:nvSpPr>
        <p:spPr>
          <a:xfrm>
            <a:off x="5383596" y="4903058"/>
            <a:ext cx="900000" cy="847643"/>
          </a:xfrm>
          <a:prstGeom prst="roundRect">
            <a:avLst>
              <a:gd name="adj" fmla="val 12000"/>
            </a:avLst>
          </a:prstGeom>
          <a:solidFill>
            <a:srgbClr val="25537D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>보안 규정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DACE393F-E8EE-549A-0C16-1345AADDAA48}"/>
              </a:ext>
            </a:extLst>
          </p:cNvPr>
          <p:cNvGrpSpPr/>
          <p:nvPr/>
        </p:nvGrpSpPr>
        <p:grpSpPr>
          <a:xfrm>
            <a:off x="6920168" y="4415415"/>
            <a:ext cx="2200971" cy="1822930"/>
            <a:chOff x="6394388" y="4415415"/>
            <a:chExt cx="1972671" cy="1822930"/>
          </a:xfrm>
        </p:grpSpPr>
        <p:sp>
          <p:nvSpPr>
            <p:cNvPr id="136" name="Shape 907">
              <a:extLst>
                <a:ext uri="{FF2B5EF4-FFF2-40B4-BE49-F238E27FC236}">
                  <a16:creationId xmlns:a16="http://schemas.microsoft.com/office/drawing/2014/main" id="{06EC15BD-6B82-1A37-5655-DF46BF9A1407}"/>
                </a:ext>
              </a:extLst>
            </p:cNvPr>
            <p:cNvSpPr/>
            <p:nvPr/>
          </p:nvSpPr>
          <p:spPr>
            <a:xfrm>
              <a:off x="6394388" y="4415415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>
                  <a:solidFill>
                    <a:srgbClr val="25537D"/>
                  </a:solidFill>
                  <a:latin typeface="+mn-ea"/>
                  <a:ea typeface="+mn-ea"/>
                </a:rPr>
                <a:t>접근권한관리시행세칙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37" name="Shape 907">
              <a:extLst>
                <a:ext uri="{FF2B5EF4-FFF2-40B4-BE49-F238E27FC236}">
                  <a16:creationId xmlns:a16="http://schemas.microsoft.com/office/drawing/2014/main" id="{607EF406-2C5A-3A7D-C3F7-8DDFD3E202E6}"/>
                </a:ext>
              </a:extLst>
            </p:cNvPr>
            <p:cNvSpPr/>
            <p:nvPr/>
          </p:nvSpPr>
          <p:spPr>
            <a:xfrm>
              <a:off x="6394388" y="4903058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 dirty="0" err="1">
                  <a:solidFill>
                    <a:srgbClr val="25537D"/>
                  </a:solidFill>
                  <a:latin typeface="+mn-ea"/>
                  <a:ea typeface="+mn-ea"/>
                </a:rPr>
                <a:t>데이터보안관리시행세칙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38" name="Shape 907">
              <a:extLst>
                <a:ext uri="{FF2B5EF4-FFF2-40B4-BE49-F238E27FC236}">
                  <a16:creationId xmlns:a16="http://schemas.microsoft.com/office/drawing/2014/main" id="{A594566F-C4D7-D426-1525-6569F462A813}"/>
                </a:ext>
              </a:extLst>
            </p:cNvPr>
            <p:cNvSpPr/>
            <p:nvPr/>
          </p:nvSpPr>
          <p:spPr>
            <a:xfrm>
              <a:off x="6394388" y="5390701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>
                  <a:solidFill>
                    <a:srgbClr val="25537D"/>
                  </a:solidFill>
                  <a:latin typeface="+mn-ea"/>
                  <a:ea typeface="+mn-ea"/>
                </a:rPr>
                <a:t>인용검증관리시행세칙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39" name="Shape 907">
              <a:extLst>
                <a:ext uri="{FF2B5EF4-FFF2-40B4-BE49-F238E27FC236}">
                  <a16:creationId xmlns:a16="http://schemas.microsoft.com/office/drawing/2014/main" id="{94142D04-1607-3390-0D87-6882C6939210}"/>
                </a:ext>
              </a:extLst>
            </p:cNvPr>
            <p:cNvSpPr/>
            <p:nvPr/>
          </p:nvSpPr>
          <p:spPr>
            <a:xfrm>
              <a:off x="6394388" y="5878345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 dirty="0">
                  <a:solidFill>
                    <a:srgbClr val="25537D"/>
                  </a:solidFill>
                  <a:latin typeface="+mn-ea"/>
                  <a:ea typeface="+mn-ea"/>
                </a:rPr>
                <a:t>감사로그관리시행세칙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456D2784-904C-9F1F-FFC1-2C20070291A2}"/>
              </a:ext>
            </a:extLst>
          </p:cNvPr>
          <p:cNvGrpSpPr/>
          <p:nvPr/>
        </p:nvGrpSpPr>
        <p:grpSpPr>
          <a:xfrm>
            <a:off x="6920168" y="2464843"/>
            <a:ext cx="2200971" cy="1822929"/>
            <a:chOff x="6394388" y="2464843"/>
            <a:chExt cx="1972671" cy="1822929"/>
          </a:xfrm>
        </p:grpSpPr>
        <p:sp>
          <p:nvSpPr>
            <p:cNvPr id="133" name="Shape 907">
              <a:extLst>
                <a:ext uri="{FF2B5EF4-FFF2-40B4-BE49-F238E27FC236}">
                  <a16:creationId xmlns:a16="http://schemas.microsoft.com/office/drawing/2014/main" id="{C70A0DAF-9FB6-BA56-F0E9-70003CBC1DD7}"/>
                </a:ext>
              </a:extLst>
            </p:cNvPr>
            <p:cNvSpPr/>
            <p:nvPr/>
          </p:nvSpPr>
          <p:spPr>
            <a:xfrm>
              <a:off x="6394388" y="2464843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altLang="ko-KR" sz="900" b="1" spc="-40" dirty="0">
                  <a:solidFill>
                    <a:srgbClr val="25537D"/>
                  </a:solidFill>
                  <a:latin typeface="+mn-ea"/>
                  <a:ea typeface="+mn-ea"/>
                </a:rPr>
                <a:t>질의응답운영시행세칙</a:t>
              </a:r>
              <a:r>
                <a:rPr lang="ko-KR" altLang="en-US" sz="900" b="1" spc="-40" dirty="0" err="1">
                  <a:solidFill>
                    <a:srgbClr val="25537D"/>
                  </a:solidFill>
                  <a:latin typeface="+mn-ea"/>
                  <a:ea typeface="+mn-ea"/>
                </a:rPr>
                <a:t/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34" name="Shape 907">
              <a:extLst>
                <a:ext uri="{FF2B5EF4-FFF2-40B4-BE49-F238E27FC236}">
                  <a16:creationId xmlns:a16="http://schemas.microsoft.com/office/drawing/2014/main" id="{F5082265-12A9-DFDD-B6FD-319BCE7E427C}"/>
                </a:ext>
              </a:extLst>
            </p:cNvPr>
            <p:cNvSpPr/>
            <p:nvPr/>
          </p:nvSpPr>
          <p:spPr>
            <a:xfrm>
              <a:off x="6394388" y="2952486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altLang="ko-KR" sz="900" b="1" spc="-40">
                  <a:solidFill>
                    <a:srgbClr val="25537D"/>
                  </a:solidFill>
                  <a:latin typeface="+mn-ea"/>
                  <a:ea typeface="+mn-ea"/>
                </a:rPr>
                <a:t>모델관리시행세칙</a:t>
              </a:r>
              <a:r>
                <a:rPr lang="ko-KR" altLang="en-US" sz="900" b="1" spc="-40" dirty="0">
                  <a:solidFill>
                    <a:srgbClr val="25537D"/>
                  </a:solidFill>
                  <a:latin typeface="+mn-ea"/>
                  <a:ea typeface="+mn-ea"/>
                </a:rPr>
                <a:t/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35" name="Shape 907">
              <a:extLst>
                <a:ext uri="{FF2B5EF4-FFF2-40B4-BE49-F238E27FC236}">
                  <a16:creationId xmlns:a16="http://schemas.microsoft.com/office/drawing/2014/main" id="{6213B86D-0162-AEF5-53F2-6D152E94108C}"/>
                </a:ext>
              </a:extLst>
            </p:cNvPr>
            <p:cNvSpPr/>
            <p:nvPr/>
          </p:nvSpPr>
          <p:spPr>
            <a:xfrm>
              <a:off x="6394388" y="3440129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>
                  <a:solidFill>
                    <a:srgbClr val="25537D"/>
                  </a:solidFill>
                  <a:latin typeface="+mn-ea"/>
                  <a:ea typeface="+mn-ea"/>
                </a:rPr>
                <a:t>성과평가시행세칙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40" name="Shape 907">
              <a:extLst>
                <a:ext uri="{FF2B5EF4-FFF2-40B4-BE49-F238E27FC236}">
                  <a16:creationId xmlns:a16="http://schemas.microsoft.com/office/drawing/2014/main" id="{DC7F44AB-AD85-5A29-4ADB-C037CE410A9F}"/>
                </a:ext>
              </a:extLst>
            </p:cNvPr>
            <p:cNvSpPr/>
            <p:nvPr/>
          </p:nvSpPr>
          <p:spPr>
            <a:xfrm>
              <a:off x="6394388" y="3927772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 dirty="0" err="1">
                  <a:solidFill>
                    <a:srgbClr val="25537D"/>
                  </a:solidFill>
                  <a:latin typeface="+mn-ea"/>
                  <a:ea typeface="+mn-ea"/>
                </a:rPr>
                <a:t>오류대응시행세칙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E07E0EF6-99B4-51BF-21E6-ECB55321ECFC}"/>
              </a:ext>
            </a:extLst>
          </p:cNvPr>
          <p:cNvCxnSpPr>
            <a:stCxn id="126" idx="3"/>
            <a:endCxn id="133" idx="1"/>
          </p:cNvCxnSpPr>
          <p:nvPr/>
        </p:nvCxnSpPr>
        <p:spPr>
          <a:xfrm flipV="1">
            <a:off x="6285756" y="2644843"/>
            <a:ext cx="634412" cy="731464"/>
          </a:xfrm>
          <a:prstGeom prst="bentConnector3">
            <a:avLst/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3EDF4187-4540-C9D1-B269-B04789181267}"/>
              </a:ext>
            </a:extLst>
          </p:cNvPr>
          <p:cNvCxnSpPr>
            <a:cxnSpLocks/>
            <a:stCxn id="126" idx="3"/>
            <a:endCxn id="140" idx="1"/>
          </p:cNvCxnSpPr>
          <p:nvPr/>
        </p:nvCxnSpPr>
        <p:spPr>
          <a:xfrm>
            <a:off x="6285756" y="3376307"/>
            <a:ext cx="634412" cy="731465"/>
          </a:xfrm>
          <a:prstGeom prst="bentConnector3">
            <a:avLst/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6D5A6A44-64EF-D5B4-1D75-C60605C314C2}"/>
              </a:ext>
            </a:extLst>
          </p:cNvPr>
          <p:cNvCxnSpPr>
            <a:cxnSpLocks/>
            <a:stCxn id="129" idx="3"/>
            <a:endCxn id="136" idx="1"/>
          </p:cNvCxnSpPr>
          <p:nvPr/>
        </p:nvCxnSpPr>
        <p:spPr>
          <a:xfrm flipV="1">
            <a:off x="6283596" y="4595415"/>
            <a:ext cx="636572" cy="731465"/>
          </a:xfrm>
          <a:prstGeom prst="bentConnector3">
            <a:avLst>
              <a:gd name="adj1" fmla="val 50000"/>
            </a:avLst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9BBF3ED3-10F6-995D-7E09-D32758C3B472}"/>
              </a:ext>
            </a:extLst>
          </p:cNvPr>
          <p:cNvCxnSpPr>
            <a:cxnSpLocks/>
            <a:stCxn id="129" idx="3"/>
            <a:endCxn id="139" idx="1"/>
          </p:cNvCxnSpPr>
          <p:nvPr/>
        </p:nvCxnSpPr>
        <p:spPr>
          <a:xfrm>
            <a:off x="6283596" y="5326880"/>
            <a:ext cx="636572" cy="731465"/>
          </a:xfrm>
          <a:prstGeom prst="bentConnector3">
            <a:avLst>
              <a:gd name="adj1" fmla="val 50000"/>
            </a:avLst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ECFCAD11-7738-1AEA-6F8C-D3D9EE97031F}"/>
              </a:ext>
            </a:extLst>
          </p:cNvPr>
          <p:cNvCxnSpPr>
            <a:cxnSpLocks/>
            <a:stCxn id="126" idx="3"/>
            <a:endCxn id="134" idx="1"/>
          </p:cNvCxnSpPr>
          <p:nvPr/>
        </p:nvCxnSpPr>
        <p:spPr>
          <a:xfrm flipV="1">
            <a:off x="6285756" y="3132486"/>
            <a:ext cx="634412" cy="243821"/>
          </a:xfrm>
          <a:prstGeom prst="bentConnector3">
            <a:avLst/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2C5A3E7-8BA5-5B88-6AC6-0AB8659DF9CE}"/>
              </a:ext>
            </a:extLst>
          </p:cNvPr>
          <p:cNvCxnSpPr>
            <a:cxnSpLocks/>
            <a:stCxn id="126" idx="3"/>
            <a:endCxn id="135" idx="1"/>
          </p:cNvCxnSpPr>
          <p:nvPr/>
        </p:nvCxnSpPr>
        <p:spPr>
          <a:xfrm>
            <a:off x="6285756" y="3376307"/>
            <a:ext cx="634412" cy="243822"/>
          </a:xfrm>
          <a:prstGeom prst="bentConnector3">
            <a:avLst/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08F0D27E-EE17-C5DA-C7B7-7F94E5C44FD5}"/>
              </a:ext>
            </a:extLst>
          </p:cNvPr>
          <p:cNvCxnSpPr>
            <a:cxnSpLocks/>
            <a:stCxn id="129" idx="3"/>
            <a:endCxn id="137" idx="1"/>
          </p:cNvCxnSpPr>
          <p:nvPr/>
        </p:nvCxnSpPr>
        <p:spPr>
          <a:xfrm flipV="1">
            <a:off x="6283596" y="5083058"/>
            <a:ext cx="636572" cy="243822"/>
          </a:xfrm>
          <a:prstGeom prst="bentConnector3">
            <a:avLst>
              <a:gd name="adj1" fmla="val 50000"/>
            </a:avLst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74313B10-D54B-CA6A-E3C4-81DABA10CE29}"/>
              </a:ext>
            </a:extLst>
          </p:cNvPr>
          <p:cNvCxnSpPr>
            <a:cxnSpLocks/>
            <a:stCxn id="129" idx="3"/>
            <a:endCxn id="138" idx="1"/>
          </p:cNvCxnSpPr>
          <p:nvPr/>
        </p:nvCxnSpPr>
        <p:spPr>
          <a:xfrm>
            <a:off x="6283596" y="5326880"/>
            <a:ext cx="636572" cy="243821"/>
          </a:xfrm>
          <a:prstGeom prst="bentConnector3">
            <a:avLst>
              <a:gd name="adj1" fmla="val 50000"/>
            </a:avLst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591FDEE-CADA-5015-086F-98571D04CF1E}"/>
              </a:ext>
            </a:extLst>
          </p:cNvPr>
          <p:cNvCxnSpPr>
            <a:stCxn id="76" idx="3"/>
            <a:endCxn id="77" idx="1"/>
          </p:cNvCxnSpPr>
          <p:nvPr/>
        </p:nvCxnSpPr>
        <p:spPr>
          <a:xfrm>
            <a:off x="1397470" y="3932421"/>
            <a:ext cx="391373" cy="912"/>
          </a:xfrm>
          <a:prstGeom prst="straightConnector1">
            <a:avLst/>
          </a:prstGeom>
          <a:ln w="12700">
            <a:solidFill>
              <a:srgbClr val="25537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A43AC68-C40E-4E8E-17FA-3BF193860590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>
            <a:off x="3048843" y="3933333"/>
            <a:ext cx="451157" cy="0"/>
          </a:xfrm>
          <a:prstGeom prst="straightConnector1">
            <a:avLst/>
          </a:prstGeom>
          <a:ln w="12700">
            <a:solidFill>
              <a:srgbClr val="25537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9BB9E4E-AAFA-9244-FE11-FD29BA95E713}"/>
              </a:ext>
            </a:extLst>
          </p:cNvPr>
          <p:cNvCxnSpPr>
            <a:cxnSpLocks/>
            <a:stCxn id="77" idx="2"/>
            <a:endCxn id="75" idx="0"/>
          </p:cNvCxnSpPr>
          <p:nvPr/>
        </p:nvCxnSpPr>
        <p:spPr>
          <a:xfrm>
            <a:off x="2418843" y="4293333"/>
            <a:ext cx="0" cy="193333"/>
          </a:xfrm>
          <a:prstGeom prst="straightConnector1">
            <a:avLst/>
          </a:prstGeom>
          <a:ln w="12700">
            <a:solidFill>
              <a:srgbClr val="25537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344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Appendix5. 이의제기 및 오류 대응 프로세스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운영 단계 업무 프로세스 : 일반 이의제기와 중대 오류 발견 시 절차를 분리하여 신속 대응 체계 수립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CCO(정확성 판단)와 IT부서(기술 원인 분석)의 검토 범위를 분리하여 준법감시부가 실질적 책임을 행사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중대 오류(잘못된 법령 인용 등) 발생 시 처리 프로세스를 공식적으로 수립·운영하여 신뢰성을 확보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D53B1E3-4011-4539-68CA-A7E5C5730DEB}"/>
              </a:ext>
            </a:extLst>
          </p:cNvPr>
          <p:cNvGrpSpPr/>
          <p:nvPr/>
        </p:nvGrpSpPr>
        <p:grpSpPr>
          <a:xfrm>
            <a:off x="497470" y="2212843"/>
            <a:ext cx="2603758" cy="252000"/>
            <a:chOff x="497470" y="2385423"/>
            <a:chExt cx="2603758" cy="22428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E73604F-385B-1141-EAB7-CCDEE2AD0CE4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99E6605-E701-B4C7-4D34-36E1ECE1160D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일반 이의제기 프로세스 (사용자 확인 요청)</a:t>
              </a:r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10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EA0DCEF-D3BD-B9FE-30E2-A68FF5B02CDA}"/>
              </a:ext>
            </a:extLst>
          </p:cNvPr>
          <p:cNvGrpSpPr/>
          <p:nvPr/>
        </p:nvGrpSpPr>
        <p:grpSpPr>
          <a:xfrm>
            <a:off x="596642" y="2528993"/>
            <a:ext cx="8832029" cy="1000110"/>
            <a:chOff x="596642" y="2582333"/>
            <a:chExt cx="8832029" cy="846667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71CD5A4-99CE-19F2-D6E9-0E4F926DCDCA}"/>
                </a:ext>
              </a:extLst>
            </p:cNvPr>
            <p:cNvSpPr/>
            <p:nvPr/>
          </p:nvSpPr>
          <p:spPr>
            <a:xfrm>
              <a:off x="596642" y="2582333"/>
              <a:ext cx="8832029" cy="84666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spc="-6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0823C7A-821C-2C84-8FCB-18FDE44474DD}"/>
                </a:ext>
              </a:extLst>
            </p:cNvPr>
            <p:cNvSpPr/>
            <p:nvPr/>
          </p:nvSpPr>
          <p:spPr>
            <a:xfrm>
              <a:off x="596643" y="2582333"/>
              <a:ext cx="771441" cy="846667"/>
            </a:xfrm>
            <a:prstGeom prst="rect">
              <a:avLst/>
            </a:prstGeom>
            <a:solidFill>
              <a:srgbClr val="2553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>사용자 영역</a:t>
              </a:r>
              <a:endParaRPr lang="en-US" altLang="ko-KR" sz="1000" b="1" spc="-60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ko-KR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>(질의자)</a:t>
              </a:r>
              <a:r>
                <a:rPr lang="ko-KR" altLang="en-US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/>
              </a:r>
              <a:r>
                <a:rPr lang="en-US" altLang="ko-KR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/>
              </a:r>
              <a:endParaRPr lang="ko-KR" altLang="en-US" sz="1000" b="1" spc="-6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4E08714D-1CD3-DBCD-6A80-B3FC238AD4A1}"/>
              </a:ext>
            </a:extLst>
          </p:cNvPr>
          <p:cNvGrpSpPr/>
          <p:nvPr/>
        </p:nvGrpSpPr>
        <p:grpSpPr>
          <a:xfrm>
            <a:off x="596642" y="3611682"/>
            <a:ext cx="8832029" cy="1000111"/>
            <a:chOff x="596642" y="3546489"/>
            <a:chExt cx="8832029" cy="84666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9512DFC-58F9-1BD4-D03C-B41A8B135BC6}"/>
                </a:ext>
              </a:extLst>
            </p:cNvPr>
            <p:cNvSpPr/>
            <p:nvPr/>
          </p:nvSpPr>
          <p:spPr>
            <a:xfrm>
              <a:off x="596642" y="3546490"/>
              <a:ext cx="8832029" cy="8466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spc="-6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1B33E9C-E32C-EA7C-EF36-150541D40AF0}"/>
                </a:ext>
              </a:extLst>
            </p:cNvPr>
            <p:cNvSpPr/>
            <p:nvPr/>
          </p:nvSpPr>
          <p:spPr>
            <a:xfrm>
              <a:off x="596642" y="3546489"/>
              <a:ext cx="774960" cy="8466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>운영 영역</a:t>
              </a:r>
              <a:endParaRPr lang="en-US" altLang="ko-KR" sz="1000" b="1" spc="-60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ko-KR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>(준법감시부)</a:t>
              </a:r>
              <a:r>
                <a:rPr lang="ko-KR" altLang="en-US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/>
              </a:r>
              <a:r>
                <a:rPr lang="en-US" altLang="ko-KR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/>
              </a:r>
              <a:endParaRPr lang="ko-KR" altLang="en-US" sz="1000" b="1" spc="-6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" name="Shape 607">
            <a:extLst>
              <a:ext uri="{FF2B5EF4-FFF2-40B4-BE49-F238E27FC236}">
                <a16:creationId xmlns:a16="http://schemas.microsoft.com/office/drawing/2014/main" id="{BE9C3B44-B755-2C2C-45FB-B841C692F384}"/>
              </a:ext>
            </a:extLst>
          </p:cNvPr>
          <p:cNvSpPr/>
          <p:nvPr/>
        </p:nvSpPr>
        <p:spPr>
          <a:xfrm>
            <a:off x="1490406" y="26383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답변에 의문 제기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>사용자</a:t>
            </a:r>
          </a:p>
        </p:txBody>
      </p:sp>
      <p:sp>
        <p:nvSpPr>
          <p:cNvPr id="10" name="Shape 607">
            <a:extLst>
              <a:ext uri="{FF2B5EF4-FFF2-40B4-BE49-F238E27FC236}">
                <a16:creationId xmlns:a16="http://schemas.microsoft.com/office/drawing/2014/main" id="{9B1B6F5D-0964-295D-2D83-28EC82FEB44A}"/>
              </a:ext>
            </a:extLst>
          </p:cNvPr>
          <p:cNvSpPr/>
          <p:nvPr/>
        </p:nvSpPr>
        <p:spPr>
          <a:xfrm>
            <a:off x="2573706" y="26383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이의제기 등록</a:t>
            </a:r>
          </a:p>
          <a:p>
            <a:pPr algn="ctr">
              <a:spcBef>
                <a:spcPts val="600"/>
              </a:spcBef>
            </a:pP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>사용자</a:t>
            </a: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br>
              <a:rPr lang="en-US" altLang="ko-KR" sz="800" spc="-60" dirty="0">
                <a:solidFill>
                  <a:srgbClr val="404040"/>
                </a:solidFill>
                <a:latin typeface="+mn-ea"/>
              </a:rPr>
            </a:b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endParaRPr lang="ko-KR" altLang="en-US" sz="800" spc="-60" dirty="0">
              <a:solidFill>
                <a:srgbClr val="404040"/>
              </a:solidFill>
              <a:latin typeface="+mn-ea"/>
              <a:ea typeface="+mn-ea"/>
            </a:endParaRPr>
          </a:p>
        </p:txBody>
      </p:sp>
      <p:sp>
        <p:nvSpPr>
          <p:cNvPr id="12" name="Shape 607">
            <a:extLst>
              <a:ext uri="{FF2B5EF4-FFF2-40B4-BE49-F238E27FC236}">
                <a16:creationId xmlns:a16="http://schemas.microsoft.com/office/drawing/2014/main" id="{2DB3FBBB-9EBD-05D7-AC81-F38EB76511EB}"/>
              </a:ext>
            </a:extLst>
          </p:cNvPr>
          <p:cNvSpPr/>
          <p:nvPr/>
        </p:nvSpPr>
        <p:spPr>
          <a:xfrm>
            <a:off x="3657006" y="26383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1차 검토</a:t>
            </a:r>
            <a:r>
              <a:rPr lang="en-US" altLang="ko-KR" sz="900" b="1" spc="-60" dirty="0">
                <a:solidFill>
                  <a:srgbClr val="25537D"/>
                </a:solidFill>
                <a:latin typeface="+mn-ea"/>
                <a:ea typeface="+mn-ea"/>
              </a:rPr>
              <a:t/>
            </a: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/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>준법감시부 담당자</a:t>
            </a: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endParaRPr lang="ko-KR" altLang="en-US" sz="800" spc="-60" dirty="0">
              <a:solidFill>
                <a:srgbClr val="404040"/>
              </a:solidFill>
              <a:latin typeface="+mn-ea"/>
              <a:ea typeface="+mn-ea"/>
            </a:endParaRPr>
          </a:p>
        </p:txBody>
      </p:sp>
      <p:sp>
        <p:nvSpPr>
          <p:cNvPr id="14" name="Shape 610">
            <a:extLst>
              <a:ext uri="{FF2B5EF4-FFF2-40B4-BE49-F238E27FC236}">
                <a16:creationId xmlns:a16="http://schemas.microsoft.com/office/drawing/2014/main" id="{2F2E1DBC-2B60-1C02-6328-E695E5BCCA57}"/>
              </a:ext>
            </a:extLst>
          </p:cNvPr>
          <p:cNvSpPr/>
          <p:nvPr/>
        </p:nvSpPr>
        <p:spPr>
          <a:xfrm>
            <a:off x="4137496" y="37185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404040"/>
                </a:solidFill>
                <a:latin typeface="+mn-ea"/>
              </a:rPr>
              <a:t>근거 재확인 요청</a:t>
            </a:r>
            <a:endParaRPr lang="ko-KR" altLang="en-US" sz="900" b="1" spc="-60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>
              <a:spcBef>
                <a:spcPts val="600"/>
              </a:spcBef>
            </a:pPr>
            <a:r>
              <a:rPr lang="en-US" altLang="ko-KR" sz="800" spc="-60" dirty="0">
                <a:solidFill>
                  <a:srgbClr val="595959"/>
                </a:solidFill>
                <a:latin typeface="+mn-ea"/>
              </a:rPr>
              <a:t>담당자</a:t>
            </a:r>
            <a:r>
              <a:rPr lang="ko-KR" altLang="en-US" sz="800" spc="-60" dirty="0">
                <a:solidFill>
                  <a:srgbClr val="595959"/>
                </a:solidFill>
                <a:latin typeface="+mn-ea"/>
              </a:rPr>
              <a:t/>
            </a:r>
            <a:br>
              <a:rPr lang="en-US" altLang="ko-KR" sz="800" spc="-60" dirty="0">
                <a:solidFill>
                  <a:srgbClr val="595959"/>
                </a:solidFill>
                <a:latin typeface="+mn-ea"/>
              </a:rPr>
            </a:br>
            <a:r>
              <a:rPr lang="en-US" altLang="ko-KR" sz="800" spc="-60" dirty="0">
                <a:solidFill>
                  <a:srgbClr val="595959"/>
                </a:solidFill>
                <a:latin typeface="+mn-ea"/>
              </a:rPr>
              <a:t/>
            </a:r>
            <a:r>
              <a:rPr lang="ko-KR" altLang="en-US" sz="800" spc="-60" dirty="0">
                <a:solidFill>
                  <a:srgbClr val="595959"/>
                </a:solidFill>
                <a:latin typeface="+mn-ea"/>
              </a:rPr>
              <a:t/>
            </a:r>
            <a:r>
              <a:rPr lang="en-US" altLang="ko-KR" sz="800" spc="-60" dirty="0">
                <a:solidFill>
                  <a:srgbClr val="595959"/>
                </a:solidFill>
                <a:latin typeface="+mn-ea"/>
              </a:rPr>
              <a:t/>
            </a:r>
            <a:endParaRPr lang="ko-KR" altLang="en-US" sz="800" spc="-60" dirty="0">
              <a:solidFill>
                <a:srgbClr val="595959"/>
              </a:solidFill>
              <a:latin typeface="+mn-ea"/>
              <a:ea typeface="+mn-ea"/>
            </a:endParaRPr>
          </a:p>
        </p:txBody>
      </p:sp>
      <p:sp>
        <p:nvSpPr>
          <p:cNvPr id="15" name="Shape 610">
            <a:extLst>
              <a:ext uri="{FF2B5EF4-FFF2-40B4-BE49-F238E27FC236}">
                <a16:creationId xmlns:a16="http://schemas.microsoft.com/office/drawing/2014/main" id="{F486511B-E2AB-77D2-89B2-5B7C922987A8}"/>
              </a:ext>
            </a:extLst>
          </p:cNvPr>
          <p:cNvSpPr/>
          <p:nvPr/>
        </p:nvSpPr>
        <p:spPr>
          <a:xfrm>
            <a:off x="5220796" y="37185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404040"/>
                </a:solidFill>
                <a:latin typeface="+mn-ea"/>
                <a:ea typeface="+mn-ea"/>
              </a:rPr>
              <a:t>감사로그 대조 확인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595959"/>
                </a:solidFill>
                <a:latin typeface="+mn-ea"/>
                <a:ea typeface="+mn-ea"/>
              </a:rPr>
              <a:t>감사로그 시스템</a:t>
            </a:r>
          </a:p>
        </p:txBody>
      </p:sp>
      <p:sp>
        <p:nvSpPr>
          <p:cNvPr id="16" name="Shape 610">
            <a:extLst>
              <a:ext uri="{FF2B5EF4-FFF2-40B4-BE49-F238E27FC236}">
                <a16:creationId xmlns:a16="http://schemas.microsoft.com/office/drawing/2014/main" id="{03EEE26E-046C-34EE-C3CD-C9B688AFDAE1}"/>
              </a:ext>
            </a:extLst>
          </p:cNvPr>
          <p:cNvSpPr/>
          <p:nvPr/>
        </p:nvSpPr>
        <p:spPr>
          <a:xfrm>
            <a:off x="6304096" y="37185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404040"/>
                </a:solidFill>
                <a:latin typeface="+mn-ea"/>
                <a:ea typeface="+mn-ea"/>
              </a:rPr>
              <a:t>판정 수행</a:t>
            </a:r>
          </a:p>
          <a:p>
            <a:pPr algn="ctr">
              <a:spcBef>
                <a:spcPts val="600"/>
              </a:spcBef>
            </a:pPr>
            <a:r>
              <a:rPr lang="en-US" altLang="ko-KR" sz="800" spc="-60" dirty="0">
                <a:solidFill>
                  <a:srgbClr val="595959"/>
                </a:solidFill>
                <a:latin typeface="+mn-ea"/>
                <a:ea typeface="+mn-ea"/>
              </a:rPr>
              <a:t>담당자</a:t>
            </a:r>
            <a:r>
              <a:rPr lang="ko-KR" altLang="en-US" sz="800" spc="-60" dirty="0">
                <a:solidFill>
                  <a:srgbClr val="595959"/>
                </a:solidFill>
                <a:latin typeface="+mn-ea"/>
                <a:ea typeface="+mn-ea"/>
              </a:rPr>
              <a:t/>
            </a:r>
            <a:br>
              <a:rPr lang="en-US" altLang="ko-KR" sz="800" spc="-60" dirty="0">
                <a:solidFill>
                  <a:srgbClr val="595959"/>
                </a:solidFill>
                <a:latin typeface="+mn-ea"/>
                <a:ea typeface="+mn-ea"/>
              </a:rPr>
            </a:br>
            <a:r>
              <a:rPr lang="en-US" altLang="ko-KR" sz="800" spc="-60" dirty="0">
                <a:solidFill>
                  <a:srgbClr val="595959"/>
                </a:solidFill>
                <a:latin typeface="+mn-ea"/>
              </a:rPr>
              <a:t/>
            </a:r>
            <a:r>
              <a:rPr lang="ko-KR" altLang="en-US" sz="800" spc="-60" dirty="0">
                <a:solidFill>
                  <a:srgbClr val="595959"/>
                </a:solidFill>
                <a:latin typeface="+mn-ea"/>
              </a:rPr>
              <a:t/>
            </a:r>
            <a:r>
              <a:rPr lang="en-US" altLang="ko-KR" sz="800" spc="-60" dirty="0">
                <a:solidFill>
                  <a:srgbClr val="595959"/>
                </a:solidFill>
                <a:latin typeface="+mn-ea"/>
              </a:rPr>
              <a:t/>
            </a:r>
            <a:endParaRPr lang="ko-KR" altLang="en-US" sz="800" spc="-60" dirty="0">
              <a:solidFill>
                <a:srgbClr val="595959"/>
              </a:solidFill>
              <a:latin typeface="+mn-ea"/>
              <a:ea typeface="+mn-ea"/>
            </a:endParaRPr>
          </a:p>
        </p:txBody>
      </p:sp>
      <p:sp>
        <p:nvSpPr>
          <p:cNvPr id="22" name="Shape 607">
            <a:extLst>
              <a:ext uri="{FF2B5EF4-FFF2-40B4-BE49-F238E27FC236}">
                <a16:creationId xmlns:a16="http://schemas.microsoft.com/office/drawing/2014/main" id="{99D94D37-17DC-CD23-4481-BD6F7533FBF9}"/>
              </a:ext>
            </a:extLst>
          </p:cNvPr>
          <p:cNvSpPr/>
          <p:nvPr/>
        </p:nvSpPr>
        <p:spPr>
          <a:xfrm>
            <a:off x="6784586" y="26383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결과 회신 작성</a:t>
            </a:r>
          </a:p>
          <a:p>
            <a:pPr algn="ctr">
              <a:spcBef>
                <a:spcPts val="600"/>
              </a:spcBef>
            </a:pP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>담당자</a:t>
            </a: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b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</a:b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endParaRPr lang="ko-KR" altLang="en-US" sz="800" spc="-60" dirty="0">
              <a:solidFill>
                <a:srgbClr val="404040"/>
              </a:solidFill>
              <a:latin typeface="+mn-ea"/>
              <a:ea typeface="+mn-ea"/>
            </a:endParaRPr>
          </a:p>
        </p:txBody>
      </p:sp>
      <p:sp>
        <p:nvSpPr>
          <p:cNvPr id="19" name="Shape 610">
            <a:extLst>
              <a:ext uri="{FF2B5EF4-FFF2-40B4-BE49-F238E27FC236}">
                <a16:creationId xmlns:a16="http://schemas.microsoft.com/office/drawing/2014/main" id="{DAD195A7-F04D-B502-3CAE-C76397FB38B4}"/>
              </a:ext>
            </a:extLst>
          </p:cNvPr>
          <p:cNvSpPr/>
          <p:nvPr/>
        </p:nvSpPr>
        <p:spPr>
          <a:xfrm>
            <a:off x="8348378" y="37185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404040"/>
                </a:solidFill>
                <a:latin typeface="+mn-ea"/>
              </a:rPr>
              <a:t>결과 회신</a:t>
            </a:r>
            <a:endParaRPr lang="ko-KR" altLang="en-US" sz="900" b="1" spc="-60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595959"/>
                </a:solidFill>
                <a:latin typeface="+mn-ea"/>
                <a:ea typeface="+mn-ea"/>
              </a:rPr>
              <a:t>사용자 앞</a:t>
            </a:r>
          </a:p>
        </p:txBody>
      </p:sp>
      <p:sp>
        <p:nvSpPr>
          <p:cNvPr id="23" name="Shape 607">
            <a:extLst>
              <a:ext uri="{FF2B5EF4-FFF2-40B4-BE49-F238E27FC236}">
                <a16:creationId xmlns:a16="http://schemas.microsoft.com/office/drawing/2014/main" id="{65F51522-69C1-EAA2-EA64-F5E39B40AE68}"/>
              </a:ext>
            </a:extLst>
          </p:cNvPr>
          <p:cNvSpPr/>
          <p:nvPr/>
        </p:nvSpPr>
        <p:spPr>
          <a:xfrm>
            <a:off x="7867888" y="26383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이력 기록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>감사로그 앞</a:t>
            </a: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2E871AD-D75D-B988-147A-FADA2096B3FD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2451386" y="3038360"/>
            <a:ext cx="122320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8011677-1BD3-E3D7-85DA-C93E8099A11E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3534686" y="3038360"/>
            <a:ext cx="122320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45B4288-F45D-7C07-E7E8-E46BEB1E12AE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5098476" y="4118560"/>
            <a:ext cx="122320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C492FA1-AA53-F14F-3D30-6F7AD4242BB7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6181776" y="4118560"/>
            <a:ext cx="122320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ED22672-0B44-D4F8-66C7-BEB1E70E5B58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7745566" y="3038360"/>
            <a:ext cx="122322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CF12920-B3FE-CFC6-7481-BB352BD5C08B}"/>
              </a:ext>
            </a:extLst>
          </p:cNvPr>
          <p:cNvGrpSpPr/>
          <p:nvPr/>
        </p:nvGrpSpPr>
        <p:grpSpPr>
          <a:xfrm>
            <a:off x="497470" y="5110519"/>
            <a:ext cx="2603758" cy="252002"/>
            <a:chOff x="497470" y="2385423"/>
            <a:chExt cx="2603758" cy="22428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E2A1AED-B3C5-B121-A5B5-2B2FFE65F80F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99180A7-5207-5C31-3FC5-8A3B5755C742}"/>
                </a:ext>
              </a:extLst>
            </p:cNvPr>
            <p:cNvSpPr/>
            <p:nvPr/>
          </p:nvSpPr>
          <p:spPr>
            <a:xfrm>
              <a:off x="497470" y="2385425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중대 오류 대응 프로세스 (사후조치)</a:t>
              </a:r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10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Shape 623">
            <a:extLst>
              <a:ext uri="{FF2B5EF4-FFF2-40B4-BE49-F238E27FC236}">
                <a16:creationId xmlns:a16="http://schemas.microsoft.com/office/drawing/2014/main" id="{72315180-EBBE-551E-8E2C-D8E8071FF993}"/>
              </a:ext>
            </a:extLst>
          </p:cNvPr>
          <p:cNvSpPr/>
          <p:nvPr/>
        </p:nvSpPr>
        <p:spPr>
          <a:xfrm>
            <a:off x="600746" y="5423820"/>
            <a:ext cx="1911800" cy="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중대 오류 발견 · 등급 판정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>잘못된 법령 인용 등에 한정</a:t>
            </a:r>
          </a:p>
        </p:txBody>
      </p:sp>
      <p:sp>
        <p:nvSpPr>
          <p:cNvPr id="59" name="Shape 624">
            <a:extLst>
              <a:ext uri="{FF2B5EF4-FFF2-40B4-BE49-F238E27FC236}">
                <a16:creationId xmlns:a16="http://schemas.microsoft.com/office/drawing/2014/main" id="{393C43CF-AB08-F0D0-55CF-1D9927797C51}"/>
              </a:ext>
            </a:extLst>
          </p:cNvPr>
          <p:cNvSpPr/>
          <p:nvPr/>
        </p:nvSpPr>
        <p:spPr>
          <a:xfrm>
            <a:off x="2906121" y="5423820"/>
            <a:ext cx="1911800" cy="700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9525">
            <a:solidFill>
              <a:srgbClr val="C55A11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843C0C"/>
                </a:solidFill>
                <a:latin typeface="+mn-ea"/>
                <a:ea typeface="+mn-ea"/>
              </a:rPr>
              <a:t>즉시 유선 보고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843C0C"/>
                </a:solidFill>
                <a:latin typeface="+mn-ea"/>
                <a:ea typeface="+mn-ea"/>
              </a:rPr>
              <a:t>CCO·IT부서 동시 통보</a:t>
            </a:r>
          </a:p>
        </p:txBody>
      </p:sp>
      <p:sp>
        <p:nvSpPr>
          <p:cNvPr id="60" name="Shape 625">
            <a:extLst>
              <a:ext uri="{FF2B5EF4-FFF2-40B4-BE49-F238E27FC236}">
                <a16:creationId xmlns:a16="http://schemas.microsoft.com/office/drawing/2014/main" id="{E95FCC95-1FB4-7CF3-0293-FA512E0F53E3}"/>
              </a:ext>
            </a:extLst>
          </p:cNvPr>
          <p:cNvSpPr/>
          <p:nvPr/>
        </p:nvSpPr>
        <p:spPr>
          <a:xfrm>
            <a:off x="5211496" y="5423820"/>
            <a:ext cx="1911800" cy="700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9525">
            <a:solidFill>
              <a:srgbClr val="C55A11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843C0C"/>
                </a:solidFill>
                <a:latin typeface="+mn-ea"/>
                <a:ea typeface="+mn-ea"/>
              </a:rPr>
              <a:t>긴급 서비스 중단 조치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843C0C"/>
                </a:solidFill>
                <a:latin typeface="+mn-ea"/>
                <a:ea typeface="+mn-ea"/>
              </a:rPr>
              <a:t>필요 시 일시 중단</a:t>
            </a:r>
          </a:p>
        </p:txBody>
      </p:sp>
      <p:sp>
        <p:nvSpPr>
          <p:cNvPr id="61" name="Shape 623">
            <a:extLst>
              <a:ext uri="{FF2B5EF4-FFF2-40B4-BE49-F238E27FC236}">
                <a16:creationId xmlns:a16="http://schemas.microsoft.com/office/drawing/2014/main" id="{C0557574-5D0D-3708-0296-A49E9ABF2953}"/>
              </a:ext>
            </a:extLst>
          </p:cNvPr>
          <p:cNvSpPr/>
          <p:nvPr/>
        </p:nvSpPr>
        <p:spPr>
          <a:xfrm>
            <a:off x="7516871" y="5423820"/>
            <a:ext cx="1911800" cy="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사후 원인 분석 보고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>재발방지대책 → CCO</a:t>
            </a: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endParaRPr lang="ko-KR" altLang="en-US" sz="800" spc="-60" dirty="0">
              <a:solidFill>
                <a:srgbClr val="404040"/>
              </a:solidFill>
              <a:latin typeface="+mn-ea"/>
              <a:ea typeface="+mn-ea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67F3A51-FAD0-DD62-641D-E7C4811E1B4C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2512546" y="5773820"/>
            <a:ext cx="393575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E5EA2A7-FBA2-5E28-515A-3C94D36C8BBE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4817921" y="5773820"/>
            <a:ext cx="393575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07F5EC45-0DDF-24FE-0235-9563ED1D6EF3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7123296" y="5773820"/>
            <a:ext cx="393575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620">
            <a:extLst>
              <a:ext uri="{FF2B5EF4-FFF2-40B4-BE49-F238E27FC236}">
                <a16:creationId xmlns:a16="http://schemas.microsoft.com/office/drawing/2014/main" id="{4956EA69-9D79-090D-9FF0-1BACA3BB71BE}"/>
              </a:ext>
            </a:extLst>
          </p:cNvPr>
          <p:cNvSpPr txBox="1"/>
          <p:nvPr/>
        </p:nvSpPr>
        <p:spPr>
          <a:xfrm>
            <a:off x="643476" y="4620567"/>
            <a:ext cx="891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spcBef>
                <a:spcPts val="300"/>
              </a:spcBef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※ 모든 인용은 인용 검증 시스템이 사전 검증하므로, 이의제기는 검증을 통과한 답변의 정확성 자체에 대한 것</a:t>
            </a:r>
            <a:r>
              <a:rPr lang="en-US" altLang="ko-KR" sz="800" spc="-40" dirty="0">
                <a:solidFill>
                  <a:srgbClr val="595959"/>
                </a:solidFill>
                <a:latin typeface="+mn-ea"/>
                <a:ea typeface="+mn-ea"/>
              </a:rPr>
              <a:t/>
            </a: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/>
            </a:r>
            <a:r>
              <a:rPr lang="ko-KR" altLang="en-US" sz="800" spc="-40" dirty="0">
                <a:solidFill>
                  <a:srgbClr val="595959"/>
                </a:solidFill>
                <a:latin typeface="+mn-ea"/>
              </a:rPr>
              <a:t/>
            </a: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/>
            </a:r>
            <a:endParaRPr lang="en-US" altLang="ko-KR" sz="800" spc="-40" dirty="0">
              <a:solidFill>
                <a:srgbClr val="595959"/>
              </a:solidFill>
              <a:latin typeface="+mn-ea"/>
            </a:endParaRP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F4BCD4EA-6454-0CE4-F1CD-813F4179D3E4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rot="16200000" flipH="1">
            <a:off x="4237641" y="3338215"/>
            <a:ext cx="280200" cy="480490"/>
          </a:xfrm>
          <a:prstGeom prst="bentConnector3">
            <a:avLst/>
          </a:prstGeom>
          <a:ln w="12700">
            <a:solidFill>
              <a:srgbClr val="2553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C3074057-45C6-6F8F-F5BC-5A0B24F418E2}"/>
              </a:ext>
            </a:extLst>
          </p:cNvPr>
          <p:cNvCxnSpPr>
            <a:cxnSpLocks/>
            <a:stCxn id="23" idx="2"/>
            <a:endCxn id="19" idx="0"/>
          </p:cNvCxnSpPr>
          <p:nvPr/>
        </p:nvCxnSpPr>
        <p:spPr>
          <a:xfrm rot="16200000" flipH="1">
            <a:off x="8448523" y="3338215"/>
            <a:ext cx="280200" cy="480490"/>
          </a:xfrm>
          <a:prstGeom prst="bentConnector3">
            <a:avLst>
              <a:gd name="adj1" fmla="val 50000"/>
            </a:avLst>
          </a:prstGeom>
          <a:ln w="12700">
            <a:solidFill>
              <a:srgbClr val="2553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C6870B99-4C7C-50F1-1978-DC333DC384D1}"/>
              </a:ext>
            </a:extLst>
          </p:cNvPr>
          <p:cNvCxnSpPr>
            <a:cxnSpLocks/>
            <a:stCxn id="16" idx="0"/>
            <a:endCxn id="22" idx="2"/>
          </p:cNvCxnSpPr>
          <p:nvPr/>
        </p:nvCxnSpPr>
        <p:spPr>
          <a:xfrm rot="5400000" flipH="1" flipV="1">
            <a:off x="6884731" y="3338215"/>
            <a:ext cx="280200" cy="480490"/>
          </a:xfrm>
          <a:prstGeom prst="bentConnector3">
            <a:avLst>
              <a:gd name="adj1" fmla="val 50000"/>
            </a:avLst>
          </a:prstGeom>
          <a:ln w="12700">
            <a:solidFill>
              <a:srgbClr val="2553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620">
            <a:extLst>
              <a:ext uri="{FF2B5EF4-FFF2-40B4-BE49-F238E27FC236}">
                <a16:creationId xmlns:a16="http://schemas.microsoft.com/office/drawing/2014/main" id="{C0A5CB9E-E147-5FAC-3E06-6F5C32028C3C}"/>
              </a:ext>
            </a:extLst>
          </p:cNvPr>
          <p:cNvSpPr txBox="1"/>
          <p:nvPr/>
        </p:nvSpPr>
        <p:spPr>
          <a:xfrm>
            <a:off x="4561395" y="3339787"/>
            <a:ext cx="906626" cy="3643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lang="en-US" altLang="ko-KR" sz="800" spc="-40" dirty="0">
                <a:solidFill>
                  <a:srgbClr val="595959"/>
                </a:solidFill>
                <a:latin typeface="+mn-ea"/>
                <a:ea typeface="+mn-ea"/>
              </a:rPr>
              <a:t>감사로그 기반</a:t>
            </a: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/>
            </a:r>
            <a:endParaRPr lang="en-US" altLang="ko-KR" sz="800" spc="-40" dirty="0">
              <a:solidFill>
                <a:srgbClr val="595959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4307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NAME" val="McK Disclaimer"/>
  <p:tag name="LLEFT" val=" 278.125"/>
  <p:tag name="LTOP" val=" 512"/>
</p:tagLst>
</file>

<file path=ppt/theme/theme1.xml><?xml version="1.0" encoding="utf-8"?>
<a:theme xmlns:a="http://schemas.openxmlformats.org/drawingml/2006/main" name="1_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163850</TotalTime>
  <Words>1858</Words>
  <Application>Microsoft Office PowerPoint</Application>
  <PresentationFormat>A4 용지(210x297mm)</PresentationFormat>
  <Paragraphs>353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HY견고딕</vt:lpstr>
      <vt:lpstr>HY헤드라인M</vt:lpstr>
      <vt:lpstr>맑은 고딕</vt:lpstr>
      <vt:lpstr>Arial</vt:lpstr>
      <vt:lpstr>Calibri</vt:lpstr>
      <vt:lpstr>Calibri Light</vt:lpstr>
      <vt:lpstr>Wingdings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</dc:creator>
  <cp:lastModifiedBy>최승범/디지털혁신실/한국투자금융지주/인터넷</cp:lastModifiedBy>
  <cp:revision>6325</cp:revision>
  <cp:lastPrinted>2026-08-06T05:06:39Z</cp:lastPrinted>
  <dcterms:created xsi:type="dcterms:W3CDTF">2020-01-09T02:07:00Z</dcterms:created>
  <dcterms:modified xsi:type="dcterms:W3CDTF">2026-08-06T08:01:54Z</dcterms:modified>
</cp:coreProperties>
</file>